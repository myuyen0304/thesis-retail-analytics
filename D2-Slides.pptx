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57276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i="0" b="1">
                <a:solidFill>
                  <a:srgbClr val="8FB8E0"/>
                </a:solidFill>
                <a:latin typeface="Segoe UI"/>
              </a:rPr>
              <a:t>KHÓA LUẬN TỐT NGHIỆP  ·  NGÀNH HỆ THỐNG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048256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4600" i="0" b="1">
                <a:solidFill>
                  <a:srgbClr val="FFFFFF"/>
                </a:solidFill>
                <a:latin typeface="Segoe UI"/>
              </a:rPr>
              <a:t>Xói mòn nền khách hàng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1752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i="0" b="0">
                <a:solidFill>
                  <a:srgbClr val="C5DAEF"/>
                </a:solidFill>
                <a:latin typeface="Segoe UI"/>
              </a:rPr>
              <a:t>Bài toán D2 trong đề tài  ·  Dự báo doanh thu và giá vốn hàng bán theo ngày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913632"/>
            <a:ext cx="146304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224528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i="0" b="0">
                <a:solidFill>
                  <a:srgbClr val="9EBEDC"/>
                </a:solidFill>
                <a:latin typeface="Segoe UI"/>
              </a:rPr>
              <a:t>Dữ liệu thương mại điện tử thời trang  ·  04/07/2012 → 31/12/2022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i="0" b="0">
                <a:solidFill>
                  <a:srgbClr val="9EBEDC"/>
                </a:solidFill>
                <a:latin typeface="Segoe UI"/>
              </a:rPr>
              <a:t>121.930 khách hàng  ·  646.945 đơn  ·  3.833 ngày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7790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i="0" b="0">
                <a:solidFill>
                  <a:srgbClr val="7BA3CC"/>
                </a:solidFill>
                <a:latin typeface="Segoe UI"/>
              </a:rPr>
              <a:t>Trường Đại học Công nghiệp Thành phố Hồ Chí Minh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NỘI DUNG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Bốn phần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Từ bài toán → kết quả số → bộ chỉ số → tự phản biện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03703"/>
            <a:ext cx="10817352" cy="87782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203703"/>
            <a:ext cx="64008" cy="87782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68296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i="0" b="1">
                <a:solidFill>
                  <a:srgbClr val="2B6CB0"/>
                </a:solidFill>
                <a:latin typeface="Segoe UI"/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340863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50" i="0" b="1">
                <a:solidFill>
                  <a:srgbClr val="1A365D"/>
                </a:solidFill>
                <a:latin typeface="Segoe UI"/>
              </a:rPr>
              <a:t>Bài toán và cách phân rã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679191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i="0" b="0">
                <a:solidFill>
                  <a:srgbClr val="5A6570"/>
                </a:solidFill>
                <a:latin typeface="Segoe UI"/>
              </a:rPr>
              <a:t>Doanh thu mất 44,4% từ đỉnh. Phân rã ba tầng để tìm chỗ hỏng.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496311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200" i="0" b="1">
                <a:solidFill>
                  <a:srgbClr val="2B6CB0"/>
                </a:solidFill>
                <a:latin typeface="Segoe UI"/>
              </a:rPr>
              <a:t>Slide 3–5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91256"/>
            <a:ext cx="10817352" cy="87782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191256"/>
            <a:ext cx="64008" cy="87782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35584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i="0" b="1">
                <a:solidFill>
                  <a:srgbClr val="2B6CB0"/>
                </a:solidFill>
                <a:latin typeface="Segoe UI"/>
              </a:rPr>
              <a:t>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328415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50" i="0" b="1">
                <a:solidFill>
                  <a:srgbClr val="1A365D"/>
                </a:solidFill>
                <a:latin typeface="Segoe UI"/>
              </a:rPr>
              <a:t>Kết quả demo — sáu bài toán nhỏ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666744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i="0" b="0">
                <a:solidFill>
                  <a:srgbClr val="5A6570"/>
                </a:solidFill>
                <a:latin typeface="Segoe UI"/>
              </a:rPr>
              <a:t>Số liệu chạy trực tiếp trên dữ liệu gốc: BTN1 → BTN4, chín giả thuyết.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483863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200" i="0" b="1">
                <a:solidFill>
                  <a:srgbClr val="2B6CB0"/>
                </a:solidFill>
                <a:latin typeface="Segoe UI"/>
              </a:rPr>
              <a:t>Slide 6–12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78808"/>
            <a:ext cx="10817352" cy="87782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178808"/>
            <a:ext cx="64008" cy="87782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434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i="0" b="1">
                <a:solidFill>
                  <a:srgbClr val="2B6CB0"/>
                </a:solidFill>
                <a:latin typeface="Segoe UI"/>
              </a:rPr>
              <a:t>III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315968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50" i="0" b="1">
                <a:solidFill>
                  <a:srgbClr val="1A365D"/>
                </a:solidFill>
                <a:latin typeface="Segoe UI"/>
              </a:rPr>
              <a:t>Bộ chỉ số và kiểm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654296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i="0" b="0">
                <a:solidFill>
                  <a:srgbClr val="5A6570"/>
                </a:solidFill>
                <a:latin typeface="Segoe UI"/>
              </a:rPr>
              <a:t>13 Measure → 13 Metric → 7 KPI. Sáu phép kiểm chéo.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471416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200" i="0" b="1">
                <a:solidFill>
                  <a:srgbClr val="2B6CB0"/>
                </a:solidFill>
                <a:latin typeface="Segoe UI"/>
              </a:rPr>
              <a:t>Slide 13–14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166360"/>
            <a:ext cx="10817352" cy="87782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166360"/>
            <a:ext cx="64008" cy="87782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33095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i="0" b="1">
                <a:solidFill>
                  <a:srgbClr val="2B6CB0"/>
                </a:solidFill>
                <a:latin typeface="Segoe UI"/>
              </a:rPr>
              <a:t>IV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5303520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50" i="0" b="1">
                <a:solidFill>
                  <a:srgbClr val="1A365D"/>
                </a:solidFill>
                <a:latin typeface="Segoe UI"/>
              </a:rPr>
              <a:t>Tự phản biện 31 mục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5641848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i="0" b="0">
                <a:solidFill>
                  <a:srgbClr val="5A6570"/>
                </a:solidFill>
                <a:latin typeface="Segoe UI"/>
              </a:rPr>
              <a:t>Tám lỗi tìm được trong chính tài liệu của mình, và cách sửa.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545896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200" i="0" b="1">
                <a:solidFill>
                  <a:srgbClr val="2B6CB0"/>
                </a:solidFill>
                <a:latin typeface="Segoe UI"/>
              </a:rPr>
              <a:t>Slide 15–23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 · BÀI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Doanh thu giảm — nhưng giảm ở đâu?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Đỉnh 2016 → 2022, bộ lọc ALL, tất cả cùng một mốc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76272"/>
            <a:ext cx="3471672" cy="12070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C53030"/>
                </a:solidFill>
                <a:latin typeface="Segoe UI"/>
              </a:rPr>
              <a:t>−44,4%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907792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DOANH THU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176272"/>
            <a:ext cx="3471672" cy="12070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3232" y="233172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C53030"/>
                </a:solidFill>
                <a:latin typeface="Segoe UI"/>
              </a:rPr>
              <a:t>−56,2%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3232" y="2907792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SỐ ĐƠN — đây mới là chỗ mất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1480" y="2176272"/>
            <a:ext cx="3471672" cy="12070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6072" y="233172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2F855A"/>
                </a:solidFill>
                <a:latin typeface="Segoe UI"/>
              </a:rPr>
              <a:t>+27,0%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6072" y="2907792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AOV — giá trị mỗi đơn LẠI TĂNG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84448"/>
            <a:ext cx="10817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i="0" b="0">
                <a:solidFill>
                  <a:srgbClr val="1A202C"/>
                </a:solidFill>
                <a:latin typeface="Segoe UI"/>
              </a:rPr>
              <a:t>Mức giảm </a:t>
            </a:r>
            <a:r>
              <a:rPr sz="1500" i="0" b="1">
                <a:solidFill>
                  <a:srgbClr val="1A365D"/>
                </a:solidFill>
                <a:latin typeface="Segoe UI"/>
              </a:rPr>
              <a:t>không</a:t>
            </a:r>
            <a:r>
              <a:rPr sz="1500" i="0" b="0">
                <a:solidFill>
                  <a:srgbClr val="1A202C"/>
                </a:solidFill>
                <a:latin typeface="Segoe UI"/>
              </a:rPr>
              <a:t> đến từ giá trị mỗi đơn — AOV còn tăng. Nó đến từ </a:t>
            </a:r>
            <a:r>
              <a:rPr sz="1500" i="0" b="1">
                <a:solidFill>
                  <a:srgbClr val="1A365D"/>
                </a:solidFill>
                <a:latin typeface="Segoe UI"/>
              </a:rPr>
              <a:t>số đơn</a:t>
            </a:r>
            <a:r>
              <a:rPr sz="1500" i="0" b="0">
                <a:solidFill>
                  <a:srgbClr val="1A202C"/>
                </a:solidFill>
                <a:latin typeface="Segoe UI"/>
              </a:rPr>
              <a:t>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i="0" b="0">
                <a:solidFill>
                  <a:srgbClr val="1A202C"/>
                </a:solidFill>
                <a:latin typeface="Segoe UI"/>
              </a:rPr>
              <a:t>Nhưng số đơn là </a:t>
            </a:r>
            <a:r>
              <a:rPr sz="1500" i="0" b="1">
                <a:solidFill>
                  <a:srgbClr val="1A365D"/>
                </a:solidFill>
                <a:latin typeface="Segoe UI"/>
              </a:rPr>
              <a:t>kết quả</a:t>
            </a:r>
            <a:r>
              <a:rPr sz="1500" i="0" b="0">
                <a:solidFill>
                  <a:srgbClr val="1A202C"/>
                </a:solidFill>
                <a:latin typeface="Segoe UI"/>
              </a:rPr>
              <a:t>, không phải nguyên nhân: đơn hàng do khách hàng tạo ra. Dừng ở đây thì chỉ mô tả được triệu chứng.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17136"/>
            <a:ext cx="10817352" cy="713232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517136"/>
            <a:ext cx="64008" cy="7132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700016"/>
            <a:ext cx="102687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i="0" b="0">
                <a:solidFill>
                  <a:srgbClr val="1A202C"/>
                </a:solidFill>
                <a:latin typeface="Segoe UI"/>
              </a:rPr>
              <a:t>Câu hỏi thật: nền khách hàng xói mòn ở </a:t>
            </a:r>
            <a:r>
              <a:rPr sz="1500" i="0" b="1">
                <a:solidFill>
                  <a:srgbClr val="2B6CB0"/>
                </a:solidFill>
                <a:latin typeface="Segoe UI"/>
              </a:rPr>
              <a:t>khâu nào</a:t>
            </a:r>
            <a:r>
              <a:rPr sz="1500" i="0" b="0">
                <a:solidFill>
                  <a:srgbClr val="1A202C"/>
                </a:solidFill>
                <a:latin typeface="Segoe UI"/>
              </a:rPr>
              <a:t>, </a:t>
            </a:r>
            <a:r>
              <a:rPr sz="1500" i="0" b="1">
                <a:solidFill>
                  <a:srgbClr val="2B6CB0"/>
                </a:solidFill>
                <a:latin typeface="Segoe UI"/>
              </a:rPr>
              <a:t>cơ chế gì</a:t>
            </a:r>
            <a:r>
              <a:rPr sz="1500" i="0" b="0">
                <a:solidFill>
                  <a:srgbClr val="1A202C"/>
                </a:solidFill>
                <a:latin typeface="Segoe UI"/>
              </a:rPr>
              <a:t> gây ra, và </a:t>
            </a:r>
            <a:r>
              <a:rPr sz="1500" i="0" b="1">
                <a:solidFill>
                  <a:srgbClr val="2B6CB0"/>
                </a:solidFill>
                <a:latin typeface="Segoe UI"/>
              </a:rPr>
              <a:t>can thiệp nào</a:t>
            </a:r>
            <a:r>
              <a:rPr sz="1500" i="0" b="0">
                <a:solidFill>
                  <a:srgbClr val="1A202C"/>
                </a:solidFill>
                <a:latin typeface="Segoe UI"/>
              </a:rPr>
              <a:t> giữ lại được?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321808"/>
            <a:ext cx="10817352" cy="896112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321808"/>
            <a:ext cx="64008" cy="896112"/>
          </a:xfrm>
          <a:prstGeom prst="rect">
            <a:avLst/>
          </a:prstGeom>
          <a:solidFill>
            <a:srgbClr val="B7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5504688"/>
            <a:ext cx="102687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i="0" b="0">
                <a:solidFill>
                  <a:srgbClr val="1A202C"/>
                </a:solidFill>
                <a:latin typeface="Segoe UI"/>
              </a:rPr>
              <a:t>⚠  Một chỗ lệch nữa, tìm ra khi dựng slide (ngoài 31 mục đã kiểm): tài liệu ghép </a:t>
            </a:r>
            <a:r>
              <a:rPr sz="1300" i="0" b="1">
                <a:solidFill>
                  <a:srgbClr val="B75309"/>
                </a:solidFill>
                <a:latin typeface="Segoe UI"/>
              </a:rPr>
              <a:t>−44,4% (mốc 2016)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 với </a:t>
            </a:r>
            <a:r>
              <a:rPr sz="1300" i="0" b="1">
                <a:solidFill>
                  <a:srgbClr val="B75309"/>
                </a:solidFill>
                <a:latin typeface="Segoe UI"/>
              </a:rPr>
              <a:t>AOV +50,7% (mốc 2013)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 trong cùng một câu.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i="0" b="0">
                <a:solidFill>
                  <a:srgbClr val="1A202C"/>
                </a:solidFill>
                <a:latin typeface="Segoe UI"/>
              </a:rPr>
              <a:t>Cùng mốc 2016 thì AOV chỉ tăng </a:t>
            </a:r>
            <a:r>
              <a:rPr sz="1300" i="0" b="1">
                <a:solidFill>
                  <a:srgbClr val="B75309"/>
                </a:solidFill>
                <a:latin typeface="Segoe UI"/>
              </a:rPr>
              <a:t>27,0%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. Phải nói rõ mốc, hoặc đưa cả ba về một mốc.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 · PHƯƠNG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Trục phân rã ba tầng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Sáu bài toán nhỏ ứng đúng các thành phần trong phân rã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76272"/>
            <a:ext cx="10817352" cy="157276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10268712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500" i="0" b="0">
                <a:solidFill>
                  <a:srgbClr val="1A365D"/>
                </a:solidFill>
                <a:latin typeface="Consolas"/>
              </a:rPr>
              <a:t>Doanh thu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500" i="0" b="0">
                <a:solidFill>
                  <a:srgbClr val="1A365D"/>
                </a:solidFill>
                <a:latin typeface="Consolas"/>
              </a:rPr>
              <a:t>  = Số đơn                       ×  AOV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500" i="0" b="0">
                <a:solidFill>
                  <a:srgbClr val="1A365D"/>
                </a:solidFill>
                <a:latin typeface="Consolas"/>
              </a:rPr>
              <a:t>  = (Khách hoạt động × Tần suất)  ×  AOV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500" i="0" b="0">
                <a:solidFill>
                  <a:srgbClr val="1A365D"/>
                </a:solidFill>
                <a:latin typeface="Consolas"/>
              </a:rPr>
              <a:t>  = ((Khách mới + Khách giữ lại) × Tần suất)  ×  AOV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i="0" b="0">
                <a:solidFill>
                  <a:srgbClr val="1A202C"/>
                </a:solidFill>
                <a:latin typeface="Segoe UI"/>
              </a:rPr>
              <a:t>Vì các bài toán nhỏ bám vào </a:t>
            </a:r>
            <a:r>
              <a:rPr sz="1500" i="0" b="1">
                <a:solidFill>
                  <a:srgbClr val="1A365D"/>
                </a:solidFill>
                <a:latin typeface="Segoe UI"/>
              </a:rPr>
              <a:t>thành phần của phép nhân</a:t>
            </a:r>
            <a:r>
              <a:rPr sz="1500" i="0" b="0">
                <a:solidFill>
                  <a:srgbClr val="1A202C"/>
                </a:solidFill>
                <a:latin typeface="Segoe UI"/>
              </a:rPr>
              <a:t> chứ không gom theo chủ đề, chúng chia hết không gian nguyên nhân theo </a:t>
            </a:r>
            <a:r>
              <a:rPr sz="1500" i="0" b="1">
                <a:solidFill>
                  <a:srgbClr val="1A365D"/>
                </a:solidFill>
                <a:latin typeface="Segoe UI"/>
              </a:rPr>
              <a:t>định nghĩa</a:t>
            </a:r>
            <a:r>
              <a:rPr sz="150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72000"/>
            <a:ext cx="10817352" cy="1335024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572000"/>
            <a:ext cx="64008" cy="1335024"/>
          </a:xfrm>
          <a:prstGeom prst="rect">
            <a:avLst/>
          </a:prstGeom>
          <a:solidFill>
            <a:srgbClr val="B7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4754880"/>
            <a:ext cx="10268712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i="0" b="0">
                <a:solidFill>
                  <a:srgbClr val="1A202C"/>
                </a:solidFill>
                <a:latin typeface="Segoe UI"/>
              </a:rPr>
              <a:t>⚠  Tự phản biện A9 — nói "phủ kín nguyên nhân" là </a:t>
            </a:r>
            <a:r>
              <a:rPr sz="1400" i="0" b="1">
                <a:solidFill>
                  <a:srgbClr val="B75309"/>
                </a:solidFill>
                <a:latin typeface="Segoe UI"/>
              </a:rPr>
              <a:t>quá lời</a:t>
            </a:r>
            <a:r>
              <a:rPr sz="1400" i="0" b="0">
                <a:solidFill>
                  <a:srgbClr val="1A202C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i="0" b="0">
                <a:solidFill>
                  <a:srgbClr val="1A202C"/>
                </a:solidFill>
                <a:latin typeface="Segoe UI"/>
              </a:rPr>
              <a:t>Đẳng thức đúng vì định nghĩa, nhưng </a:t>
            </a:r>
            <a:r>
              <a:rPr sz="1400" i="0" b="1">
                <a:solidFill>
                  <a:srgbClr val="B75309"/>
                </a:solidFill>
                <a:latin typeface="Segoe UI"/>
              </a:rPr>
              <a:t>AOV không bài toán nhỏ nào phụ trách</a:t>
            </a:r>
            <a:r>
              <a:rPr sz="1400" i="0" b="0">
                <a:solidFill>
                  <a:srgbClr val="1A202C"/>
                </a:solidFill>
                <a:latin typeface="Segoe UI"/>
              </a:rPr>
              <a:t>, và nhánh </a:t>
            </a:r>
            <a:r>
              <a:rPr sz="1400" i="0" b="1">
                <a:solidFill>
                  <a:srgbClr val="B75309"/>
                </a:solidFill>
                <a:latin typeface="Segoe UI"/>
              </a:rPr>
              <a:t>"giành lại" = 52,9%</a:t>
            </a:r>
            <a:r>
              <a:rPr sz="1400" i="0" b="0">
                <a:solidFill>
                  <a:srgbClr val="1A202C"/>
                </a:solidFill>
                <a:latin typeface="Segoe UI"/>
              </a:rPr>
              <a:t> khách hoạt động 2022 bị gộp chìm vào "khách giữ lại". Phải nói: phủ kín </a:t>
            </a:r>
            <a:r>
              <a:rPr sz="1400" i="0" b="1">
                <a:solidFill>
                  <a:srgbClr val="B75309"/>
                </a:solidFill>
                <a:latin typeface="Segoe UI"/>
              </a:rPr>
              <a:t>theo số học</a:t>
            </a:r>
            <a:r>
              <a:rPr sz="1400" i="0" b="0">
                <a:solidFill>
                  <a:srgbClr val="1A202C"/>
                </a:solidFill>
                <a:latin typeface="Segoe UI"/>
              </a:rPr>
              <a:t>, chưa phủ kín </a:t>
            </a:r>
            <a:r>
              <a:rPr sz="1400" i="0" b="1">
                <a:solidFill>
                  <a:srgbClr val="B75309"/>
                </a:solidFill>
                <a:latin typeface="Segoe UI"/>
              </a:rPr>
              <a:t>theo trách nhiệm phân tích</a:t>
            </a:r>
            <a:r>
              <a:rPr sz="140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 · CẤU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Sáu bài toán nhỏ và tiến độ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Bốn bài toán đã có kết quả · hai bài còn treo, và treo vì lý do khác nhau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176272"/>
          <a:ext cx="10817351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5052"/>
                <a:gridCol w="3116864"/>
                <a:gridCol w="5133658"/>
                <a:gridCol w="1741777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Bài toán nhỏ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Kết quả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Trạng thái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BTN1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Tập khách đang ở trạng thái nào?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31.684 chưa mua · 65.493 ngủ đông · 24.753 hoạt động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2F855A"/>
                          </a:solidFill>
                          <a:latin typeface="Segoe UI"/>
                        </a:rPr>
                        <a:t>✔ Xong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BTN2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Mất khách hay mua thưa đi?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Ít khách 72,2% · mua thưa 45,2% · tương tác −17,4%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2F855A"/>
                          </a:solidFill>
                          <a:latin typeface="Segoe UI"/>
                        </a:rPr>
                        <a:t>✔ Xong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BTN3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Kích hoạt hỏng hay giữ chân hỏng?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Rổ cạn 36,4% · tỷ lệ hút giảm 63,6%  (đã sửa)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2F855A"/>
                          </a:solidFill>
                          <a:latin typeface="Segoe UI"/>
                        </a:rPr>
                        <a:t>✔ Xong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BTN4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Cơ chế ở đơn đầu là gì?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Khuyến mãi: thô 39,2% → kiểm soát xong còn 5,2%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2B6CB0"/>
                          </a:solidFill>
                          <a:latin typeface="Segoe UI"/>
                        </a:rPr>
                        <a:t>★ Trọng tâm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BTN5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Nền khách đỡ nổi 2023–24?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Đi ngang ba năm, nhưng n = 3 quá mỏng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B75309"/>
                          </a:solidFill>
                          <a:latin typeface="Segoe UI"/>
                        </a:rPr>
                        <a:t>◐ Cần Chow test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BTN6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Ngân sách nên đi đâu?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Đã loại phương án theo kênh; thiếu bảng chi phí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C53030"/>
                          </a:solidFill>
                          <a:latin typeface="Segoe UI"/>
                        </a:rPr>
                        <a:t>✖ Thiếu dữ liệu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5047488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5047488"/>
            <a:ext cx="64008" cy="8686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5230368"/>
            <a:ext cx="10268712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i="0" b="0">
                <a:solidFill>
                  <a:srgbClr val="1A202C"/>
                </a:solidFill>
                <a:latin typeface="Segoe UI"/>
              </a:rPr>
              <a:t>BTN5 treo vì </a:t>
            </a:r>
            <a:r>
              <a:rPr sz="1400" i="0" b="1">
                <a:solidFill>
                  <a:srgbClr val="2B6CB0"/>
                </a:solidFill>
                <a:latin typeface="Segoe UI"/>
              </a:rPr>
              <a:t>chưa làm</a:t>
            </a:r>
            <a:r>
              <a:rPr sz="1400" i="0" b="0">
                <a:solidFill>
                  <a:srgbClr val="1A202C"/>
                </a:solidFill>
                <a:latin typeface="Segoe UI"/>
              </a:rPr>
              <a:t> — công cụ có sẵn, làm được ngay.   BTN6 treo vì </a:t>
            </a:r>
            <a:r>
              <a:rPr sz="1400" i="0" b="1">
                <a:solidFill>
                  <a:srgbClr val="2B6CB0"/>
                </a:solidFill>
                <a:latin typeface="Segoe UI"/>
              </a:rPr>
              <a:t>bộ dữ liệu không có bảng chi phí marketing</a:t>
            </a:r>
            <a:r>
              <a:rPr sz="1400" i="0" b="0">
                <a:solidFill>
                  <a:srgbClr val="1A202C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i="0" b="0">
                <a:solidFill>
                  <a:srgbClr val="1A202C"/>
                </a:solidFill>
                <a:latin typeface="Segoe UI"/>
              </a:rPr>
              <a:t>Phân biệt này quan trọng: một cái là thiếu công, một cái là </a:t>
            </a:r>
            <a:r>
              <a:rPr sz="1400" i="0" b="1">
                <a:solidFill>
                  <a:srgbClr val="2B6CB0"/>
                </a:solidFill>
                <a:latin typeface="Segoe UI"/>
              </a:rPr>
              <a:t>giới hạn dữ liệu</a:t>
            </a:r>
            <a:r>
              <a:rPr sz="140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II · BTN1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Tập khách đang ở trạng thái nào?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Phân ba trạng thái trên danh sách đóng 121.930 khách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76272"/>
            <a:ext cx="3471672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5A6570"/>
                </a:solidFill>
                <a:latin typeface="Segoe UI"/>
              </a:rPr>
              <a:t>31.684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026664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CHƯA TỪNG MUA
đăng ký rồi im lặng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176272"/>
            <a:ext cx="3471672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3232" y="233172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B75309"/>
                </a:solidFill>
                <a:latin typeface="Segoe UI"/>
              </a:rPr>
              <a:t>65.493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3232" y="3026664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NGỦ ĐÔNG
từng mua, đã ngưng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1480" y="2176272"/>
            <a:ext cx="3471672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6072" y="233172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2F855A"/>
                </a:solidFill>
                <a:latin typeface="Segoe UI"/>
              </a:rPr>
              <a:t>24.753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6072" y="3026664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HOẠT ĐỘNG
còn mua trong 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75887"/>
            <a:ext cx="108173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1A202C"/>
                </a:solidFill>
                <a:latin typeface="Segoe UI"/>
              </a:rPr>
              <a:t>Phép kiểm tổng:   31.684 + 65.493 + 24.753 = 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121.930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 — đúng bằng số dòng </a:t>
            </a:r>
            <a:r>
              <a:rPr sz="1334" i="0" b="0">
                <a:solidFill>
                  <a:srgbClr val="1A365D"/>
                </a:solidFill>
                <a:latin typeface="Consolas"/>
              </a:rPr>
              <a:t>customers.csv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. Không ai rơi ra ngoài, không ai bị đếm hai lần.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24527"/>
            <a:ext cx="10817352" cy="1682496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224527"/>
            <a:ext cx="64008" cy="1682496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407407"/>
            <a:ext cx="10268712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⚠  Tự phản biện B15 — hai chỉ số dùng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hai bộ lọc khác nhau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mà không ghi nhãn.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Me1 ("chưa từng mua") tính trên </a:t>
            </a:r>
            <a:r>
              <a:rPr sz="1242" i="0" b="0">
                <a:solidFill>
                  <a:srgbClr val="1A365D"/>
                </a:solidFill>
                <a:latin typeface="Consolas"/>
              </a:rPr>
              <a:t>live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— loại đơn </a:t>
            </a:r>
            <a:r>
              <a:rPr sz="1242" i="0" b="0">
                <a:solidFill>
                  <a:srgbClr val="1A365D"/>
                </a:solidFill>
                <a:latin typeface="Consolas"/>
              </a:rPr>
              <a:t>cancelled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 Me8a tính trên </a:t>
            </a:r>
            <a:r>
              <a:rPr sz="1242" i="0" b="0">
                <a:solidFill>
                  <a:srgbClr val="1A365D"/>
                </a:solidFill>
                <a:latin typeface="Consolas"/>
              </a:rPr>
              <a:t>ALL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— giữ đơn </a:t>
            </a:r>
            <a:r>
              <a:rPr sz="1242" i="0" b="0">
                <a:solidFill>
                  <a:srgbClr val="1A365D"/>
                </a:solidFill>
                <a:latin typeface="Consolas"/>
              </a:rPr>
              <a:t>cancelled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Hệ quả: cộng lại ra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98,26%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thay vì 100%. Khách chỉ có đơn </a:t>
            </a:r>
            <a:r>
              <a:rPr sz="1242" i="0" b="0">
                <a:solidFill>
                  <a:srgbClr val="1A365D"/>
                </a:solidFill>
                <a:latin typeface="Consolas"/>
              </a:rPr>
              <a:t>cancelled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rơi mất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Con số nhất quán là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27,73%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, không phải 26,0%.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II · BTN2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Mất khách, hay người ở lại mua thưa đi?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Phân rã ba thành phần: số đơn = khách hoạt động × tần suất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76272"/>
            <a:ext cx="3471672" cy="12070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C53030"/>
                </a:solidFill>
                <a:latin typeface="Segoe UI"/>
              </a:rPr>
              <a:t>72,2%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907792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do ÍT KHÁCH hơn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176272"/>
            <a:ext cx="3471672" cy="12070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3232" y="233172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B75309"/>
                </a:solidFill>
                <a:latin typeface="Segoe UI"/>
              </a:rPr>
              <a:t>45,2%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3232" y="2907792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do MUA THƯA hơn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1480" y="2176272"/>
            <a:ext cx="3471672" cy="12070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6072" y="233172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5A6570"/>
                </a:solidFill>
                <a:latin typeface="Segoe UI"/>
              </a:rPr>
              <a:t>−17,4%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6072" y="2907792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số hạng tương tác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2102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i="0" b="0">
                <a:solidFill>
                  <a:srgbClr val="1A202C"/>
                </a:solidFill>
                <a:latin typeface="Segoe UI"/>
              </a:rPr>
              <a:t>Hai sự cố xảy ra </a:t>
            </a:r>
            <a:r>
              <a:rPr sz="1500" i="0" b="1">
                <a:solidFill>
                  <a:srgbClr val="1A365D"/>
                </a:solidFill>
                <a:latin typeface="Segoe UI"/>
              </a:rPr>
              <a:t>đồng thời</a:t>
            </a:r>
            <a:r>
              <a:rPr sz="1500" i="0" b="0">
                <a:solidFill>
                  <a:srgbClr val="1A202C"/>
                </a:solidFill>
                <a:latin typeface="Segoe UI"/>
              </a:rPr>
              <a:t> và </a:t>
            </a:r>
            <a:r>
              <a:rPr sz="1500" i="0" b="1">
                <a:solidFill>
                  <a:srgbClr val="1A365D"/>
                </a:solidFill>
                <a:latin typeface="Segoe UI"/>
              </a:rPr>
              <a:t>nhân lên nhau</a:t>
            </a:r>
            <a:r>
              <a:rPr sz="1500" i="0" b="0">
                <a:solidFill>
                  <a:srgbClr val="1A202C"/>
                </a:solidFill>
                <a:latin typeface="Segoe UI"/>
              </a:rPr>
              <a:t> — nên tổng ba phần vượt 100%, phần dôi bị số hạng tương tác kéo lại.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i="0" b="1">
                <a:solidFill>
                  <a:srgbClr val="1A365D"/>
                </a:solidFill>
                <a:latin typeface="Segoe UI"/>
              </a:rPr>
              <a:t>Hệ quả thực hành:</a:t>
            </a:r>
            <a:r>
              <a:rPr sz="1500" i="0" b="0">
                <a:solidFill>
                  <a:srgbClr val="1A202C"/>
                </a:solidFill>
                <a:latin typeface="Segoe UI"/>
              </a:rPr>
              <a:t> sửa một trong hai không đủ. Giữ chân tốt hơn mà nền khách vẫn co thì doanh thu vẫn giảm.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45152"/>
            <a:ext cx="10817352" cy="1261872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645152"/>
            <a:ext cx="64008" cy="1261872"/>
          </a:xfrm>
          <a:prstGeom prst="rect">
            <a:avLst/>
          </a:prstGeom>
          <a:solidFill>
            <a:srgbClr val="B7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828032"/>
            <a:ext cx="10268712" cy="896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⚠  Tự phản biện B6 —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hai tầng dùng hai phương pháp phân rã khác nhau.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Tầng này dùng phân rã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số học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(có số hạng tương tác), tầng BTN3 dùng phân rã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logarit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(không có). Tính lại BTN2 bằng logarit cho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63,8% / 36,2%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Thứ tự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không đổi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— H1 vẫn đứng — nhưng tài liệu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phải khai báo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dùng phương pháp nào.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II · BTN3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Kích hoạt hỏng, hay chỉ là rổ khách đã cạn?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Phân rã logarit  ln(Khách mới) = ln(Pool) + ln(Tỷ lệ hút)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76272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34" i="0" b="0">
                <a:solidFill>
                  <a:srgbClr val="1A365D"/>
                </a:solidFill>
                <a:latin typeface="Consolas"/>
              </a:rPr>
              <a:t>customers.csv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là 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danh sách đóng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121.930 người. Rổ chưa mua chỉ co lại theo thời gian — nên "khách mới giảm" 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trộn lẫn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hiệu ứng cơ học với tín hiệu thật. Phân rã logarit tách đôi.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16352"/>
            <a:ext cx="3471672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97180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5A6570"/>
                </a:solidFill>
                <a:latin typeface="Segoe UI"/>
              </a:rPr>
              <a:t>36,4%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666744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do RỔ CẠN
hiệu ứng cơ học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640" y="2816352"/>
            <a:ext cx="3471672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3232" y="297180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C53030"/>
                </a:solidFill>
                <a:latin typeface="Segoe UI"/>
              </a:rPr>
              <a:t>63,6%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3232" y="3666744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do TỶ LỆ HÚT SỤP
tín hiệu thật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1480" y="2816352"/>
            <a:ext cx="3471672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6072" y="297180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2500" i="0" b="1">
                <a:solidFill>
                  <a:srgbClr val="C53030"/>
                </a:solidFill>
                <a:latin typeface="Segoe UI"/>
              </a:rPr>
              <a:t>24,09% → 3,78%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6072" y="3666744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Tỷ lệ hút từ pool
2013 → 2022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52544"/>
            <a:ext cx="10817352" cy="1572768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352544"/>
            <a:ext cx="64008" cy="1572768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535424"/>
            <a:ext cx="10268712" cy="1207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✖  Tự phản biện B1 —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tài liệu ghi 26,9% / 73,1%, con số đó SAI.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Vòng lặp tính Pool gán giá trị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trước khi trừ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và bắt đầu từ năm 2013, làm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rơi mất toàn bộ cohort 2012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 Tính lại đúng: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36,4% / 63,6%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1">
                <a:solidFill>
                  <a:srgbClr val="C53030"/>
                </a:solidFill>
                <a:latin typeface="Segoe UI"/>
              </a:rPr>
              <a:t>Kết luận không đổi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— tỷ lệ hút vẫn là nguyên nhân chính — nhưng rổ cạn nặng hơn tài liệu thừa nhận gần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10 điểm phần trăm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II · BTN4 ★ TRỌNG TÂM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Cơ chế ở đơn hàng đầu tiên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Mô hình Cox proportional hazards · 84.566 khách · 74,1% có sự kiện · trung vị 312 ngày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176272"/>
          <a:ext cx="10817352" cy="22494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17520"/>
                <a:gridCol w="1097280"/>
                <a:gridCol w="1005840"/>
                <a:gridCol w="569671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Biến ở đơn đầu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HR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Đọc thế nào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0">
                          <a:solidFill>
                            <a:srgbClr val="1A365D"/>
                          </a:solidFill>
                          <a:latin typeface="Consolas"/>
                        </a:rPr>
                        <a:t>cohort_year</a:t>
                      </a: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 — năm gia nhập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0,7478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&lt; 0,001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Mỗi năm gia nhập muộn hơn → quay lại chậm hơn 25%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0">
                          <a:solidFill>
                            <a:srgbClr val="1A365D"/>
                          </a:solidFill>
                          <a:latin typeface="Consolas"/>
                        </a:rPr>
                        <a:t>promo_first</a:t>
                      </a: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 — có khuyến mãi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0,948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&lt; 0,001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Chậm hơn ~5,2% sau khi kiểm soát — nhỏ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0">
                          <a:solidFill>
                            <a:srgbClr val="1A365D"/>
                          </a:solidFill>
                          <a:latin typeface="Consolas"/>
                        </a:rPr>
                        <a:t>log_aov</a:t>
                      </a: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 — giá trị đơn đầu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&lt; 0,001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Có ý nghĩa nhưng VI PHẠM giả định Cox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0">
                          <a:solidFill>
                            <a:srgbClr val="1A365D"/>
                          </a:solidFill>
                          <a:latin typeface="Consolas"/>
                        </a:rPr>
                        <a:t>delivery_days</a:t>
                      </a: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 — giao chậm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≈ 1,00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0,303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Không có tín hiệu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0">
                          <a:solidFill>
                            <a:srgbClr val="1A365D"/>
                          </a:solidFill>
                          <a:latin typeface="Consolas"/>
                        </a:rPr>
                        <a:t>returned_first</a:t>
                      </a: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 — trả hàng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≈ 1,00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0,161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Không có tín hiệu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462272"/>
            <a:ext cx="10817352" cy="1444752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4462272"/>
            <a:ext cx="64008" cy="1444752"/>
          </a:xfrm>
          <a:prstGeom prst="rect">
            <a:avLst/>
          </a:prstGeom>
          <a:solidFill>
            <a:srgbClr val="B7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645152"/>
            <a:ext cx="10268712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⚠  Tự phản biện A8 —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concordance = 0,653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Đoán mò hoàn toàn cho 0,50. Mô hình chỉ hơn đoán mò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15 điểm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— đủ để nói về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cơ chế và thứ tự quan trọng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, nhưng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không nên gọi là "mô hình dự đoán"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Schoenfeld: </a:t>
            </a:r>
            <a:r>
              <a:rPr sz="1242" i="0" b="0">
                <a:solidFill>
                  <a:srgbClr val="1A365D"/>
                </a:solidFill>
                <a:latin typeface="Consolas"/>
              </a:rPr>
              <a:t>log_aov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và </a:t>
            </a:r>
            <a:r>
              <a:rPr sz="1242" i="0" b="0">
                <a:solidFill>
                  <a:srgbClr val="1A365D"/>
                </a:solidFill>
                <a:latin typeface="Consolas"/>
              </a:rPr>
              <a:t>category_Outdoor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vi phạm giả định. Hai biến mang kết luận chính (</a:t>
            </a:r>
            <a:r>
              <a:rPr sz="1242" i="0" b="0">
                <a:solidFill>
                  <a:srgbClr val="1A365D"/>
                </a:solidFill>
                <a:latin typeface="Consolas"/>
              </a:rPr>
              <a:t>promo_first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p = 0,104 · </a:t>
            </a:r>
            <a:r>
              <a:rPr sz="1242" i="0" b="0">
                <a:solidFill>
                  <a:srgbClr val="1A365D"/>
                </a:solidFill>
                <a:latin typeface="Consolas"/>
              </a:rPr>
              <a:t>cohort_year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p = 0,269)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không vi phạm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II · BTN4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Đường sống sót Kaplan–Meier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Xác suất CHƯA quay lại mua, theo thời gian kể từ đơn đầu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10</a:t>
            </a:r>
          </a:p>
        </p:txBody>
      </p:sp>
      <p:pic>
        <p:nvPicPr>
          <p:cNvPr id="8" name="Picture 7" descr="12-kaplan-meier-pro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76272"/>
            <a:ext cx="6150808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2249424"/>
            <a:ext cx="4645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ĐỌC BIỂU ĐỒ NÀY THẾ NÀO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633472"/>
            <a:ext cx="464515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35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Trục dọc: tỷ lệ khách </a:t>
            </a:r>
            <a:r>
              <a:rPr sz="1350" i="0" b="1">
                <a:solidFill>
                  <a:srgbClr val="1A365D"/>
                </a:solidFill>
                <a:latin typeface="Segoe UI"/>
              </a:rPr>
              <a:t>chưa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quay lại. Đường </a:t>
            </a:r>
            <a:r>
              <a:rPr sz="1350" i="0" b="1">
                <a:solidFill>
                  <a:srgbClr val="1A365D"/>
                </a:solidFill>
                <a:latin typeface="Segoe UI"/>
              </a:rPr>
              <a:t>thấp hơn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= quay lại </a:t>
            </a:r>
            <a:r>
              <a:rPr sz="1350" i="0" b="1">
                <a:solidFill>
                  <a:srgbClr val="1A365D"/>
                </a:solidFill>
                <a:latin typeface="Segoe UI"/>
              </a:rPr>
              <a:t>nhiều hơn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35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Tại mốc 1 năm, hai nhóm chênh </a:t>
            </a:r>
            <a:r>
              <a:rPr sz="1350" i="0" b="1">
                <a:solidFill>
                  <a:srgbClr val="1A365D"/>
                </a:solidFill>
                <a:latin typeface="Segoe UI"/>
              </a:rPr>
              <a:t>10,0 điểm phần trăm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35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Log-rank: χ² = 873,8 · p &lt; 0,001 — khác biệt </a:t>
            </a:r>
            <a:r>
              <a:rPr sz="1350" i="0" b="1">
                <a:solidFill>
                  <a:srgbClr val="1A365D"/>
                </a:solidFill>
                <a:latin typeface="Segoe UI"/>
              </a:rPr>
              <a:t>có ý nghĩa thống kê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773168"/>
            <a:ext cx="4645152" cy="969264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4773168"/>
            <a:ext cx="64008" cy="969264"/>
          </a:xfrm>
          <a:prstGeom prst="rect">
            <a:avLst/>
          </a:prstGeom>
          <a:solidFill>
            <a:srgbClr val="B7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8" y="4956048"/>
            <a:ext cx="40965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i="0" b="0">
                <a:solidFill>
                  <a:srgbClr val="1A202C"/>
                </a:solidFill>
                <a:latin typeface="Segoe UI"/>
              </a:rPr>
              <a:t>Nhưng khoảng cách thô này </a:t>
            </a:r>
            <a:r>
              <a:rPr sz="1300" i="0" b="1">
                <a:solidFill>
                  <a:srgbClr val="B75309"/>
                </a:solidFill>
                <a:latin typeface="Segoe UI"/>
              </a:rPr>
              <a:t>gồm cả hiệu ứng cohort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. Sau khi kiểm soát, HR chỉ còn </a:t>
            </a:r>
            <a:r>
              <a:rPr sz="1300" i="0" b="1">
                <a:solidFill>
                  <a:srgbClr val="B75309"/>
                </a:solidFill>
                <a:latin typeface="Segoe UI"/>
              </a:rPr>
              <a:t>0,948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 — xem slide 19.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II · PHÁT HIỆN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★  Không phải khuyến mãi — là hiệu ứng cohort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Đóng góp riêng của khóa luận: cùng một dữ liệu, hai kết luận ngược nhau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76272"/>
            <a:ext cx="5120640" cy="1481328"/>
          </a:xfrm>
          <a:prstGeom prst="roundRect">
            <a:avLst>
              <a:gd name="adj" fmla="val 7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2257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C53030"/>
                </a:solidFill>
                <a:latin typeface="Segoe UI"/>
              </a:rPr>
              <a:t>TÍN HIỆU THÔ — chỉ mô tả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C53030"/>
                </a:solidFill>
                <a:latin typeface="Segoe UI"/>
              </a:rPr>
              <a:t>−39,2%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i="0" b="0">
                <a:solidFill>
                  <a:srgbClr val="5A6570"/>
                </a:solidFill>
                <a:latin typeface="Segoe UI"/>
              </a:rPr>
              <a:t>Mua ít hơn: 4,59 vs 7,56 đơn trọn đời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72491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000" i="0" b="1">
                <a:solidFill>
                  <a:srgbClr val="5A6570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11112" y="2176272"/>
            <a:ext cx="5120640" cy="1481328"/>
          </a:xfrm>
          <a:prstGeom prst="roundRect">
            <a:avLst>
              <a:gd name="adj" fmla="val 7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32257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F855A"/>
                </a:solidFill>
                <a:latin typeface="Segoe UI"/>
              </a:rPr>
              <a:t>SAU KHI KIỂM SOÁT — cơ chế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263347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2F855A"/>
                </a:solidFill>
                <a:latin typeface="Segoe UI"/>
              </a:rPr>
              <a:t>−5,2%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318211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i="0" b="0">
                <a:solidFill>
                  <a:srgbClr val="5A6570"/>
                </a:solidFill>
                <a:latin typeface="Segoe UI"/>
              </a:rPr>
              <a:t>Kiểm soát cohort, danh mục, giá trị đơn → HR = 0,948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58768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i="0" b="0">
                <a:solidFill>
                  <a:srgbClr val="1A202C"/>
                </a:solidFill>
                <a:latin typeface="Segoe UI"/>
              </a:rPr>
              <a:t>Biến </a:t>
            </a:r>
            <a:r>
              <a:rPr sz="1380" i="0" b="0">
                <a:solidFill>
                  <a:srgbClr val="1A365D"/>
                </a:solidFill>
                <a:latin typeface="Consolas"/>
              </a:rPr>
              <a:t>cohort_year</a:t>
            </a:r>
            <a:r>
              <a:rPr sz="1500" i="0" b="0">
                <a:solidFill>
                  <a:srgbClr val="1A202C"/>
                </a:solidFill>
                <a:latin typeface="Segoe UI"/>
              </a:rPr>
              <a:t> có </a:t>
            </a:r>
            <a:r>
              <a:rPr sz="1500" i="0" b="1">
                <a:solidFill>
                  <a:srgbClr val="1A365D"/>
                </a:solidFill>
                <a:latin typeface="Segoe UI"/>
              </a:rPr>
              <a:t>HR = 0,7478</a:t>
            </a:r>
            <a:r>
              <a:rPr sz="1500" i="0" b="0">
                <a:solidFill>
                  <a:srgbClr val="1A202C"/>
                </a:solidFill>
                <a:latin typeface="Segoe UI"/>
              </a:rPr>
              <a:t> — mạnh hơn hẳn mọi biến khác. Thứ tưởng là tác hại của khuyến mãi, phần lớn là </a:t>
            </a:r>
            <a:r>
              <a:rPr sz="1500" i="0" b="1">
                <a:solidFill>
                  <a:srgbClr val="1A365D"/>
                </a:solidFill>
                <a:latin typeface="Segoe UI"/>
              </a:rPr>
              <a:t>khách gia nhập muộn vốn đã kém hơn</a:t>
            </a:r>
            <a:r>
              <a:rPr sz="150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62272"/>
            <a:ext cx="10817352" cy="1444752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462272"/>
            <a:ext cx="64008" cy="144475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645152"/>
            <a:ext cx="10268712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50" i="0" b="0">
                <a:solidFill>
                  <a:srgbClr val="1A202C"/>
                </a:solidFill>
                <a:latin typeface="Segoe UI"/>
              </a:rPr>
              <a:t>Vì sao điều này quan trọng: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50" i="0" b="0">
                <a:solidFill>
                  <a:srgbClr val="1A202C"/>
                </a:solidFill>
                <a:latin typeface="Segoe UI"/>
              </a:rPr>
              <a:t>Nếu dừng ở phân tích mô tả, kết luận sẽ là </a:t>
            </a:r>
            <a:r>
              <a:rPr sz="1450" i="0" b="1">
                <a:solidFill>
                  <a:srgbClr val="2B6CB0"/>
                </a:solidFill>
                <a:latin typeface="Segoe UI"/>
              </a:rPr>
              <a:t>"cắt ngân sách khuyến mãi ngay"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— một quyết định </a:t>
            </a:r>
            <a:r>
              <a:rPr sz="1450" i="0" b="1">
                <a:solidFill>
                  <a:srgbClr val="2B6CB0"/>
                </a:solidFill>
                <a:latin typeface="Segoe UI"/>
              </a:rPr>
              <a:t>sai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, xuất phát từ nhầm tương quan với nhân quả.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50" i="0" b="0">
                <a:solidFill>
                  <a:srgbClr val="1A202C"/>
                </a:solidFill>
                <a:latin typeface="Segoe UI"/>
              </a:rPr>
              <a:t>Bước đi từ </a:t>
            </a:r>
            <a:r>
              <a:rPr sz="1450" i="0" b="1">
                <a:solidFill>
                  <a:srgbClr val="2B6CB0"/>
                </a:solidFill>
                <a:latin typeface="Segoe UI"/>
              </a:rPr>
              <a:t>mô tả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sang </a:t>
            </a:r>
            <a:r>
              <a:rPr sz="1450" i="0" b="1">
                <a:solidFill>
                  <a:srgbClr val="2B6CB0"/>
                </a:solidFill>
                <a:latin typeface="Segoe UI"/>
              </a:rPr>
              <a:t>cơ chế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không phải làm cho đẹp bài. Nó </a:t>
            </a:r>
            <a:r>
              <a:rPr sz="1450" i="0" b="1">
                <a:solidFill>
                  <a:srgbClr val="2B6CB0"/>
                </a:solidFill>
                <a:latin typeface="Segoe UI"/>
              </a:rPr>
              <a:t>đổi hẳn khuyến nghị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II · 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Chín giả thuyết — ghi cả cái bị bác bỏ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Giả thuyết bị bác bỏ là KẾT QUẢ, không phải thất bại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176272"/>
          <a:ext cx="10817352" cy="3086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94360"/>
                <a:gridCol w="4114800"/>
                <a:gridCol w="3246120"/>
                <a:gridCol w="2862072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Giả thuyết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Kết quả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Sau phản biện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H1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Mất khách lớn hơn giảm tần suất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✔ 72,2% vs 45,2%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2F855A"/>
                          </a:solidFill>
                          <a:latin typeface="Segoe UI"/>
                        </a:rPr>
                        <a:t>Giữ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H2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Sau khi trừ rổ cạn, tỷ lệ hút vẫn là chính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✔ 63,6% vs 36,4%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B75309"/>
                          </a:solidFill>
                          <a:latin typeface="Segoe UI"/>
                        </a:rPr>
                        <a:t>Sửa số — B1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H3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Chất lượng cohort giảm đơn điệu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✔ Giảm liên tục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2F855A"/>
                          </a:solidFill>
                          <a:latin typeface="Segoe UI"/>
                        </a:rPr>
                        <a:t>Giữ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H4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Gãy 2019 là hệ quả trễ của suy giảm cohort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✖ BỊ BÁC BỎ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C53030"/>
                          </a:solidFill>
                          <a:latin typeface="Segoe UI"/>
                        </a:rPr>
                        <a:t>Đổi: treo → bác bỏ — B9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H5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Kênh thu nạp không phân hóa giá trị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⚠ F = 0,823 · p = 0,533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2F855A"/>
                          </a:solidFill>
                          <a:latin typeface="Segoe UI"/>
                        </a:rPr>
                        <a:t>Giữ — đã thận trọng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H6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2020–22 chưa thấy dấu hiệu tiếp tục rơi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⚠ Ủng hộ yếu, n = 3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2B6CB0"/>
                          </a:solidFill>
                          <a:latin typeface="Segoe UI"/>
                        </a:rPr>
                        <a:t>Củng cố — B4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H7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Khuyến mãi đơn đầu giảm khả năng quay lại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✔ Đúng nhưng nhỏ — HR 0,948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B75309"/>
                          </a:solidFill>
                          <a:latin typeface="Segoe UI"/>
                        </a:rPr>
                        <a:t>Thu hẹp — B12, B17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H8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Giao hàng chậm giảm khả năng quay lại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⚠ p = 0,303 — rỗng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B75309"/>
                          </a:solidFill>
                          <a:latin typeface="Segoe UI"/>
                        </a:rPr>
                        <a:t>Đổi ✖ → ⚠ — B21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H9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Trả hàng là tín hiệu rời bỏ mạnh nhất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⚠ p = 0,161 — rỗng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B75309"/>
                          </a:solidFill>
                          <a:latin typeface="Segoe UI"/>
                        </a:rPr>
                        <a:t>Đổi ✖ → ⚠ — B21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5468112"/>
            <a:ext cx="10817352" cy="786384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5468112"/>
            <a:ext cx="64008" cy="786384"/>
          </a:xfrm>
          <a:prstGeom prst="rect">
            <a:avLst/>
          </a:prstGeom>
          <a:solidFill>
            <a:srgbClr val="B7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5650992"/>
            <a:ext cx="102687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i="0" b="0">
                <a:solidFill>
                  <a:srgbClr val="1A202C"/>
                </a:solidFill>
                <a:latin typeface="Segoe UI"/>
              </a:rPr>
              <a:t>H8 và H9 </a:t>
            </a:r>
            <a:r>
              <a:rPr sz="1400" i="0" b="1">
                <a:solidFill>
                  <a:srgbClr val="B75309"/>
                </a:solidFill>
                <a:latin typeface="Segoe UI"/>
              </a:rPr>
              <a:t>không còn</a:t>
            </a:r>
            <a:r>
              <a:rPr sz="1400" i="0" b="0">
                <a:solidFill>
                  <a:srgbClr val="1A202C"/>
                </a:solidFill>
                <a:latin typeface="Segoe UI"/>
              </a:rPr>
              <a:t> đọc là "giao hàng không ảnh hưởng giữ chân" — xem slide 17: hai trường dữ liệu đó có dấu hiệu </a:t>
            </a:r>
            <a:r>
              <a:rPr sz="1400" i="0" b="1">
                <a:solidFill>
                  <a:srgbClr val="B75309"/>
                </a:solidFill>
                <a:latin typeface="Segoe UI"/>
              </a:rPr>
              <a:t>gán ngẫu nhiên</a:t>
            </a:r>
            <a:r>
              <a:rPr sz="140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III · BỘ CHỈ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13 Measure → 13 Metric → 7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Mỗi bài toán nhỏ truy được xuống một KPI có ngưỡng và có hành động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176272"/>
          <a:ext cx="10817352" cy="18379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8680"/>
                <a:gridCol w="5943600"/>
                <a:gridCol w="4005072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Vấn đề phát hiện được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Đã sửa thành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Me8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Lỗi grain — tử số trộn khách chưa mua (không có recency) với khách ngủ đông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Tách đôi: Me8a 26,0% · Me8b 72,6%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K2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Mục tiêu tăng trưởng đặt trên một rổ CHỈ CÓ THỂ CO LẠI — bất khả thi về cấu trúc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Đổi sang tỷ lệ hút từ pool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K7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Sáu KPI cũ đều một hướng — không cái nào chặn chi phí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Thêm guardrail: đơn đầu có khuyến mãi ≤ 30%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059935"/>
            <a:ext cx="10817352" cy="1847088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4059935"/>
            <a:ext cx="64008" cy="1847088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242816"/>
            <a:ext cx="10268712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✖  Tự phản biện B8 và B19 — bộ KPI vẫn còn ba chỗ hỏng: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1">
                <a:solidFill>
                  <a:srgbClr val="C53030"/>
                </a:solidFill>
                <a:latin typeface="Segoe UI"/>
              </a:rPr>
              <a:t>K7 vi phạm ngưỡng của chính nó ngay ngày ban hành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— thực tế đang ở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30,57%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, trong khi ngưỡng đặt là ≤ 30%.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1">
                <a:solidFill>
                  <a:srgbClr val="C53030"/>
                </a:solidFill>
                <a:latin typeface="Segoe UI"/>
              </a:rPr>
              <a:t>K1 đòi tăng 2,86 lần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, mốc 20% cách hiện tại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sáu năm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— không phải mục tiêu điều hành được.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1">
                <a:solidFill>
                  <a:srgbClr val="C53030"/>
                </a:solidFill>
                <a:latin typeface="Segoe UI"/>
              </a:rPr>
              <a:t>K5 chỉ đo được sau 36 tháng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— quá trễ để lái. Đã đề xuất hai chỉ số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dẫn báo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thay thế.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III · KIỂM CHỨNG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Số liệu tự kiểm nhau bằng đường khác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Chạy lại cùng một script không chứng minh gì — chỉ chứng minh code chạy hai lần ra cùng kết quả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176272"/>
          <a:ext cx="10817352" cy="25237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14800"/>
                <a:gridCol w="4206240"/>
                <a:gridCol w="249631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Phép kiểm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Kết quả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Có thể vỡ không?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Ba nhóm khách cộng lại bằng tổng đăng ký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31.684 + 65.493 + 24.753 = 121.930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5A6570"/>
                          </a:solidFill>
                          <a:latin typeface="Segoe UI"/>
                        </a:rPr>
                        <a:t>Hằng đúng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Phân rã logarit: rổ cạn + tỷ lệ hút = tổng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Sai số 4,4 × 10⁻¹⁶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5A6570"/>
                          </a:solidFill>
                          <a:latin typeface="Segoe UI"/>
                        </a:rPr>
                        <a:t>Hằng đúng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Hai đường phân rã độc lập gặp nhau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Phễu và vòng đời cùng ra −0,348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5A6570"/>
                          </a:solidFill>
                          <a:latin typeface="Segoe UI"/>
                        </a:rPr>
                        <a:t>Hằng đúng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0">
                          <a:solidFill>
                            <a:srgbClr val="1A365D"/>
                          </a:solidFill>
                          <a:latin typeface="Consolas"/>
                        </a:rPr>
                        <a:t>sales.csv</a:t>
                      </a: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 vs Σ(quantity × unit_price)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Tỷ lệ 1,000000 trên 3.833 ngày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2F855A"/>
                          </a:solidFill>
                          <a:latin typeface="Segoe UI"/>
                        </a:rPr>
                        <a:t>★ CÓ — kiểm thật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0">
                          <a:solidFill>
                            <a:srgbClr val="1A365D"/>
                          </a:solidFill>
                          <a:latin typeface="Consolas"/>
                        </a:rPr>
                        <a:t>payment_value</a:t>
                      </a: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 = gross − discount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Khớp 100% trên 646.945 đơn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2F855A"/>
                          </a:solidFill>
                          <a:latin typeface="Segoe UI"/>
                        </a:rPr>
                        <a:t>★ CÓ — kiểm thật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Nghiệm thu bộ chỉ số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8/8 dòng OK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5A657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773168"/>
            <a:ext cx="10817352" cy="1133856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4773168"/>
            <a:ext cx="64008" cy="1133856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956048"/>
            <a:ext cx="1026871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✖  Tự phản biện B10 —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ba trong năm phép kiểm là hằng đúng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, không thể vỡ dù số liệu sai.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Nặng nhất: phép kiểm tài liệu gọi là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"mạnh nhất"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(hai đường phân rã gặp nhau) thực ra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yếu nhất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— hai đường dùng chung dữ liệu đầu vào nên buộc phải gặp. Đã đề xuất phép kiểm thay thế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có thể vỡ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IV · TỰ PHẢN BIỆN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Tự kiểm 31 mục trên chính tài liệu của mình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Mỗi mục một script riêng, chạy trực tiếp trên dữ liệu gốc — không tin lại kết quả cũ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76272"/>
            <a:ext cx="3471672" cy="12984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2F855A"/>
                </a:solidFill>
                <a:latin typeface="Segoe U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999232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XÁC NHẬN ĐÚNG
tài liệu đứng vững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176272"/>
            <a:ext cx="3471672" cy="12984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3232" y="233172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B75309"/>
                </a:solidFill>
                <a:latin typeface="Segoe U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3232" y="2999232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PHẢI THU HẸP
đúng nhưng nói quá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1480" y="2176272"/>
            <a:ext cx="3471672" cy="12984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6072" y="233172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C53030"/>
                </a:solidFill>
                <a:latin typeface="Segoe U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6072" y="2999232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LỆCH — PHẢI SỬA
con số hoặc kết luận sai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50" i="0" b="0">
                <a:solidFill>
                  <a:srgbClr val="1A202C"/>
                </a:solidFill>
                <a:latin typeface="Segoe UI"/>
              </a:rPr>
              <a:t>Nguyên tắc đã áp dụng: mỗi con số phải kèm 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bảng nguồn · cột · bộ lọc · grain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. Khi lệch so với tài liệu thì ghi thẳng 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LỆCH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, không làm tròn cho khớp.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50" i="0" b="0">
                <a:solidFill>
                  <a:srgbClr val="1A202C"/>
                </a:solidFill>
                <a:latin typeface="Segoe UI"/>
              </a:rPr>
              <a:t>Khi không xác định được thì viết 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"chưa xác định được"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kèm lý do — 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không đoán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81727"/>
            <a:ext cx="10817352" cy="1225296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681727"/>
            <a:ext cx="64008" cy="1225296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864607"/>
            <a:ext cx="1026871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50" i="0" b="0">
                <a:solidFill>
                  <a:srgbClr val="1A202C"/>
                </a:solidFill>
                <a:latin typeface="Segoe UI"/>
              </a:rPr>
              <a:t>Vì sao đưa phần này vào bài báo cáo: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50" i="0" b="0">
                <a:solidFill>
                  <a:srgbClr val="1A202C"/>
                </a:solidFill>
                <a:latin typeface="Segoe UI"/>
              </a:rPr>
              <a:t>Tám lỗi trên </a:t>
            </a:r>
            <a:r>
              <a:rPr sz="1450" i="0" b="1">
                <a:solidFill>
                  <a:srgbClr val="2B6CB0"/>
                </a:solidFill>
                <a:latin typeface="Segoe UI"/>
              </a:rPr>
              <a:t>đều do chính nhóm tìm ra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, trước khi hội đồng hỏi. Một tài liệu </a:t>
            </a:r>
            <a:r>
              <a:rPr sz="1450" i="0" b="1">
                <a:solidFill>
                  <a:srgbClr val="2B6CB0"/>
                </a:solidFill>
                <a:latin typeface="Segoe UI"/>
              </a:rPr>
              <a:t>biết chỗ yếu của mình ở đâu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đáng tin hơn một tài liệu </a:t>
            </a:r>
            <a:r>
              <a:rPr sz="1450" i="0" b="1">
                <a:solidFill>
                  <a:srgbClr val="2B6CB0"/>
                </a:solidFill>
                <a:latin typeface="Segoe UI"/>
              </a:rPr>
              <a:t>không có chỗ yếu nào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IV ·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Tám chỗ lệch đã tìm ra và cách sửa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Mỗi dòng là một con số hoặc một kết luận trong tài liệu KHÔNG đứng được khi kiểm lại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176272"/>
          <a:ext cx="10817352" cy="31455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58368"/>
                <a:gridCol w="3200400"/>
                <a:gridCol w="6958584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Chỗ trong tài liệu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Lệch cái gì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Mục 2.2 · rổ chưa mua M13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Vòng lặp bỏ mất cohort 2012 → rổ cạn 26,9% phải thành </a:t>
                      </a:r>
                      <a:r>
                        <a:rPr sz="1200" i="0" b="1">
                          <a:solidFill>
                            <a:srgbClr val="C53030"/>
                          </a:solidFill>
                          <a:latin typeface="Segoe UI"/>
                        </a:rPr>
                        <a:t>36,4%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Mục 12.2 · Kiểm 2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Hằng đúng — Pool triệt tiêu; cặp số bịa 7/3 vẫn khớp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Mục 9.3 · </a:t>
                      </a:r>
                      <a:r>
                        <a:rPr sz="1104" i="0" b="0">
                          <a:solidFill>
                            <a:srgbClr val="1A365D"/>
                          </a:solidFill>
                          <a:latin typeface="Consolas"/>
                        </a:rPr>
                        <a:t>cohort_year</a:t>
                      </a: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 tuyến tính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BÁC BỎ — LR = 91,47 · p = 8,2e-16; hỏng từ 2020, lệch tới 2,40 lần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Mục 8 · ngưỡng K1, K7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K7 = </a:t>
                      </a:r>
                      <a:r>
                        <a:rPr sz="1200" i="0" b="1">
                          <a:solidFill>
                            <a:srgbClr val="C53030"/>
                          </a:solidFill>
                          <a:latin typeface="Segoe UI"/>
                        </a:rPr>
                        <a:t>30,57%</a:t>
                      </a: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 vi phạm ngưỡng ≤ 30% ngay ngày ban hành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Mục 5 ↔ 11 · giả thuyết H4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H4 BỊ BÁC BỎ — mô phỏng </a:t>
                      </a:r>
                      <a:r>
                        <a:rPr sz="1200" i="0" b="1">
                          <a:solidFill>
                            <a:srgbClr val="C53030"/>
                          </a:solidFill>
                          <a:latin typeface="Segoe UI"/>
                        </a:rPr>
                        <a:t>+0,68%</a:t>
                      </a: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 trong khi thực tế </a:t>
                      </a:r>
                      <a:r>
                        <a:rPr sz="1200" i="0" b="1">
                          <a:solidFill>
                            <a:srgbClr val="C53030"/>
                          </a:solidFill>
                          <a:latin typeface="Segoe UI"/>
                        </a:rPr>
                        <a:t>−38,60%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Mục 12.2 · cả 5 phép kiểm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3/5 hằng đúng; phép kiểm gọi là "mạnh nhất" thực ra yếu nhất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B15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Mục 3 · "chưa từng mua"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Me1 dùng </a:t>
                      </a:r>
                      <a:r>
                        <a:rPr sz="1104" i="0" b="0">
                          <a:solidFill>
                            <a:srgbClr val="1A365D"/>
                          </a:solidFill>
                          <a:latin typeface="Consolas"/>
                        </a:rPr>
                        <a:t>live</a:t>
                      </a: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, Me8a dùng </a:t>
                      </a:r>
                      <a:r>
                        <a:rPr sz="1104" i="0" b="0">
                          <a:solidFill>
                            <a:srgbClr val="1A365D"/>
                          </a:solidFill>
                          <a:latin typeface="Consolas"/>
                        </a:rPr>
                        <a:t>ALL</a:t>
                      </a: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 → cộng lại 98,26%. Đúng là </a:t>
                      </a:r>
                      <a:r>
                        <a:rPr sz="1200" i="0" b="1">
                          <a:solidFill>
                            <a:srgbClr val="C53030"/>
                          </a:solidFill>
                          <a:latin typeface="Segoe UI"/>
                        </a:rPr>
                        <a:t>27,73%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B20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Mục 3, 5.1 · </a:t>
                      </a:r>
                      <a:r>
                        <a:rPr sz="1104" i="0" b="0">
                          <a:solidFill>
                            <a:srgbClr val="1A365D"/>
                          </a:solidFill>
                          <a:latin typeface="Consolas"/>
                        </a:rPr>
                        <a:t>signup_date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KHÔNG sửa được — Spearman 0,0023 (p = 0,49), SD 3,5 năm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522976"/>
            <a:ext cx="108173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Cả tám đều đã có </a:t>
            </a:r>
            <a:r>
              <a:rPr sz="1350" i="0" b="1">
                <a:solidFill>
                  <a:srgbClr val="1A365D"/>
                </a:solidFill>
                <a:latin typeface="Segoe UI"/>
              </a:rPr>
              <a:t>đề xuất câu chữ cụ thể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để sửa, ghi trong </a:t>
            </a:r>
            <a:r>
              <a:rPr sz="1242" i="0" b="0">
                <a:solidFill>
                  <a:srgbClr val="1A365D"/>
                </a:solidFill>
                <a:latin typeface="Consolas"/>
              </a:rPr>
              <a:t>docs/phan-bien/cau-hoi-phan-bien-can-kiem.md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IV · PHÁT HIỆN NẶNG NHẤT · B21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Bốn trường có dấu hiệu gán ngẫu nhiên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Kiểm mỗi trường bằng một tương quan lẽ ra PHẢI tồn tại trong dữ liệu thật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176272"/>
          <a:ext cx="10817351" cy="20665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1760"/>
                <a:gridCol w="2926080"/>
                <a:gridCol w="3520440"/>
                <a:gridCol w="1719071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Trường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Phép kiểm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Kết quả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Nghi ngẫu nhiên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4" i="0" b="0">
                          <a:solidFill>
                            <a:srgbClr val="1A365D"/>
                          </a:solidFill>
                          <a:latin typeface="Consolas"/>
                        </a:rPr>
                        <a:t>reviews</a:t>
                      </a: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 ⟷ </a:t>
                      </a:r>
                      <a:r>
                        <a:rPr sz="1104" i="0" b="0">
                          <a:solidFill>
                            <a:srgbClr val="1A365D"/>
                          </a:solidFill>
                          <a:latin typeface="Consolas"/>
                        </a:rPr>
                        <a:t>returns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Số đơn có CẢ HAI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1">
                          <a:solidFill>
                            <a:srgbClr val="C53030"/>
                          </a:solidFill>
                          <a:latin typeface="Segoe UI"/>
                        </a:rPr>
                        <a:t>0</a:t>
                      </a: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 trên kỳ vọng </a:t>
                      </a:r>
                      <a:r>
                        <a:rPr sz="1200" i="0" b="1">
                          <a:solidFill>
                            <a:srgbClr val="C53030"/>
                          </a:solidFill>
                          <a:latin typeface="Segoe UI"/>
                        </a:rPr>
                        <a:t>6.208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C53030"/>
                          </a:solidFill>
                          <a:latin typeface="Segoe UI"/>
                        </a:rPr>
                        <a:t>Rất mạnh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4" i="0" b="0">
                          <a:solidFill>
                            <a:srgbClr val="1A365D"/>
                          </a:solidFill>
                          <a:latin typeface="Consolas"/>
                        </a:rPr>
                        <a:t>delivery_days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ANOVA theo vùng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4,499 / 4,499 / 4,500 · p = 0,985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C53030"/>
                          </a:solidFill>
                          <a:latin typeface="Segoe UI"/>
                        </a:rPr>
                        <a:t>Mạnh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4" i="0" b="0">
                          <a:solidFill>
                            <a:srgbClr val="1A365D"/>
                          </a:solidFill>
                          <a:latin typeface="Consolas"/>
                        </a:rPr>
                        <a:t>signup_date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Spearman với ngày mua đầu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ρ = 0,0023 · p = 0,487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C53030"/>
                          </a:solidFill>
                          <a:latin typeface="Segoe UI"/>
                        </a:rPr>
                        <a:t>Mạnh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4" i="0" b="0">
                          <a:solidFill>
                            <a:srgbClr val="1A365D"/>
                          </a:solidFill>
                          <a:latin typeface="Consolas"/>
                        </a:rPr>
                        <a:t>acquisition_channel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ANOVA LTV theo kênh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F = 0,823 · p = 0,533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C53030"/>
                          </a:solidFill>
                          <a:latin typeface="Segoe UI"/>
                        </a:rPr>
                        <a:t>Mạnh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4" i="0" b="0">
                          <a:solidFill>
                            <a:srgbClr val="1A365D"/>
                          </a:solidFill>
                          <a:latin typeface="Consolas"/>
                        </a:rPr>
                        <a:t>rating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Spearman với số đơn trọn đời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1A202C"/>
                          </a:solidFill>
                          <a:latin typeface="Segoe UI"/>
                        </a:rPr>
                        <a:t>ρ = −0,0734 · p &lt; 0,001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i="0" b="0">
                          <a:solidFill>
                            <a:srgbClr val="5A6570"/>
                          </a:solidFill>
                          <a:latin typeface="Segoe UI"/>
                        </a:rPr>
                        <a:t>Yếu — có liên hệ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389120"/>
            <a:ext cx="10817352" cy="1517904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4389120"/>
            <a:ext cx="64008" cy="1517904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572000"/>
            <a:ext cx="10268712" cy="11521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111.369 đơn có review.  36.062 đơn có trả hàng.  Số đơn có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cả hai: 0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Nếu hai việc độc lập nhau thì kỳ vọng là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6.208 đơn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 Quan sát 0 — xác suất ngẫu nhiên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thực tế bằng không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 Bộ sinh gán review và trả hàng vào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hai tập rời nhau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1">
                <a:solidFill>
                  <a:srgbClr val="C53030"/>
                </a:solidFill>
                <a:latin typeface="Segoe UI"/>
              </a:rPr>
              <a:t>Hệ quả: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không thể kiểm "đơn bị trả có rating thấp hơn không" — một quan hệ hiển nhiên phải có trong dữ liệu thật. Đây không phải kết quả rỗng, đây là </a:t>
            </a:r>
            <a:r>
              <a:rPr sz="1350" i="0" b="1">
                <a:solidFill>
                  <a:srgbClr val="C53030"/>
                </a:solidFill>
                <a:latin typeface="Segoe UI"/>
              </a:rPr>
              <a:t>dữ liệu không tồn tại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IV · B11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Hiệu ứng cohort, hay hiệu ứng thời kỳ?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HR = 0,7478 là kết luận trọng tâm của BTN4 — câu hỏi này đánh thẳng vào đó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76272"/>
            <a:ext cx="108173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50" i="0" b="1">
                <a:solidFill>
                  <a:srgbClr val="1A365D"/>
                </a:solidFill>
                <a:latin typeface="Segoe UI"/>
              </a:rPr>
              <a:t>Nếu là cohort: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người gia nhập muộn vốn đã kém hơn → phải sửa khâu 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thu nạp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.
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Nếu là thời kỳ: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một cú sốc năm 2019 làm 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mọi người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kém đi → phải tìm 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cú sốc đó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62656"/>
            <a:ext cx="5308092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118103"/>
            <a:ext cx="49789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C53030"/>
                </a:solidFill>
                <a:latin typeface="Segoe UI"/>
              </a:rPr>
              <a:t>61,2% → 46,0%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58768"/>
            <a:ext cx="497890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Cohort 2013 — CÙNG MỘT NHÓM NGƯỜI
rơi đúng vào năm 2019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5059" y="2962656"/>
            <a:ext cx="5308092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3118103"/>
            <a:ext cx="49789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C53030"/>
                </a:solidFill>
                <a:latin typeface="Segoe UI"/>
              </a:rPr>
              <a:t>0,74 → 1,16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9651" y="3858768"/>
            <a:ext cx="497890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HR của </a:t>
            </a:r>
            <a:r>
              <a:rPr sz="1058" i="0" b="0">
                <a:solidFill>
                  <a:srgbClr val="5A6570"/>
                </a:solidFill>
                <a:latin typeface="Consolas"/>
              </a:rPr>
              <a:t>cohort_year</a:t>
            </a:r>
            <a:r>
              <a:rPr sz="1150" i="0" b="0">
                <a:solidFill>
                  <a:srgbClr val="5A6570"/>
                </a:solidFill>
                <a:latin typeface="Segoe UI"/>
              </a:rPr>
              <a:t> LẬT NGƯỢC
khi thêm biến thời kỳ vào mô hình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62272"/>
            <a:ext cx="10817352" cy="146304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62272"/>
            <a:ext cx="64008" cy="1463040"/>
          </a:xfrm>
          <a:prstGeom prst="rect">
            <a:avLst/>
          </a:prstGeom>
          <a:solidFill>
            <a:srgbClr val="B7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645152"/>
            <a:ext cx="10268712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Kết luận: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CẢ HAI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, và tài liệu chỉ nói một nửa.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Cohort 2013 là nhóm cố định — không ai vào, không ai ra. Họ rơi 15 điểm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đúng năm 2019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 Chuyện xảy ra với người đã ở sẵn trong hệ thống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không thể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là hiệu ứng cohort.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Đây là bài toán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Age–Period–Cohort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kinh điển: ba trục cộng tuyến hoàn hảo, không tách được nếu không có ràng buộc thêm. </a:t>
            </a:r>
            <a:r>
              <a:rPr sz="1350" i="0" b="1">
                <a:solidFill>
                  <a:srgbClr val="B75309"/>
                </a:solidFill>
                <a:latin typeface="Segoe UI"/>
              </a:rPr>
              <a:t>Phải khai báo giới hạn này.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IV · B17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Có tín hiệu — nhưng lớn bằng nào?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Quy hazard ratio ra số người thật, thứ hội đồng và doanh nghiệp thực sự cần biết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76272"/>
            <a:ext cx="3471672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B75309"/>
                </a:solidFill>
                <a:latin typeface="Segoe UI"/>
              </a:rPr>
              <a:t>1,4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072384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ĐIỂM PHẦN TRĂM
hiệu ứng thật của khuyến mãi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176272"/>
            <a:ext cx="3471672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3232" y="233172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B75309"/>
                </a:solidFill>
                <a:latin typeface="Segoe UI"/>
              </a:rPr>
              <a:t>367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3232" y="3072384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NGƯỜI
trên tổng 26.759 khách có khuyến mãi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1480" y="2176272"/>
            <a:ext cx="3471672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6072" y="2331720"/>
            <a:ext cx="3142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400" i="0" b="1">
                <a:solidFill>
                  <a:srgbClr val="C53030"/>
                </a:solidFill>
                <a:latin typeface="Segoe UI"/>
              </a:rPr>
              <a:t>25,8×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6072" y="3072384"/>
            <a:ext cx="31424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i="0" b="0">
                <a:solidFill>
                  <a:srgbClr val="5A6570"/>
                </a:solidFill>
                <a:latin typeface="Segoe UI"/>
              </a:rPr>
              <a:t>LẦN
</a:t>
            </a:r>
            <a:r>
              <a:rPr sz="1058" i="0" b="0">
                <a:solidFill>
                  <a:srgbClr val="5A6570"/>
                </a:solidFill>
                <a:latin typeface="Consolas"/>
              </a:rPr>
              <a:t>cohort_year</a:t>
            </a:r>
            <a:r>
              <a:rPr sz="1150" i="0" b="0">
                <a:solidFill>
                  <a:srgbClr val="5A6570"/>
                </a:solidFill>
                <a:latin typeface="Segoe UI"/>
              </a:rPr>
              <a:t> mạnh hơn </a:t>
            </a:r>
            <a:r>
              <a:rPr sz="1058" i="0" b="0">
                <a:solidFill>
                  <a:srgbClr val="5A6570"/>
                </a:solidFill>
                <a:latin typeface="Consolas"/>
              </a:rPr>
              <a:t>promo_first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30752"/>
            <a:ext cx="1081735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34" i="0" b="0">
                <a:solidFill>
                  <a:srgbClr val="1A365D"/>
                </a:solidFill>
                <a:latin typeface="Consolas"/>
              </a:rPr>
              <a:t>promo_first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có p &lt; 0,001 — 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chắc chắn có tín hiệu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. Nhưng cỡ hiệu ứng chỉ 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1,4 điểm phần trăm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, tức là 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367 người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trong số 26.759.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34" i="0" b="0">
                <a:solidFill>
                  <a:srgbClr val="1A365D"/>
                </a:solidFill>
                <a:latin typeface="Consolas"/>
              </a:rPr>
              <a:t>cohort_year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đổi 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35,4 điểm phần trăm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 — mạnh hơn </a:t>
            </a:r>
            <a:r>
              <a:rPr sz="1450" i="0" b="1">
                <a:solidFill>
                  <a:srgbClr val="1A365D"/>
                </a:solidFill>
                <a:latin typeface="Segoe UI"/>
              </a:rPr>
              <a:t>25,8 lần</a:t>
            </a:r>
            <a:r>
              <a:rPr sz="1450" i="0" b="0">
                <a:solidFill>
                  <a:srgbClr val="1A202C"/>
                </a:solidFill>
                <a:latin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45152"/>
            <a:ext cx="10817352" cy="1261872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645152"/>
            <a:ext cx="64008" cy="126187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828032"/>
            <a:ext cx="10268712" cy="896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Vì sao phải trình bày cỡ hiệu ứng chứ không chỉ p-value: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Với </a:t>
            </a:r>
            <a:r>
              <a:rPr sz="1350" i="0" b="1">
                <a:solidFill>
                  <a:srgbClr val="2B6CB0"/>
                </a:solidFill>
                <a:latin typeface="Segoe UI"/>
              </a:rPr>
              <a:t>84.566 quan sát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, gần như </a:t>
            </a:r>
            <a:r>
              <a:rPr sz="1350" i="0" b="1">
                <a:solidFill>
                  <a:srgbClr val="2B6CB0"/>
                </a:solidFill>
                <a:latin typeface="Segoe UI"/>
              </a:rPr>
              <a:t>mọi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biến đều sẽ có p &lt; 0,001. p-value chỉ trả lời "có khác 0 không", </a:t>
            </a:r>
            <a:r>
              <a:rPr sz="1350" i="0" b="1">
                <a:solidFill>
                  <a:srgbClr val="2B6CB0"/>
                </a:solidFill>
                <a:latin typeface="Segoe UI"/>
              </a:rPr>
              <a:t>không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trả lời "có đáng để làm gì không".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Một can thiệp đổi được </a:t>
            </a:r>
            <a:r>
              <a:rPr sz="1350" i="0" b="1">
                <a:solidFill>
                  <a:srgbClr val="2B6CB0"/>
                </a:solidFill>
                <a:latin typeface="Segoe UI"/>
              </a:rPr>
              <a:t>367 người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không xứng với một chương trình khuyến mãi toàn hệ thống.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IV · 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Sau phản biện, kết luận nào còn đứng?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Chia theo cái mà kết luận DỰA VÀO — cấu trúc thời gian, hay một trường có thể ngẫu nhiên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76272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i="0" b="1">
                <a:solidFill>
                  <a:srgbClr val="2F855A"/>
                </a:solidFill>
                <a:latin typeface="Segoe UI"/>
              </a:rPr>
              <a:t>CÒN ĐỨNG VỮNG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05456"/>
            <a:ext cx="5257800" cy="2487168"/>
          </a:xfrm>
          <a:prstGeom prst="roundRect">
            <a:avLst>
              <a:gd name="adj" fmla="val 4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4800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Phân rã số đơn = khách × tần suất (BTN2, H1)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Pool và tỷ lệ hút (BTN3, H2) — sau khi sửa số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Cohort retention và chất lượng cohort (H3)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Nền khách ổn định 2020–22 (H6, BTN5)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Bước gãy 2019 là cú sốc thời kỳ (B9, B11)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176272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i="0" b="1">
                <a:solidFill>
                  <a:srgbClr val="C53030"/>
                </a:solidFill>
                <a:latin typeface="Segoe UI"/>
              </a:rPr>
              <a:t>PHẢI VIẾT LẠI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2505456"/>
            <a:ext cx="5257800" cy="2487168"/>
          </a:xfrm>
          <a:prstGeom prst="roundRect">
            <a:avLst>
              <a:gd name="adj" fmla="val 4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670048"/>
            <a:ext cx="4800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H8 — </a:t>
            </a:r>
            <a:r>
              <a:rPr sz="1196" i="0" b="0">
                <a:solidFill>
                  <a:srgbClr val="1A365D"/>
                </a:solidFill>
                <a:latin typeface="Consolas"/>
              </a:rPr>
              <a:t>delivery_days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 không phân biệt cả theo vùng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H9 — </a:t>
            </a:r>
            <a:r>
              <a:rPr sz="1196" i="0" b="0">
                <a:solidFill>
                  <a:srgbClr val="1A365D"/>
                </a:solidFill>
                <a:latin typeface="Consolas"/>
              </a:rPr>
              <a:t>returns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 không trùng </a:t>
            </a:r>
            <a:r>
              <a:rPr sz="1196" i="0" b="0">
                <a:solidFill>
                  <a:srgbClr val="1A365D"/>
                </a:solidFill>
                <a:latin typeface="Consolas"/>
              </a:rPr>
              <a:t>reviews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 đơn nào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Mục 5.1 — </a:t>
            </a:r>
            <a:r>
              <a:rPr sz="1196" i="0" b="0">
                <a:solidFill>
                  <a:srgbClr val="1A365D"/>
                </a:solidFill>
                <a:latin typeface="Consolas"/>
              </a:rPr>
              <a:t>signup_date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 có thể là trường ngẫu nhiên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Ba phép kiểm hằng đúng ở Mục 12.2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Ngưỡng K1, K7 và chỉ số K5 ở Mục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175504"/>
            <a:ext cx="10817352" cy="73152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5175504"/>
            <a:ext cx="64008" cy="7315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5358384"/>
            <a:ext cx="102687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i="0" b="0">
                <a:solidFill>
                  <a:srgbClr val="1A202C"/>
                </a:solidFill>
                <a:latin typeface="Segoe UI"/>
              </a:rPr>
              <a:t>Quy tắc rút ra: kết quả </a:t>
            </a:r>
            <a:r>
              <a:rPr sz="1400" i="0" b="1">
                <a:solidFill>
                  <a:srgbClr val="2B6CB0"/>
                </a:solidFill>
                <a:latin typeface="Segoe UI"/>
              </a:rPr>
              <a:t>rỗng</a:t>
            </a:r>
            <a:r>
              <a:rPr sz="1400" i="0" b="0">
                <a:solidFill>
                  <a:srgbClr val="1A202C"/>
                </a:solidFill>
                <a:latin typeface="Segoe UI"/>
              </a:rPr>
              <a:t> trên một trường nghi ngẫu nhiên nói về </a:t>
            </a:r>
            <a:r>
              <a:rPr sz="1400" i="0" b="1">
                <a:solidFill>
                  <a:srgbClr val="2B6CB0"/>
                </a:solidFill>
                <a:latin typeface="Segoe UI"/>
              </a:rPr>
              <a:t>bộ sinh dữ liệu</a:t>
            </a:r>
            <a:r>
              <a:rPr sz="1400" i="0" b="0">
                <a:solidFill>
                  <a:srgbClr val="1A202C"/>
                </a:solidFill>
                <a:latin typeface="Segoe UI"/>
              </a:rPr>
              <a:t>, không nói về doanh nghiệp — và </a:t>
            </a:r>
            <a:r>
              <a:rPr sz="1400" i="0" b="1">
                <a:solidFill>
                  <a:srgbClr val="2B6CB0"/>
                </a:solidFill>
                <a:latin typeface="Segoe UI"/>
              </a:rPr>
              <a:t>không được</a:t>
            </a:r>
            <a:r>
              <a:rPr sz="1400" i="0" b="0">
                <a:solidFill>
                  <a:srgbClr val="1A202C"/>
                </a:solidFill>
                <a:latin typeface="Segoe UI"/>
              </a:rPr>
              <a:t> chuyển thành khuyến nghị thực hành.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IV · GIỚI HẠN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Việc chưa xong — và vì sao chưa xong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Thiếu công và thiếu dữ liệu là hai chuyện khác nhau, phải nói rõ là chuyện nào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176272"/>
          <a:ext cx="10817352" cy="1645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40480"/>
                <a:gridCol w="4206240"/>
                <a:gridCol w="277063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Cần gì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Làm được không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BTN5 · Nền khách đỡ nổi 2023–24?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Kiểm định điểm gãy — Chow test / Bai–Perron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2F855A"/>
                          </a:solidFill>
                          <a:latin typeface="Segoe UI"/>
                        </a:rPr>
                        <a:t>✔ Làm được với dữ liệu hiện có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BTN6 · Ngân sách nên đi đâu?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Bảng chi phí marketing theo kênh và theo kỳ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C53030"/>
                          </a:solidFill>
                          <a:latin typeface="Segoe UI"/>
                        </a:rPr>
                        <a:t>✖ Bộ dữ liệu KHÔNG CÓ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B7 · Dạng hàm của </a:t>
                      </a:r>
                      <a:r>
                        <a:rPr sz="1150" i="0" b="0">
                          <a:solidFill>
                            <a:srgbClr val="1A365D"/>
                          </a:solidFill>
                          <a:latin typeface="Consolas"/>
                        </a:rPr>
                        <a:t>cohort_year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Thay tuyến tính bằng spline hoặc biến phân loại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2F855A"/>
                          </a:solidFill>
                          <a:latin typeface="Segoe UI"/>
                        </a:rPr>
                        <a:t>✔ Làm được — đã có sẵn script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4133087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i="0" b="1">
                <a:solidFill>
                  <a:srgbClr val="2B6CB0"/>
                </a:solidFill>
                <a:latin typeface="Segoe UI"/>
              </a:rPr>
              <a:t>BA ĐIỀU THÀNH THẬT NÊN NÓI TRƯỚC KHI BỊ HỎI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17136"/>
            <a:ext cx="10817352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196" i="0" b="0">
                <a:solidFill>
                  <a:srgbClr val="1A365D"/>
                </a:solidFill>
                <a:latin typeface="Consolas"/>
              </a:rPr>
              <a:t>promo_first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 là </a:t>
            </a:r>
            <a:r>
              <a:rPr sz="1300" i="0" b="1">
                <a:solidFill>
                  <a:srgbClr val="1A365D"/>
                </a:solidFill>
                <a:latin typeface="Segoe UI"/>
              </a:rPr>
              <a:t>tương quan đã kiểm soát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, không phải nhân quả — matching chỉ cân bằng biến </a:t>
            </a:r>
            <a:r>
              <a:rPr sz="1300" i="0" b="1">
                <a:solidFill>
                  <a:srgbClr val="1A365D"/>
                </a:solidFill>
                <a:latin typeface="Segoe UI"/>
              </a:rPr>
              <a:t>đã quan sát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; khách nhạy giá tự chọn vào nhóm khuyến mãi theo đặc điểm không quan sát được.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H6 chỉ dựa trên </a:t>
            </a:r>
            <a:r>
              <a:rPr sz="1300" i="0" b="1">
                <a:solidFill>
                  <a:srgbClr val="1A365D"/>
                </a:solidFill>
                <a:latin typeface="Segoe UI"/>
              </a:rPr>
              <a:t>n = 3 điểm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. Đủ để nói "chưa thấy dấu hiệu tiếp tục rơi", chưa đủ để khẳng định chế độ ổn định.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i="0" b="1">
                <a:solidFill>
                  <a:srgbClr val="2B6CB0"/>
                </a:solidFill>
                <a:latin typeface="Segoe UI"/>
              </a:rPr>
              <a:t>• </a:t>
            </a:r>
            <a:r>
              <a:rPr sz="1196" i="0" b="0">
                <a:solidFill>
                  <a:srgbClr val="1A365D"/>
                </a:solidFill>
                <a:latin typeface="Consolas"/>
              </a:rPr>
              <a:t>signup_date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 </a:t>
            </a:r>
            <a:r>
              <a:rPr sz="1300" i="0" b="1">
                <a:solidFill>
                  <a:srgbClr val="1A365D"/>
                </a:solidFill>
                <a:latin typeface="Segoe UI"/>
              </a:rPr>
              <a:t>hỏng nặng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 — 73,8% đơn đặt trước ngày đăng ký. Chỉ dùng để bác bỏ khung "thu nạp hỏng", </a:t>
            </a:r>
            <a:r>
              <a:rPr sz="1300" i="0" b="1">
                <a:solidFill>
                  <a:srgbClr val="1A365D"/>
                </a:solidFill>
                <a:latin typeface="Segoe UI"/>
              </a:rPr>
              <a:t>không</a:t>
            </a:r>
            <a:r>
              <a:rPr sz="1300" i="0" b="0">
                <a:solidFill>
                  <a:srgbClr val="1A202C"/>
                </a:solidFill>
                <a:latin typeface="Segoe UI"/>
              </a:rPr>
              <a:t> làm căn cứ định lượng.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i="0" b="1">
                <a:solidFill>
                  <a:srgbClr val="2B6CB0"/>
                </a:solidFill>
                <a:latin typeface="Segoe UI"/>
              </a:rPr>
              <a:t>PHẦN IV · NỐI TIẾP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i="0" b="1">
                <a:solidFill>
                  <a:srgbClr val="1A365D"/>
                </a:solidFill>
                <a:latin typeface="Segoe UI"/>
              </a:rPr>
              <a:t>Cấu trúc khách hàng nói gì cho chương dự báo?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i="0" b="0">
                <a:solidFill>
                  <a:srgbClr val="5A6570"/>
                </a:solidFill>
                <a:latin typeface="Segoe UI"/>
              </a:rPr>
              <a:t>Ba chế độ, và một ràng buộc mức cho giai đoạn dự báo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5376"/>
            <a:ext cx="137160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 i="0" b="0">
                <a:solidFill>
                  <a:srgbClr val="5A6570"/>
                </a:solidFill>
                <a:latin typeface="Segoe UI"/>
              </a:rPr>
              <a:t>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176272"/>
          <a:ext cx="10817351" cy="17556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/>
                <a:gridCol w="6126479"/>
                <a:gridCol w="295351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Giai đoạn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Cơ chế bên dưới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i="0" b="1">
                          <a:solidFill>
                            <a:srgbClr val="FFFFFF"/>
                          </a:solidFill>
                          <a:latin typeface="Segoe UI"/>
                        </a:rPr>
                        <a:t>Hệ quả cho mô hình</a:t>
                      </a:r>
                    </a:p>
                  </a:txBody>
                  <a:tcPr marL="91440" marR="91440" marT="27432" marB="27432" anchor="ctr">
                    <a:solidFill>
                      <a:srgbClr val="2B6CB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2014 – 2018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Cohort chất lượng cao 2013–2015 (retention ~50%/năm) đang sung sức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2F855A"/>
                          </a:solidFill>
                          <a:latin typeface="Segoe UI"/>
                        </a:rPr>
                        <a:t>Chế độ cao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2019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Cohort chất lượng cao suy kiệt; cohort thay thế chỉ giữ được ~8%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C53030"/>
                          </a:solidFill>
                          <a:latin typeface="Segoe UI"/>
                        </a:rPr>
                        <a:t>Điểm gãy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2020 – 2022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1A202C"/>
                          </a:solidFill>
                          <a:latin typeface="Segoe UI"/>
                        </a:rPr>
                        <a:t>Ổn định ở mức thấp, giữ bởi nền khách lặp lại ~23.000 người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i="0" b="0">
                          <a:solidFill>
                            <a:srgbClr val="2B6CB0"/>
                          </a:solidFill>
                          <a:latin typeface="Segoe UI"/>
                        </a:rPr>
                        <a:t>Chế độ thấp, đi ngang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023360"/>
            <a:ext cx="10817352" cy="1883664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4023360"/>
            <a:ext cx="64008" cy="188366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206240"/>
            <a:ext cx="10268712" cy="1517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Ràng buộc mức — </a:t>
            </a:r>
            <a:r>
              <a:rPr sz="1350" i="0" b="1">
                <a:solidFill>
                  <a:srgbClr val="2B6CB0"/>
                </a:solidFill>
                <a:latin typeface="Segoe UI"/>
              </a:rPr>
              <a:t>giả định thứ tư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của chương mô hình (kết quả B18):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Ngoại suy xu hướng đơn thuần sẽ dự đoán 2023–2024 </a:t>
            </a:r>
            <a:r>
              <a:rPr sz="1350" i="0" b="1">
                <a:solidFill>
                  <a:srgbClr val="2B6CB0"/>
                </a:solidFill>
                <a:latin typeface="Segoe UI"/>
              </a:rPr>
              <a:t>tiếp tục giảm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 Nhưng cấu trúc khách hàng nói </a:t>
            </a:r>
            <a:r>
              <a:rPr sz="1350" i="0" b="1">
                <a:solidFill>
                  <a:srgbClr val="2B6CB0"/>
                </a:solidFill>
                <a:latin typeface="Segoe UI"/>
              </a:rPr>
              <a:t>đi ngang quanh mức 2022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Cụ thể: doanh thu năm </a:t>
            </a:r>
            <a:r>
              <a:rPr sz="1350" i="0" b="1">
                <a:solidFill>
                  <a:srgbClr val="2B6CB0"/>
                </a:solidFill>
                <a:latin typeface="Segoe UI"/>
              </a:rPr>
              <a:t>1,16 – 1,23 tỷ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(thang </a:t>
            </a:r>
            <a:r>
              <a:rPr sz="1242" i="0" b="0">
                <a:solidFill>
                  <a:srgbClr val="1A365D"/>
                </a:solidFill>
                <a:latin typeface="Consolas"/>
              </a:rPr>
              <a:t>sales.csv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), nền khách lặp lại KTC 95% </a:t>
            </a:r>
            <a:r>
              <a:rPr sz="1350" i="0" b="1">
                <a:solidFill>
                  <a:srgbClr val="2B6CB0"/>
                </a:solidFill>
                <a:latin typeface="Segoe UI"/>
              </a:rPr>
              <a:t>[22.028 – 23.422]</a:t>
            </a:r>
            <a:r>
              <a:rPr sz="1350" i="0" b="0">
                <a:solidFill>
                  <a:srgbClr val="1A202C"/>
                </a:solidFill>
                <a:latin typeface="Segoe UI"/>
              </a:rPr>
              <a:t> người.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i="0" b="0">
                <a:solidFill>
                  <a:srgbClr val="1A202C"/>
                </a:solidFill>
                <a:latin typeface="Segoe UI"/>
              </a:rPr>
              <a:t>Bổ sung cho ba quyết định kỹ thuật đã có: sample weighting · Fourier seasonality · không dự báo COGS qua tỷ số cố định.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170432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i="0" b="1">
                <a:solidFill>
                  <a:srgbClr val="8FB8E0"/>
                </a:solidFill>
                <a:latin typeface="Segoe UI"/>
              </a:rPr>
              <a:t>KHI HỘI ĐỒNG HỎI "CHỨNG MINH ĐI"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700784"/>
            <a:ext cx="97840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100" i="0" b="0">
                <a:solidFill>
                  <a:srgbClr val="FFFFFF"/>
                </a:solidFill>
                <a:latin typeface="Segoe UI"/>
              </a:rPr>
              <a:t>“Em không chứng minh từng số riêng lẻ.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100" i="0" b="0">
                <a:solidFill>
                  <a:srgbClr val="FFFFFF"/>
                </a:solidFill>
                <a:latin typeface="Segoe UI"/>
              </a:rPr>
              <a:t>Em thiết kế để các số </a:t>
            </a:r>
            <a:r>
              <a:rPr sz="2100" i="0" b="1">
                <a:solidFill>
                  <a:srgbClr val="8FC8F0"/>
                </a:solidFill>
                <a:latin typeface="Segoe UI"/>
              </a:rPr>
              <a:t>buộc phải khớp nhau</a:t>
            </a:r>
            <a:r>
              <a:rPr sz="2100" i="0" b="0">
                <a:solidFill>
                  <a:srgbClr val="FFFFFF"/>
                </a:solidFill>
                <a:latin typeface="Segoe UI"/>
              </a:rPr>
              <a:t> — nếu một số sai thì phép kiểm chéo sẽ vỡ.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100" i="0" b="0">
                <a:solidFill>
                  <a:srgbClr val="FFFFFF"/>
                </a:solidFill>
                <a:latin typeface="Segoe UI"/>
              </a:rPr>
              <a:t>Và khi em tự kiểm 31 mục, </a:t>
            </a:r>
            <a:r>
              <a:rPr sz="2100" i="0" b="1">
                <a:solidFill>
                  <a:srgbClr val="8FC8F0"/>
                </a:solidFill>
                <a:latin typeface="Segoe UI"/>
              </a:rPr>
              <a:t>tám chỗ đã vỡ thật</a:t>
            </a:r>
            <a:r>
              <a:rPr sz="2100" i="0" b="0">
                <a:solidFill>
                  <a:srgbClr val="FFFFFF"/>
                </a:solidFill>
                <a:latin typeface="Segoe UI"/>
              </a:rPr>
              <a:t>. Em sửa cả tám, và đây là chúng.”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968496"/>
            <a:ext cx="1463040" cy="320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29768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i="0" b="0">
                <a:solidFill>
                  <a:srgbClr val="9EBEDC"/>
                </a:solidFill>
                <a:latin typeface="Consolas"/>
              </a:rPr>
              <a:t>Tài liệu chính  ·  docs/problem-statement-customer-retention.md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i="0" b="0">
                <a:solidFill>
                  <a:srgbClr val="9EBEDC"/>
                </a:solidFill>
                <a:latin typeface="Consolas"/>
              </a:rPr>
              <a:t>Bản tổng hợp  ·  docs/tong-hop-D2.md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i="0" b="0">
                <a:solidFill>
                  <a:srgbClr val="9EBEDC"/>
                </a:solidFill>
                <a:latin typeface="Consolas"/>
              </a:rPr>
              <a:t>Phản biện 31 mục  ·  docs/phan-bien/cau-hoi-phan-bien-can-kiem.md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i="0" b="0">
                <a:solidFill>
                  <a:srgbClr val="9EBEDC"/>
                </a:solidFill>
                <a:latin typeface="Consolas"/>
              </a:rPr>
              <a:t>Demo 39 ô đã chạy  ·  D2-Demo.ipynb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