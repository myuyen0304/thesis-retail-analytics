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giây]  Bìa</a:t>
            </a:r>
          </a:p>
          <a:p/>
          <a:p>
            <a:r>
              <a:t>Kính thưa hội đồng. Em là [họ tên], mã số sinh viên [MSSV]. Đề tài khóa luận của em là dự báo doanh thu và giá vốn hàng bán theo ngày.</a:t>
            </a:r>
          </a:p>
          <a:p>
            <a:r>
              <a:t>Hôm nay em xin trình bày bài toán D2 — xói mòn nền khách hàng. Đây là bài toán phân tích đứng trước chương mô hình dự báo, và kết quả của nó sẽ đặt ra một ràng buộc cho chương đó.</a:t>
            </a:r>
          </a:p>
          <a:p>
            <a:r>
              <a:t>Dữ liệu là thương mại điện tử thời trang, 121.930 khách hàng, gần 647.000 đơn, trải hơn mười năm rưỡi.</a:t>
            </a:r>
          </a:p>
          <a:p/>
          <a:p>
            <a:r>
              <a:t>— Thao tác —</a:t>
            </a:r>
          </a:p>
          <a:p>
            <a:r>
              <a:t>· Đứng thẳng, nhìn hội đồng, chưa cần bấm slide vội.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Nội dung — bốn phần</a:t>
            </a:r>
          </a:p>
          <a:p/>
          <a:p>
            <a:r>
              <a:t>Bài của em có bốn phần.</a:t>
            </a:r>
          </a:p>
          <a:p>
            <a:r>
              <a:t>Phần một, em đặt bài toán và trình bày cách phân rã. Phần hai là kết quả — sáu bài toán nhỏ, toàn bộ số liệu chạy trực tiếp trên dữ liệu gốc. Phần ba là bộ chỉ số để đo và theo dõi.</a:t>
            </a:r>
          </a:p>
          <a:p>
            <a:r>
              <a:t>Và phần bốn — phần em muốn nhấn mạnh — em tự phản biện chính tài liệu của mình, 31 mục, và tìm ra tám chỗ sai.</a:t>
            </a:r>
          </a:p>
          <a:p/>
          <a:p>
            <a:r>
              <a:t>— Thao tác —</a:t>
            </a:r>
          </a:p>
          <a:p>
            <a:r>
              <a:t>· Câu cuối nói chậm lại. Đây là câu định hình cả buổi.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giây]  Bài toán lớn của khóa luận</a:t>
            </a:r>
          </a:p>
          <a:p/>
          <a:p>
            <a:r>
              <a:t>Trước khi vào D2, em xin đặt nó vào bối cảnh của cả khóa luận.</a:t>
            </a:r>
          </a:p>
          <a:p>
            <a:r>
              <a:t>Đề tài của em là dự báo doanh thu và giá vốn hàng bán theo ngày. Chuỗi mục tiêu dài 3.833 ngày, từ tháng 7 năm 2012 đến hết năm 2022, dựng trên 7 bảng dữ liệu với gần 647.000 đơn.</a:t>
            </a:r>
          </a:p>
          <a:p>
            <a:r>
              <a:t>Nhưng đây không thuần túy là bài toán chuỗi thời gian. Chuỗi doanh thu ngày có ba chế độ rõ rệt và một điểm gãy vào năm 2019. Nếu chỉ ngoại suy xu hướng, mô hình sẽ dự đoán 2023–2024 tiếp tục rơi.</a:t>
            </a:r>
          </a:p>
          <a:p>
            <a:r>
              <a:t>Muốn biết nên tin vào chế độ nào, phải hiểu cơ chế sinh ra chuỗi — và cơ chế đó nằm ở nền khách hàng. Đó chính là bài toán D2.</a:t>
            </a:r>
          </a:p>
          <a:p>
            <a:r>
              <a:t>Nhìn sơ đồ phía dưới: D2 đứng giữa khâu dữ liệu và khâu mô hình. Nó không dự báo, nó **ràng buộc** mô hình dự báo. Slide gần cuối em sẽ quay lại ràng buộc cụ thể đó.</a:t>
            </a:r>
          </a:p>
          <a:p/>
          <a:p>
            <a:r>
              <a:t>— Thao tác —</a:t>
            </a:r>
          </a:p>
          <a:p>
            <a:r>
              <a:t>· Chỉ tay theo sơ đồ Bronze → Silver → D2 → Chương mô hình khi nói đoạn cuối.</a:t>
            </a:r>
          </a:p>
          <a:p>
            <a:r>
              <a:t>· Slide này trả lời trước câu "bài toán này nằm ở đâu trong khóa luận".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Bài toán D2</a:t>
            </a:r>
          </a:p>
          <a:p/>
          <a:p>
            <a:r>
              <a:t>Xuất phát điểm là một quan sát đơn giản. So với đỉnh năm 2016, doanh thu năm 2022 mất 44,4%.</a:t>
            </a:r>
          </a:p>
          <a:p>
            <a:r>
              <a:t>Nhưng khi tách ra thì thấy giá trị mỗi đơn không hề giảm — AOV còn tăng 27%. Cái mất là số đơn, giảm 56,2%.</a:t>
            </a:r>
          </a:p>
          <a:p>
            <a:r>
              <a:t>Đến đây nhiều phân tích dừng lại và kết luận "số đơn giảm". Em cho rằng dừng ở đó mới chỉ mô tả được triệu chứng, vì số đơn không tự sinh ra — đơn hàng là do khách hàng đặt. Nên câu hỏi thật phải là: nền khách hàng xói mòn ở khâu nào, cơ chế gì gây ra, và can thiệp nào giữ lại được.</a:t>
            </a:r>
          </a:p>
          <a:p>
            <a:r>
              <a:t>Khối cam phía dưới em xin nói luôn: bản tài liệu cũ của em ghép doanh thu âm 44,4% tính từ 2016 với AOV cộng 50,7% tính từ 2013 — hai mốc khác nhau trong cùng một câu. Em phát hiện ra khi dựng slide này và đã đưa cả ba số về cùng mốc 2016.</a:t>
            </a:r>
          </a:p>
          <a:p/>
          <a:p>
            <a:r>
              <a:t>— Thao tác —</a:t>
            </a:r>
          </a:p>
          <a:p>
            <a:r>
              <a:t>· Chỉ tay vào khối cam khi nói đoạn cuối.</a:t>
            </a:r>
          </a:p>
          <a:p>
            <a:r>
              <a:t>· Chủ động nhận lỗi ngay slide đầu tiên — nó đặt tông cho cả phần sau.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giây]  Trục phân rã ba tầng</a:t>
            </a:r>
          </a:p>
          <a:p/>
          <a:p>
            <a:r>
              <a:t>Để tìm chỗ hỏng, em phân rã doanh thu thành một tích. Doanh thu bằng số đơn nhân AOV. Số đơn bằng khách hoạt động nhân tần suất. Khách hoạt động bằng khách mới cộng khách giữ lại.</a:t>
            </a:r>
          </a:p>
          <a:p>
            <a:r>
              <a:t>Bảng dưới là số liệu thật cho từng thành phần, bộ lọc live, mốc 2013 so với 2022.</a:t>
            </a:r>
          </a:p>
          <a:p>
            <a:r>
              <a:t>Đọc theo cột cuối: doanh thu giảm 29,5%, số đơn giảm 53,2%, khách hoạt động giảm 38,4%, tần suất giảm 24,1%. Riêng khách mới giảm 94,6% — gần như tắt hẳn. Và AOV là thành phần **duy nhất tăng**, cộng 50,8%.</a:t>
            </a:r>
          </a:p>
          <a:p>
            <a:r>
              <a:t>Dòng dưới cùng là phép kiểm số: lấy 1.328 cộng 21.671, nhân tần suất 1,4183, nhân AOV 32.527,96 — ra đúng 1.061.061.965, khớp với doanh thu 2022. Phần dư "khách giữ lại" 21.671 cũng khớp khi em đếm trực tiếp bằng một đường độc lập.</a:t>
            </a:r>
          </a:p>
          <a:p/>
          <a:p>
            <a:r>
              <a:t>— Thao tác —</a:t>
            </a:r>
          </a:p>
          <a:p>
            <a:r>
              <a:t>· Chỉ tay vào cột "Thay đổi", đặc biệt hai dòng AOV (+50,8%) và Khách mới (−94,6%).</a:t>
            </a:r>
          </a:p>
          <a:p>
            <a:r>
              <a:t>· Đừng đọc hết bảng. Nêu bốn con số rồi chuyển sang phép kiểm.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giây]  Đẳng thức chứng minh được gì</a:t>
            </a:r>
          </a:p>
          <a:p/>
          <a:p>
            <a:r>
              <a:t>Ở đây em xin dừng một nhịp, vì mục A9 trong phần tự phản biện đặt đúng câu hỏi này: đẳng thức vừa rồi chứng minh được gì?</a:t>
            </a:r>
          </a:p>
          <a:p>
            <a:r>
              <a:t>Câu trả lời là **không chứng minh gì cả**. Tần suất được định nghĩa là đơn chia khách, AOV được định nghĩa là doanh thu chia đơn. Thay vào thì mẫu số triệt tiêu — đẳng thức đúng với mọi bộ dữ liệu, kể cả dữ liệu bịa. Nó là **khung để chia việc**, không phải bằng chứng.</a:t>
            </a:r>
          </a:p>
          <a:p>
            <a:r>
              <a:t>Và khi bóc riêng 22.999 khách hoạt động năm 2022 thì lộ ra một nhóm mà đẳng thức che mất. Khách mới chỉ 1.328 người. Giữ lại thật 9.495. Nhưng nhóm **giành lại** — người đã nghỉ ít nhất một năm rồi quay lại mua — có 12.176 người, chiếm 52,9%. Nhiều hơn cả nhóm giữ lại thật.</a:t>
            </a:r>
          </a:p>
          <a:p>
            <a:r>
              <a:t>Vậy có hai chỗ hổng: AOV tăng 50,8% mà không bài toán nhỏ nào phụ trách, và nhóm giành lại bị gộp chìm. Em đề xuất đổi dòng ba của đẳng thức thành ba số hạng chứ không phải hai.</a:t>
            </a:r>
          </a:p>
          <a:p/>
          <a:p>
            <a:r>
              <a:t>— Thao tác —</a:t>
            </a:r>
          </a:p>
          <a:p>
            <a:r>
              <a:t>· Slide này chứng tỏ em hiểu sự khác nhau giữa MỘT ĐỊNH NGHĨA và MỘT PHÁT HIỆN.</a:t>
            </a:r>
          </a:p>
          <a:p>
            <a:r>
              <a:t>· Nếu hội đồng hỏi "tại sao quan trọng" → vì BTN1 và BTN6 nói tới BA can thiệp, mà đẳng thức chỉ có HAI số hạng.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giây]  Cây sáu bài toán nhỏ</a:t>
            </a:r>
          </a:p>
          <a:p/>
          <a:p>
            <a:r>
              <a:t>Đây là sáu bài toán nhỏ và tiến độ. Bốn bài đã có kết quả, em sẽ đi qua ngay sau đây.</a:t>
            </a:r>
          </a:p>
          <a:p>
            <a:r>
              <a:t>Hai bài còn treo, và em xin nhấn mạnh: treo vì hai lý do hoàn toàn khác nhau.</a:t>
            </a:r>
          </a:p>
          <a:p>
            <a:r>
              <a:t>BTN5 treo vì em chưa làm — công cụ có sẵn, kiểm định điểm gãy bằng Chow test là làm được ngay với dữ liệu hiện có. Còn BTN6 treo vì bộ dữ liệu không có bảng chi phí marketing — đây là giới hạn dữ liệu, không phải thiếu công.</a:t>
            </a:r>
          </a:p>
          <a:p>
            <a:r>
              <a:t>Em nghĩ phân biệt này quan trọng nên ghi rõ chứ không gộp chung thành "chưa xong".</a:t>
            </a:r>
          </a:p>
          <a:p/>
          <a:p>
            <a:r>
              <a:t>— Thao tác —</a:t>
            </a:r>
          </a:p>
          <a:p>
            <a:r>
              <a:t>· Nếu bị hỏi "sao không tự tạo dữ liệu chi phí" → trả lời: bịa dữ liệu để có kết quả là điều em không làm.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giây]  BTN1 — trạng thái tập khách</a:t>
            </a:r>
          </a:p>
          <a:p/>
          <a:p>
            <a:r>
              <a:t>BTN1 trả lời câu hỏi: tập khách hiện đang ở đâu.</a:t>
            </a:r>
          </a:p>
          <a:p>
            <a:r>
              <a:t>Danh sách có 121.930 người, chia ba trạng thái. 31.684 người đăng ký rồi chưa từng mua. 65.493 người từng mua nhưng đã ngưng. 24.753 người còn mua trong năm 2022. Ba số cộng lại đúng bằng tổng — không ai rơi ra ngoài, không ai bị đếm hai lần.</a:t>
            </a:r>
          </a:p>
          <a:p>
            <a:r>
              <a:t>Nhưng ở mục B15 em phát hiện một lỗi. Chỉ số Me1 tính trên bộ lọc live — tức là loại đơn huỷ — còn Me8a tính trên ALL, tức giữ đơn huỷ. Hai bộ lọc khác nhau mà không ghi nhãn, nên cộng lại ra 98,26% chứ không phải 100%. Nhóm khách chỉ có đơn huỷ bị rơi mất. Con số nhất quán là 27,73%.</a:t>
            </a:r>
          </a:p>
          <a:p/>
          <a:p>
            <a:r>
              <a:t>— Thao tác —</a:t>
            </a:r>
          </a:p>
          <a:p>
            <a:r>
              <a:t>· Nhấn "ba số cộng lại đúng bằng tổng" — đây là phép kiểm, không phải con số trang trí.</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giây]  BTN2 — mất khách hay mua thưa</a:t>
            </a:r>
          </a:p>
          <a:p/>
          <a:p>
            <a:r>
              <a:t>BTN2 hỏi: mất khách, hay người ở lại mua thưa đi.</a:t>
            </a:r>
          </a:p>
          <a:p>
            <a:r>
              <a:t>Phân rã cho thấy 72,2% mức giảm số đơn là do ít khách hơn, 45,2% là do mua thưa hơn, và phần dôi ra bị số hạng tương tác kéo lại 17,4%. Hai sự cố xảy ra đồng thời và nhân lên nhau — nên sửa một trong hai là không đủ.</a:t>
            </a:r>
          </a:p>
          <a:p>
            <a:r>
              <a:t>Ở mục B6 em tự kiểm và thấy: tầng này em dùng phân rã số học, còn tầng BTN3 dùng phân rã logarit. Tính lại BTN2 bằng logarit thì ra 63,8 và 36,2. Thứ tự không đổi nên giả thuyết H1 vẫn đứng, nhưng tài liệu phải khai báo rõ đang dùng phương pháp nào chứ không để lẫn.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BTN3 — rổ cạn hay kích hoạt hỏng</a:t>
            </a:r>
          </a:p>
          <a:p/>
          <a:p>
            <a:r>
              <a:t>BTN3 là chỗ dễ kết luận sai nhất trong cả bài.</a:t>
            </a:r>
          </a:p>
          <a:p>
            <a:r>
              <a:t>File customers.csv là một danh sách đóng 121.930 người — không có ai mới được thêm vào. Nghĩa là rổ khách chưa mua chỉ có thể co lại theo thời gian. Nếu chỉ nhìn "khách mới giảm" thì ta trộn lẫn hiệu ứng cơ học đó với tín hiệu thật.</a:t>
            </a:r>
          </a:p>
          <a:p>
            <a:r>
              <a:t>Em dùng phân rã logarit để tách đôi. Kết quả: 36,4% mức giảm là do rổ cạn, còn 63,6% là do tỷ lệ hút sụp. Tỷ lệ hút rơi từ 24,09% xuống 3,78%.</a:t>
            </a:r>
          </a:p>
          <a:p>
            <a:r>
              <a:t>Ở mục B1 em phát hiện con số trong tài liệu — 26,9 và 73,1 — là sai. Vòng lặp tính Pool gán giá trị trước khi trừ và bắt đầu từ năm 2013, làm rơi mất toàn bộ cohort 2012. Tính lại đúng là 36,4 và 63,6. Kết luận không đổi — tỷ lệ hút vẫn là nguyên nhân chính — nhưng rổ cạn nặng hơn tài liệu thừa nhận gần 10 điểm phần trăm.</a:t>
            </a:r>
          </a:p>
          <a:p/>
          <a:p>
            <a:r>
              <a:t>— Thao tác —</a:t>
            </a:r>
          </a:p>
          <a:p>
            <a:r>
              <a:t>· Nếu hội đồng hỏi "sao phải dùng logarit" → vì logarit biến tích thành tổng, nên hai nguyên nhân cộng lại đúng bằng tổng, không có số hạng tương tác.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BTN4 — mô hình Cox</a:t>
            </a:r>
          </a:p>
          <a:p/>
          <a:p>
            <a:r>
              <a:t>BTN4 là trọng tâm: cơ chế xảy ra ở đơn hàng đầu tiên. Em dùng mô hình Cox proportional hazards trên 84.566 khách, 74,1% có sự kiện quay lại, thời gian trung vị 312 ngày.</a:t>
            </a:r>
          </a:p>
          <a:p>
            <a:r>
              <a:t>Cách đọc bảng: HR nhỏ hơn 1 nghĩa là quay lại chậm hơn. Biến mạnh nhất là cohort_year — 0,7478, tức mỗi năm gia nhập muộn hơn thì khả năng quay lại chậm hơn khoảng 25%. Biến promo_first chỉ 0,948. Còn giao hàng chậm và trả hàng có p bằng 0,303 và 0,161 — không có tín hiệu.</a:t>
            </a:r>
          </a:p>
          <a:p>
            <a:r>
              <a:t>Ở mục A8 em tự kiểm và phải nói thật: concordance chỉ 0,653. Đoán mò hoàn toàn là 0,50. Mô hình hơn đoán mò 15 điểm — đủ để nói về cơ chế và thứ tự quan trọng của các biến, nhưng em không gọi đây là mô hình dự đoán.</a:t>
            </a:r>
          </a:p>
          <a:p/>
          <a:p>
            <a:r>
              <a:t>— Thao tác —</a:t>
            </a:r>
          </a:p>
          <a:p>
            <a:r>
              <a:t>· Câu "em không gọi đây là mô hình dự đoán" nên nói dứt khoát — nó chặn trước một câu hỏi khó.</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giây]  Đường Kaplan–Meier</a:t>
            </a:r>
          </a:p>
          <a:p/>
          <a:p>
            <a:r>
              <a:t>Đây là hình minh hoạ. Trục dọc là tỷ lệ khách chưa quay lại, nên đường thấp hơn nghĩa là quay lại nhiều hơn.</a:t>
            </a:r>
          </a:p>
          <a:p>
            <a:r>
              <a:t>Tại mốc một năm, hai nhóm chênh nhau 10 điểm phần trăm, và log-rank có ý nghĩa thống kê.</a:t>
            </a:r>
          </a:p>
          <a:p>
            <a:r>
              <a:t>Nhưng khoảng cách thô này đã gồm cả hiệu ứng cohort trong đó. Slide sau em tách ra.</a:t>
            </a:r>
          </a:p>
          <a:p/>
          <a:p>
            <a:r>
              <a:t>— Thao tác —</a:t>
            </a:r>
          </a:p>
          <a:p>
            <a:r>
              <a:t>· Chỉ vào mũi tên "Chênh 10.0 điểm % tại 1 năm" trên hình.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 giây]  Phát hiện chính</a:t>
            </a:r>
          </a:p>
          <a:p/>
          <a:p>
            <a:r>
              <a:t>Đây là phần em coi là đóng góp riêng của khóa luận.</a:t>
            </a:r>
          </a:p>
          <a:p>
            <a:r>
              <a:t>Nhìn thô: khách có khuyến mãi ở đơn đầu mua 4,59 đơn trọn đời, khách không khuyến mãi mua 7,56 đơn — ít hơn 39,2%. Nếu dừng ở đây thì khuyến nghị hiển nhiên sẽ là "cắt ngân sách khuyến mãi ngay".</a:t>
            </a:r>
          </a:p>
          <a:p>
            <a:r>
              <a:t>Nhưng khi đưa vào mô hình Cox và kiểm soát năm cohort, danh mục hàng và giá trị đơn đầu, thì hiệu ứng còn lại chỉ HR bằng 0,948 — chậm hơn khoảng 5,2%.</a:t>
            </a:r>
          </a:p>
          <a:p>
            <a:r>
              <a:t>Nghĩa là gần như toàn bộ khoảng cách 39,2% kia không phải do khuyến mãi gây ra, mà do khách có khuyến mãi tập trung ở các cohort muộn — mà cohort muộn thì vốn đã kém hơn.</a:t>
            </a:r>
          </a:p>
          <a:p>
            <a:r>
              <a:t>Em muốn nhấn ý này: nếu dừng ở phân tích mô tả, khuyến nghị sẽ là cắt khuyến mãi — một quyết định sai, xuất phát từ việc nhầm tương quan với nhân quả. Bước đi từ mô tả sang cơ chế ở đây không phải làm cho đẹp bài. Nó đổi hẳn khuyến nghị.</a:t>
            </a:r>
          </a:p>
          <a:p/>
          <a:p>
            <a:r>
              <a:t>— Thao tác —</a:t>
            </a:r>
          </a:p>
          <a:p>
            <a:r>
              <a:t>· Slide quan trọng nhất phần II. Nói chậm, dừng một nhịp sau câu "39,2%" và sau câu "5,2%".</a:t>
            </a:r>
          </a:p>
          <a:p>
            <a:r>
              <a:t>· Dùng tay chỉ từ ô đỏ sang ô xanh khi nói "nhưng khi kiểm soát".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giây]  Chín giả thuyết</a:t>
            </a:r>
          </a:p>
          <a:p/>
          <a:p>
            <a:r>
              <a:t>Đây là chín giả thuyết em đặt ra. Em ghi cả những cái bị bác bỏ, vì bác bỏ cũng là kết quả chứ không phải thất bại.</a:t>
            </a:r>
          </a:p>
          <a:p>
            <a:r>
              <a:t>H1 đến H3 được ủng hộ. H4 bị bác bỏ — em sẽ nói ở phần sau. H5 và H6 chỉ ủng hộ yếu. H7 đúng nhưng nhỏ hơn em tưởng rất nhiều.</a:t>
            </a:r>
          </a:p>
          <a:p>
            <a:r>
              <a:t>H8 và H9 ban đầu em ghi là "sai" — tức giao hàng và trả hàng không ảnh hưởng đến giữ chân. Sau khi tự phản biện em phải đổi thành "kết quả rỗng, không diễn giải được". Lý do em xin trình bày ở slide 23.</a:t>
            </a:r>
          </a:p>
          <a:p/>
          <a:p>
            <a:r>
              <a:t>— Thao tác —</a:t>
            </a:r>
          </a:p>
          <a:p>
            <a:r>
              <a:t>· Đừng đọc hết chín dòng. Chỉ nêu nhóm và dừng lại ở H8, H9.</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giây]  Measure — 13 độ đo thô</a:t>
            </a:r>
          </a:p>
          <a:p/>
          <a:p>
            <a:r>
              <a:t>Sang phần ba, bộ chỉ số. Em thiết kế theo ba tầng: measure, rồi metric, rồi KPI.</a:t>
            </a:r>
          </a:p>
          <a:p>
            <a:r>
              <a:t>Tầng một là **measure** — một phép tổng hợp trực tiếp trên một cột, chưa mang ngữ cảnh so sánh. Em có 13 measure, lấy từ 7 bảng.</a:t>
            </a:r>
          </a:p>
          <a:p>
            <a:r>
              <a:t>Mỗi dòng em ghi rõ công thức, bảng nguồn, grain và bộ lọc. Đây là điều em rút ra sau khi tự phản biện: một con số không kèm bộ lọc và grain thì **không kiểm lại được**.</a:t>
            </a:r>
          </a:p>
          <a:p>
            <a:r>
              <a:t>Bốn measure mới là M9 đến M12, phục vụ mô hình Cox. Độ phủ lần lượt 96,5%, 6,14%, 19,4% và 30,57%.</a:t>
            </a:r>
          </a:p>
          <a:p>
            <a:r>
              <a:t>Em xin lưu ý M11 — điểm đánh giá — độ phủ chỉ 19,4%. Em **đã loại nó khỏi mô hình Cox**, vì lọc theo nó sẽ tạo thiên lệch chọn mẫu: người chịu đánh giá vốn đã khác người không đánh giá.</a:t>
            </a:r>
          </a:p>
          <a:p/>
          <a:p>
            <a:r>
              <a:t>— Thao tác —</a:t>
            </a:r>
          </a:p>
          <a:p>
            <a:r>
              <a:t>· Đừng đọc hết 13 dòng. Nêu định nghĩa tầng, chỉ vào cột "Grain" và "Lọc", rồi nói về M11.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giây]  Metric — 13 chỉ số dẫn xuất</a:t>
            </a:r>
          </a:p>
          <a:p/>
          <a:p>
            <a:r>
              <a:t>Tầng hai là **metric**. Cái phân biệt metric với measure không phải số lượng measure dùng, mà là **ngữ cảnh** — mẫu số, cửa sổ thời gian, bộ lọc. "Doanh thu quý 4" chỉ dùng một measure nhưng vẫn là metric.</a:t>
            </a:r>
          </a:p>
          <a:p>
            <a:r>
              <a:t>Mỗi metric em ghi giá trị đo được thật. Vài con số đáng chú ý: tần suất mua giảm từ 1,87 xuống 1,42. Giữ chân năm +1 từ 49,5% xuống 7,0%. Tỷ lệ hút từ pool từ 20,02% xuống 2,38%.</a:t>
            </a:r>
          </a:p>
          <a:p>
            <a:r>
              <a:t>Cột cuối là "phục vụ" — mỗi metric gắn với câu hỏi nghiên cứu và giả thuyết nào. Không có metric nào không phục vụ gì cả.</a:t>
            </a:r>
          </a:p>
          <a:p>
            <a:r>
              <a:t>Me8 là chỗ em đã phải sửa. Công thức cũ trộn khách chưa từng mua vào tử số, mà khách chưa mua thì **không có recency** — đó là lỗi grain. Hệ quả nặng hơn tên gọi: K3 và K4 cũ chồng lấn tử số, hai KPI cùng một phần tử số nhưng hai hành động khác nhau, nên không giám sát được. Em tách đôi thành Me8a và Me8b.</a:t>
            </a:r>
          </a:p>
          <a:p/>
          <a:p>
            <a:r>
              <a:t>— Thao tác —</a:t>
            </a:r>
          </a:p>
          <a:p>
            <a:r>
              <a:t>· Nếu bị hỏi "measure và metric khác nhau chỗ nào" → trả lời bằng đúng ví dụ "doanh thu quý 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giây]  KPI — 7 chỉ số có ngưỡng</a:t>
            </a:r>
          </a:p>
          <a:p/>
          <a:p>
            <a:r>
              <a:t>Tầng ba là **KPI**. Em định nghĩa chặt: KPI là metric được chọn ra vì gắn mục tiêu, **có ngưỡng**, và **có hành động** khi lệch ngưỡng. Thiếu một trong ba thì nó chỉ là metric.</a:t>
            </a:r>
          </a:p>
          <a:p>
            <a:r>
              <a:t>Cột "loại" phân biệt dẫn báo, trễ và guardrail — vì K5 và K6 phải chờ nhiều tháng mới đo được, không thể lái bằng chúng.</a:t>
            </a:r>
          </a:p>
          <a:p>
            <a:r>
              <a:t>K7 là chỗ em muốn nhấn. Sáu KPI đầu **đều một hướng**: nhiều khách hơn, giữ chân tốt hơn. Không cái nào chặn chi phí. Mà cách rẻ nhất để đẩy K1 và K3 lên chính là giảm giá — trong khi dữ liệu cho thấy khách kéo về bằng khuyến mãi chỉ mua 4,60 đơn trọn đời so với 7,58.</a:t>
            </a:r>
          </a:p>
          <a:p>
            <a:r>
              <a:t>Nên K7 là guardrail: tỷ lệ đơn đầu có khuyến mãi không được vượt 30%. Nó trả lời thẳng câu phản biện "nếu em giành lại khách bằng giảm giá sâu thì K1 tăng nhưng lợi nhuận sập — có gì chặn không".</a:t>
            </a:r>
          </a:p>
          <a:p/>
          <a:p>
            <a:r>
              <a:t>— Thao tác —</a:t>
            </a:r>
          </a:p>
          <a:p>
            <a:r>
              <a:t>· Nói rõ ngưỡng 30% đặt bằng đúng mức hiện tại, tức "không được xấu thêm" — không phải chuẩn ngành.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giây]  Ma trận truy vết</a:t>
            </a:r>
          </a:p>
          <a:p/>
          <a:p>
            <a:r>
              <a:t>Bảng này nối cả chuỗi lại. Đọc theo hàng ngang: mỗi bài toán nhỏ đi qua câu hỏi nghiên cứu, giả thuyết, measure, metric, rồi xuống tới một KPI có hành động.</a:t>
            </a:r>
          </a:p>
          <a:p>
            <a:r>
              <a:t>Bảng cho thấy hai điều. Thứ nhất, **không có measure thừa** — 12 trong 13 measure được dùng ít nhất một lần, M11 bị loại có chủ đích như em vừa nói.</a:t>
            </a:r>
          </a:p>
          <a:p>
            <a:r>
              <a:t>Thứ hai, **không có bài toán cụt** — mỗi BTN đều dẫn tới một KPI, trừ nhánh RQ5. Mà RQ5 cho kết quả rỗng nên đúng ra không được đẻ ra KPI nào. Nó về đúng vai của nó: là **đầu vào loại trừ** cho BTN6 — kết quả p bằng 0,533 loại bỏ phương án phân bổ ngân sách theo kênh. Đó vẫn là một đóng góp thật.</a:t>
            </a:r>
          </a:p>
          <a:p/>
          <a:p>
            <a:r>
              <a:t>— Thao tác —</a:t>
            </a:r>
          </a:p>
          <a:p>
            <a:r>
              <a:t>· Đây là slide trả lời câu "thiết kế của em có chặt không" — chỉ tay theo một hàng ngang từ trái sang phải.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giây]  Ba chỗ đã sửa, ba chỗ còn hỏng</a:t>
            </a:r>
          </a:p>
          <a:p/>
          <a:p>
            <a:r>
              <a:t>Cuối phần ba, em nói về chất lượng của chính bộ chỉ số.</a:t>
            </a:r>
          </a:p>
          <a:p>
            <a:r>
              <a:t>Ba chỗ em đã sửa: Me8 lỗi grain như vừa trình bày. K2 cũ đặt mục tiêu tăng trưởng trên một rổ chỉ có thể co lại — bất khả thi về cấu trúc, đội ngũ không bao giờ đạt được dù làm tốt đến đâu. Và K7 em thêm vào làm guardrail.</a:t>
            </a:r>
          </a:p>
          <a:p>
            <a:r>
              <a:t>Nhưng khi tự phản biện ở B8 và B19 thì vẫn còn ba chỗ hỏng. K7 vi phạm ngưỡng của chính nó ngay ngày ban hành — thực tế 30,57% trong khi ngưỡng đặt là dưới 30%. K1 đòi tăng 2,86 lần, mốc 20% cách hiện tại sáu năm. Và K5 phải 36 tháng mới đo được, quá trễ để lái.</a:t>
            </a:r>
          </a:p>
          <a:p>
            <a:r>
              <a:t>Em đã đề xuất hai chỉ số dẫn báo thay thế cho K5.</a:t>
            </a:r>
          </a:p>
          <a:p/>
          <a:p>
            <a:r>
              <a:t>— Thao tác —</a:t>
            </a:r>
          </a:p>
          <a:p>
            <a:r>
              <a:t>· Nếu hội đồng hỏi "sao không sửa luôn K7 cho khỏi vi phạm" → vì hạ ngưỡng xuống cho vừa thực tế thì guardrail mất tác dụng; vấn đề là mức 30,57% chứ không phải con số ngưỡng.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giây]  Kiểm chứng số liệu</a:t>
            </a:r>
          </a:p>
          <a:p/>
          <a:p>
            <a:r>
              <a:t>Về kiểm chứng, nguyên tắc của em là phải đi bằng đường khác. Chạy lại cùng một script không chứng minh gì cả — nó chỉ chứng minh code chạy hai lần ra cùng kết quả.</a:t>
            </a:r>
          </a:p>
          <a:p>
            <a:r>
              <a:t>Em có sáu phép kiểm. Nhưng ở mục B10 em tự kiểm và phát hiện ba trong năm phép là hằng đúng — chúng không thể vỡ dù số liệu có sai.</a:t>
            </a:r>
          </a:p>
          <a:p>
            <a:r>
              <a:t>Nặng nhất là phép mà tài liệu cũ gọi là "mạnh nhất" — hai đường phân rã độc lập gặp nhau. Thực ra nó yếu nhất, vì hai đường dùng chung dữ liệu đầu vào nên buộc phải gặp.</a:t>
            </a:r>
          </a:p>
          <a:p>
            <a:r>
              <a:t>Hai phép thật sự có thể vỡ là đối chiếu sales.csv và đối chiếu payment_value — và cả hai đều khớp.</a:t>
            </a:r>
          </a:p>
          <a:p/>
          <a:p>
            <a:r>
              <a:t>— Thao tác —</a:t>
            </a:r>
          </a:p>
          <a:p>
            <a:r>
              <a:t>· Đây là slide dễ ăn điểm: nó cho thấy em hiểu thế nào là một phép kiểm có giá trị.</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giây]  Tự phản biện — tổng quan</a:t>
            </a:r>
          </a:p>
          <a:p/>
          <a:p>
            <a:r>
              <a:t>Sang phần bốn.</a:t>
            </a:r>
          </a:p>
          <a:p>
            <a:r>
              <a:t>Sau khi hoàn thành tài liệu, em tự kiểm 31 mục. Mỗi mục một script riêng, chạy lại trực tiếp trên dữ liệu gốc — em không tin lại kết quả cũ của chính mình.</a:t>
            </a:r>
          </a:p>
          <a:p>
            <a:r>
              <a:t>Kết quả: 13 mục xác nhận tài liệu đúng, 10 mục đúng nhưng nói quá nên phải thu hẹp, và 8 mục lệch phải sửa.</a:t>
            </a:r>
          </a:p>
          <a:p>
            <a:r>
              <a:t>Nguyên tắc em đặt ra: mỗi con số phải kèm bảng nguồn, cột, bộ lọc và grain. Khi lệch so với tài liệu thì ghi thẳng chữ LỆCH, không làm tròn cho khớp. Khi không xác định được thì viết "chưa xác định được" kèm lý do, không đoán.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giây]  Tám chỗ lệch</a:t>
            </a:r>
          </a:p>
          <a:p/>
          <a:p>
            <a:r>
              <a:t>Đây là tám chỗ lệch. B1 và B15 em đã nói ở trên.</a:t>
            </a:r>
          </a:p>
          <a:p>
            <a:r>
              <a:t>Ba chỗ nữa đáng chú ý. B7: em giả định cohort_year có tác động tuyến tính, kiểm định tỷ số hợp lý bác bỏ giả định đó với p bằng 8,2 nhân 10 mũ trừ 16 — dạng tuyến tính hỏng từ năm 2020.</a:t>
            </a:r>
          </a:p>
          <a:p>
            <a:r>
              <a:t>B9: giả thuyết H4 của em bị bác bỏ. Mô phỏng cho kết quả cộng 0,68% trong khi thực tế là âm 38,60%.</a:t>
            </a:r>
          </a:p>
          <a:p>
            <a:r>
              <a:t>Và B20: trường signup_date hỏng, em xác nhận là không sửa được, nên không dùng nó làm căn cứ định lượng.</a:t>
            </a:r>
          </a:p>
          <a:p>
            <a:r>
              <a:t>Cả tám chỗ đều đã có đề xuất câu chữ cụ thể để sửa.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 giây]  B21 — dữ liệu mô phỏng</a:t>
            </a:r>
          </a:p>
          <a:p/>
          <a:p>
            <a:r>
              <a:t>Đây là phát hiện em cho là nặng nhất, và nó thay đổi cách đọc mấy kết quả trước đó.</a:t>
            </a:r>
          </a:p>
          <a:p>
            <a:r>
              <a:t>Bộ dữ liệu này là mô phỏng. Em kiểm từng trường bằng một tương quan lẽ ra phải tồn tại trong dữ liệu thật. Bốn trường không qua được.</a:t>
            </a:r>
          </a:p>
          <a:p>
            <a:r>
              <a:t>Nặng nhất là cặp reviews và returns. Có 111.369 đơn có đánh giá. 36.062 đơn có trả hàng. Trên tổng 646.945 đơn. Số đơn có cả hai là... không. Bằng không.</a:t>
            </a:r>
          </a:p>
          <a:p>
            <a:r>
              <a:t>Nếu hai việc này độc lập với nhau thì kỳ vọng phải có khoảng 6.208 đơn. Quan sát 0 trên kỳ vọng 6.208 — xác suất xảy ra ngẫu nhiên là thực tế bằng không. Bộ sinh dữ liệu đã gán review và trả hàng vào hai tập rời nhau.</a:t>
            </a:r>
          </a:p>
          <a:p>
            <a:r>
              <a:t>Hệ quả là em không thể kiểm được câu hỏi hiển nhiên nhất: đơn bị trả hàng có rating thấp hơn không. Đây không phải kết quả rỗng — đây là dữ liệu không tồn tại.</a:t>
            </a:r>
          </a:p>
          <a:p>
            <a:r>
              <a:t>Tương tự, delivery_days ở ba vùng là 4,499 — 4,499 — 4,500 trên hơn nửa triệu đơn, p bằng 0,985. Trong thực tế vùng xa luôn giao chậm hơn.</a:t>
            </a:r>
          </a:p>
          <a:p>
            <a:r>
              <a:t>Vì vậy H8 và H9 phải đổi cách diễn giải: kết quả rỗng ở đây nói về bộ sinh dữ liệu, không nói về doanh nghiệp, và em không rút ra khuyến nghị nào từ đó.</a:t>
            </a:r>
          </a:p>
          <a:p/>
          <a:p>
            <a:r>
              <a:t>— Thao tác —</a:t>
            </a:r>
          </a:p>
          <a:p>
            <a:r>
              <a:t>· Dừng hẳn một nhịp sau chữ "Bằng không." Đây là khoảnh khắc mạnh nhất của bài.</a:t>
            </a:r>
          </a:p>
          <a:p>
            <a:r>
              <a:t>· Nếu bị hỏi "vậy cả luận văn còn giá trị gì" → chuyển ngay sang slide 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giây]  B11 — cohort hay thời kỳ</a:t>
            </a:r>
          </a:p>
          <a:p/>
          <a:p>
            <a:r>
              <a:t>Mục B11 đánh thẳng vào kết luận trọng tâm của em. HR của cohort_year là 0,7478 — nhưng đó là hiệu ứng cohort, hay hiệu ứng thời kỳ?</a:t>
            </a:r>
          </a:p>
          <a:p>
            <a:r>
              <a:t>Phân biệt này đổi hẳn khuyến nghị. Nếu là cohort thì phải sửa khâu thu nạp. Nếu là thời kỳ thì phải đi tìm cú sốc năm 2019.</a:t>
            </a:r>
          </a:p>
          <a:p>
            <a:r>
              <a:t>Em kiểm bằng cách nhìn riêng cohort 2013 — một nhóm cố định, không ai vào, không ai ra. Họ rơi từ 61,2% xuống 46,0%, và rơi đúng vào năm 2019. Chuyện xảy ra với người đã ở sẵn trong hệ thống thì không thể là hiệu ứng cohort.</a:t>
            </a:r>
          </a:p>
          <a:p>
            <a:r>
              <a:t>Thêm nữa, khi em đưa biến thời kỳ vào mô hình thì HR lật từ 0,74 thành 1,16.</a:t>
            </a:r>
          </a:p>
          <a:p>
            <a:r>
              <a:t>Kết luận là cả hai, và tài liệu cũ chỉ nói một nửa. Đây là bài toán Age–Period–Cohort kinh điển: ba trục cộng tuyến hoàn hảo, không tách được nếu không có ràng buộc thêm. Em khai báo giới hạn này chứ không giả vờ là tách được.</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giây]  B17 — cỡ hiệu ứng</a:t>
            </a:r>
          </a:p>
          <a:p/>
          <a:p>
            <a:r>
              <a:t>Mục B17 là về cỡ hiệu ứng. Biến promo_first có p nhỏ hơn 0,001 — chắc chắn có tín hiệu. Nhưng quy ra số người thật thì hiệu ứng chỉ 1,4 điểm phần trăm, tức 367 người trên 26.759 khách có khuyến mãi.</a:t>
            </a:r>
          </a:p>
          <a:p>
            <a:r>
              <a:t>Trong khi cohort_year đổi 35,4 điểm — mạnh hơn 25,8 lần.</a:t>
            </a:r>
          </a:p>
          <a:p>
            <a:r>
              <a:t>Em nêu điều này vì với 84.566 quan sát thì gần như mọi biến đều sẽ có p nhỏ hơn 0,001. p-value chỉ trả lời "có khác 0 hay không", nó không trả lời "có đáng để làm gì hay không".</a:t>
            </a:r>
          </a:p>
          <a:p>
            <a:r>
              <a:t>Một can thiệp đổi được 367 người thì không xứng với một chương trình khuyến mãi toàn hệ thống.</a:t>
            </a:r>
          </a:p>
          <a:p/>
          <a:p>
            <a:r>
              <a:t>— Thao tác —</a:t>
            </a:r>
          </a:p>
          <a:p>
            <a:r>
              <a:t>· Đây là slide chứng tỏ hiểu thống kê chứ không chỉ biết chạy thư viện.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giây]  Kết luận nào còn đứng</a:t>
            </a:r>
          </a:p>
          <a:p/>
          <a:p>
            <a:r>
              <a:t>Tổng kết phần phản biện. Em chia kết luận theo cái mà nó dựa vào.</a:t>
            </a:r>
          </a:p>
          <a:p>
            <a:r>
              <a:t>Bên trái là những kết luận dựa trên cấu trúc thời gian và việc đếm đơn, đếm khách — bộ sinh dữ liệu phải có quy luật mới tạo ra được, nên những kết luận này đứng vững.</a:t>
            </a:r>
          </a:p>
          <a:p>
            <a:r>
              <a:t>Bên phải là những chỗ dựa vào một trường có thể ngẫu nhiên, hoặc dựa vào phép kiểm hằng đúng — những chỗ này phải viết lại.</a:t>
            </a:r>
          </a:p>
          <a:p>
            <a:r>
              <a:t>Quy tắc em rút ra: kết quả rỗng trên một trường nghi ngẫu nhiên thì nói về bộ sinh dữ liệu, không nói về doanh nghiệp, và không được chuyển thành khuyến nghị thực hành.</a:t>
            </a:r>
          </a:p>
          <a:p/>
          <a:p>
            <a:r>
              <a:t>— Thao tác —</a:t>
            </a:r>
          </a:p>
          <a:p>
            <a:r>
              <a:t>· Đây là câu trả lời cho "dữ liệu giả thì phân tích còn ý nghĩa gì".</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giây]  Việc chưa xong</a:t>
            </a:r>
          </a:p>
          <a:p/>
          <a:p>
            <a:r>
              <a:t>Việc chưa xong em đã nói ở đầu. Còn ba điều em xin chủ động nói trước khi hội đồng hỏi.</a:t>
            </a:r>
          </a:p>
          <a:p>
            <a:r>
              <a:t>Thứ nhất, promo_first là tương quan đã kiểm soát, không phải nhân quả. Matching chỉ cân bằng được biến đã quan sát, còn khách nhạy giá tự chọn vào nhóm khuyến mãi theo những đặc điểm em không quan sát được.</a:t>
            </a:r>
          </a:p>
          <a:p>
            <a:r>
              <a:t>Thứ hai, H6 chỉ dựa trên ba điểm dữ liệu. Đủ để nói chưa thấy dấu hiệu tiếp tục rơi, chưa đủ để khẳng định là chế độ ổn định.</a:t>
            </a:r>
          </a:p>
          <a:p>
            <a:r>
              <a:t>Thứ ba, signup_date hỏng nặng — 73,8% đơn được đặt trước ngày đăng ký. Em chỉ dùng nó để bác bỏ khung "thu nạp hỏng", không dùng làm căn cứ định lượng.</a:t>
            </a:r>
          </a:p>
          <a:p/>
          <a:p>
            <a:r>
              <a:t>— Thao tác —</a:t>
            </a:r>
          </a:p>
          <a:p>
            <a:r>
              <a:t>· Nói ba điều này TRƯỚC khi bị hỏi thì nó là sự cẩn trọng. Nói sau khi bị hỏi thì nó là biện minh.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giây]  Nối sang chương mô hình</a:t>
            </a:r>
          </a:p>
          <a:p/>
          <a:p>
            <a:r>
              <a:t>Cuối cùng, bài toán này nối sang chương mô hình như thế nào.</a:t>
            </a:r>
          </a:p>
          <a:p>
            <a:r>
              <a:t>Cấu trúc khách hàng giải thích ba chế độ mà mô hình dự báo phải xử lý: 2014 đến 2018 là chế độ cao, 2019 là điểm gãy, 2020 đến 2022 thấp và đi ngang.</a:t>
            </a:r>
          </a:p>
          <a:p>
            <a:r>
              <a:t>Hệ quả cụ thể: nếu ngoại suy xu hướng đơn thuần thì mô hình sẽ dự đoán 2023–2024 tiếp tục giảm. Nhưng cấu trúc khách hàng nói là đi ngang quanh mức 2022.</a:t>
            </a:r>
          </a:p>
          <a:p>
            <a:r>
              <a:t>Em định lượng được ràng buộc đó: doanh thu năm trong khoảng 1,16 đến 1,23 tỷ, và nền khách lặp lại có khoảng tin cậy 95% từ 22.028 đến 23.422 người. Đây là giả định thứ tư của chương mô hình, bổ sung cho ba quyết định kỹ thuật đã có.</a:t>
            </a:r>
          </a:p>
          <a:p/>
          <a:p>
            <a:r>
              <a:t>— Thao tác —</a:t>
            </a:r>
          </a:p>
          <a:p>
            <a:r>
              <a:t>· Slide này chứng minh bài toán D2 không phải một chương rời — nó có đầu ra dùng được.</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giây]  Kết</a:t>
            </a:r>
          </a:p>
          <a:p/>
          <a:p>
            <a:r>
              <a:t>Em xin kết.</a:t>
            </a:r>
          </a:p>
          <a:p>
            <a:r>
              <a:t>Nếu hội đồng hỏi em "chứng minh số của em đúng đi", câu trả lời của em là: em không chứng minh từng số riêng lẻ. Em thiết kế để các số buộc phải khớp nhau — nếu một số sai thì phép kiểm chéo sẽ vỡ.</a:t>
            </a:r>
          </a:p>
          <a:p>
            <a:r>
              <a:t>Và khi em tự kiểm 31 mục, tám chỗ đã vỡ thật. Em sửa cả tám, và đây là chúng.</a:t>
            </a:r>
          </a:p>
          <a:p>
            <a:r>
              <a:t>Em xin hết phần trình bày. Kính mời hội đồng đặt câu hỏi.</a:t>
            </a:r>
          </a:p>
          <a:p/>
          <a:p>
            <a:r>
              <a:t>— Thao tác —</a:t>
            </a:r>
          </a:p>
          <a:p>
            <a:r>
              <a:t>· Nói câu cuối rồi dừng hẳn. Đừng nói thêm gì.</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1572768"/>
            <a:ext cx="9875520" cy="320040"/>
          </a:xfrm>
          <a:prstGeom prst="rect">
            <a:avLst/>
          </a:prstGeom>
          <a:noFill/>
        </p:spPr>
        <p:txBody>
          <a:bodyPr wrap="square" lIns="0" rIns="0" tIns="0" bIns="0" anchor="t">
            <a:spAutoFit/>
          </a:bodyPr>
          <a:lstStyle/>
          <a:p>
            <a:pPr algn="l">
              <a:lnSpc>
                <a:spcPct val="122000"/>
              </a:lnSpc>
              <a:spcAft>
                <a:spcPts val="0"/>
              </a:spcAft>
            </a:pPr>
            <a:r>
              <a:rPr sz="1250" i="0" b="1">
                <a:solidFill>
                  <a:srgbClr val="8FB8E0"/>
                </a:solidFill>
                <a:latin typeface="Segoe UI"/>
              </a:rPr>
              <a:t>KHÓA LUẬN TỐT NGHIỆP  ·  NGÀNH HỆ THỐNG THÔNG TIN</a:t>
            </a:r>
          </a:p>
        </p:txBody>
      </p:sp>
      <p:sp>
        <p:nvSpPr>
          <p:cNvPr id="5" name="TextBox 4"/>
          <p:cNvSpPr txBox="1"/>
          <p:nvPr/>
        </p:nvSpPr>
        <p:spPr>
          <a:xfrm>
            <a:off x="1143000" y="2048256"/>
            <a:ext cx="10058400" cy="914400"/>
          </a:xfrm>
          <a:prstGeom prst="rect">
            <a:avLst/>
          </a:prstGeom>
          <a:noFill/>
        </p:spPr>
        <p:txBody>
          <a:bodyPr wrap="square" lIns="0" rIns="0" tIns="0" bIns="0" anchor="t">
            <a:spAutoFit/>
          </a:bodyPr>
          <a:lstStyle/>
          <a:p>
            <a:pPr algn="l">
              <a:lnSpc>
                <a:spcPct val="122000"/>
              </a:lnSpc>
              <a:spcAft>
                <a:spcPts val="0"/>
              </a:spcAft>
            </a:pPr>
            <a:r>
              <a:rPr sz="4600" i="0" b="1">
                <a:solidFill>
                  <a:srgbClr val="FFFFFF"/>
                </a:solidFill>
                <a:latin typeface="Segoe UI"/>
              </a:rPr>
              <a:t>Xói mòn nền khách hàng</a:t>
            </a:r>
          </a:p>
        </p:txBody>
      </p:sp>
      <p:sp>
        <p:nvSpPr>
          <p:cNvPr id="6" name="TextBox 5"/>
          <p:cNvSpPr txBox="1"/>
          <p:nvPr/>
        </p:nvSpPr>
        <p:spPr>
          <a:xfrm>
            <a:off x="1143000" y="3017520"/>
            <a:ext cx="9692640" cy="685800"/>
          </a:xfrm>
          <a:prstGeom prst="rect">
            <a:avLst/>
          </a:prstGeom>
          <a:noFill/>
        </p:spPr>
        <p:txBody>
          <a:bodyPr wrap="square" lIns="0" rIns="0" tIns="0" bIns="0" anchor="t">
            <a:spAutoFit/>
          </a:bodyPr>
          <a:lstStyle/>
          <a:p>
            <a:pPr algn="l">
              <a:lnSpc>
                <a:spcPct val="130000"/>
              </a:lnSpc>
              <a:spcAft>
                <a:spcPts val="0"/>
              </a:spcAft>
            </a:pPr>
            <a:r>
              <a:rPr sz="1800" i="0" b="0">
                <a:solidFill>
                  <a:srgbClr val="C5DAEF"/>
                </a:solidFill>
                <a:latin typeface="Segoe UI"/>
              </a:rPr>
              <a:t>Bài toán D2 trong đề tài  ·  Dự báo doanh thu và giá vốn hàng bán theo ngày</a:t>
            </a:r>
          </a:p>
        </p:txBody>
      </p:sp>
      <p:sp>
        <p:nvSpPr>
          <p:cNvPr id="7" name="Rectangle 6"/>
          <p:cNvSpPr/>
          <p:nvPr/>
        </p:nvSpPr>
        <p:spPr>
          <a:xfrm>
            <a:off x="1143000" y="3913632"/>
            <a:ext cx="146304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224528"/>
            <a:ext cx="10058400" cy="914400"/>
          </a:xfrm>
          <a:prstGeom prst="rect">
            <a:avLst/>
          </a:prstGeom>
          <a:noFill/>
        </p:spPr>
        <p:txBody>
          <a:bodyPr wrap="square" lIns="0" rIns="0" tIns="0" bIns="0" anchor="t">
            <a:spAutoFit/>
          </a:bodyPr>
          <a:lstStyle/>
          <a:p>
            <a:pPr algn="l">
              <a:lnSpc>
                <a:spcPct val="130000"/>
              </a:lnSpc>
              <a:spcAft>
                <a:spcPts val="400"/>
              </a:spcAft>
            </a:pPr>
            <a:r>
              <a:rPr sz="1450" i="0" b="0">
                <a:solidFill>
                  <a:srgbClr val="9EBEDC"/>
                </a:solidFill>
                <a:latin typeface="Segoe UI"/>
              </a:rPr>
              <a:t>Dữ liệu thương mại điện tử thời trang  ·  04/07/2012 → 31/12/2022</a:t>
            </a:r>
          </a:p>
          <a:p>
            <a:pPr algn="l">
              <a:lnSpc>
                <a:spcPct val="130000"/>
              </a:lnSpc>
              <a:spcAft>
                <a:spcPts val="400"/>
              </a:spcAft>
            </a:pPr>
            <a:r>
              <a:rPr sz="1450" i="0" b="0">
                <a:solidFill>
                  <a:srgbClr val="9EBEDC"/>
                </a:solidFill>
                <a:latin typeface="Segoe UI"/>
              </a:rPr>
              <a:t>121.930 khách hàng  ·  646.945 đơn  ·  3.833 ngày</a:t>
            </a:r>
          </a:p>
        </p:txBody>
      </p:sp>
      <p:sp>
        <p:nvSpPr>
          <p:cNvPr id="9" name="TextBox 8"/>
          <p:cNvSpPr txBox="1"/>
          <p:nvPr/>
        </p:nvSpPr>
        <p:spPr>
          <a:xfrm>
            <a:off x="1143000" y="5779008"/>
            <a:ext cx="10058400" cy="365760"/>
          </a:xfrm>
          <a:prstGeom prst="rect">
            <a:avLst/>
          </a:prstGeom>
          <a:noFill/>
        </p:spPr>
        <p:txBody>
          <a:bodyPr wrap="square" lIns="0" rIns="0" tIns="0" bIns="0" anchor="t">
            <a:spAutoFit/>
          </a:bodyPr>
          <a:lstStyle/>
          <a:p>
            <a:pPr algn="l">
              <a:lnSpc>
                <a:spcPct val="122000"/>
              </a:lnSpc>
              <a:spcAft>
                <a:spcPts val="0"/>
              </a:spcAft>
            </a:pPr>
            <a:r>
              <a:rPr sz="1300" i="0" b="0">
                <a:solidFill>
                  <a:srgbClr val="7BA3CC"/>
                </a:solidFill>
                <a:latin typeface="Segoe UI"/>
              </a:rPr>
              <a:t>Trường Đại học Công nghiệp Thành phố Hồ Chí Minh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NỘI DUNG TRÌNH BÀY</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Bốn phần</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Từ bài toán → kết quả số → bộ chỉ số → tự phản biện</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2</a:t>
            </a:r>
          </a:p>
        </p:txBody>
      </p:sp>
      <p:sp>
        <p:nvSpPr>
          <p:cNvPr id="8" name="Rounded Rectangle 7"/>
          <p:cNvSpPr/>
          <p:nvPr/>
        </p:nvSpPr>
        <p:spPr>
          <a:xfrm>
            <a:off x="685800" y="2203703"/>
            <a:ext cx="10817352" cy="877824"/>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2203703"/>
            <a:ext cx="64008" cy="87782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68296"/>
            <a:ext cx="731520" cy="548640"/>
          </a:xfrm>
          <a:prstGeom prst="rect">
            <a:avLst/>
          </a:prstGeom>
          <a:noFill/>
        </p:spPr>
        <p:txBody>
          <a:bodyPr wrap="square" lIns="0" rIns="0" tIns="0" bIns="0" anchor="t">
            <a:spAutoFit/>
          </a:bodyPr>
          <a:lstStyle/>
          <a:p>
            <a:pPr algn="l">
              <a:lnSpc>
                <a:spcPct val="122000"/>
              </a:lnSpc>
              <a:spcAft>
                <a:spcPts val="0"/>
              </a:spcAft>
            </a:pPr>
            <a:r>
              <a:rPr sz="2400" i="0" b="1">
                <a:solidFill>
                  <a:srgbClr val="2B6CB0"/>
                </a:solidFill>
                <a:latin typeface="Segoe UI"/>
              </a:rPr>
              <a:t>I</a:t>
            </a:r>
          </a:p>
        </p:txBody>
      </p:sp>
      <p:sp>
        <p:nvSpPr>
          <p:cNvPr id="11" name="TextBox 10"/>
          <p:cNvSpPr txBox="1"/>
          <p:nvPr/>
        </p:nvSpPr>
        <p:spPr>
          <a:xfrm>
            <a:off x="1783080" y="2340863"/>
            <a:ext cx="7223760" cy="310896"/>
          </a:xfrm>
          <a:prstGeom prst="rect">
            <a:avLst/>
          </a:prstGeom>
          <a:noFill/>
        </p:spPr>
        <p:txBody>
          <a:bodyPr wrap="square" lIns="0" rIns="0" tIns="0" bIns="0" anchor="t">
            <a:spAutoFit/>
          </a:bodyPr>
          <a:lstStyle/>
          <a:p>
            <a:pPr algn="l">
              <a:lnSpc>
                <a:spcPct val="122000"/>
              </a:lnSpc>
              <a:spcAft>
                <a:spcPts val="0"/>
              </a:spcAft>
            </a:pPr>
            <a:r>
              <a:rPr sz="1650" i="0" b="1">
                <a:solidFill>
                  <a:srgbClr val="1A365D"/>
                </a:solidFill>
                <a:latin typeface="Segoe UI"/>
              </a:rPr>
              <a:t>Bài toán và cách phân rã</a:t>
            </a:r>
          </a:p>
        </p:txBody>
      </p:sp>
      <p:sp>
        <p:nvSpPr>
          <p:cNvPr id="12" name="TextBox 11"/>
          <p:cNvSpPr txBox="1"/>
          <p:nvPr/>
        </p:nvSpPr>
        <p:spPr>
          <a:xfrm>
            <a:off x="1783080" y="2679191"/>
            <a:ext cx="7680960" cy="347472"/>
          </a:xfrm>
          <a:prstGeom prst="rect">
            <a:avLst/>
          </a:prstGeom>
          <a:noFill/>
        </p:spPr>
        <p:txBody>
          <a:bodyPr wrap="square" lIns="0" rIns="0" tIns="0" bIns="0" anchor="t">
            <a:spAutoFit/>
          </a:bodyPr>
          <a:lstStyle/>
          <a:p>
            <a:pPr algn="l">
              <a:lnSpc>
                <a:spcPct val="122000"/>
              </a:lnSpc>
              <a:spcAft>
                <a:spcPts val="0"/>
              </a:spcAft>
            </a:pPr>
            <a:r>
              <a:rPr sz="1250" i="0" b="0">
                <a:solidFill>
                  <a:srgbClr val="5A6570"/>
                </a:solidFill>
                <a:latin typeface="Segoe UI"/>
              </a:rPr>
              <a:t>Đề tài khóa luận, vì sao cần D2, và phân rã ba tầng có số liệu.</a:t>
            </a:r>
          </a:p>
        </p:txBody>
      </p:sp>
      <p:sp>
        <p:nvSpPr>
          <p:cNvPr id="13" name="TextBox 12"/>
          <p:cNvSpPr txBox="1"/>
          <p:nvPr/>
        </p:nvSpPr>
        <p:spPr>
          <a:xfrm>
            <a:off x="9692640" y="2496311"/>
            <a:ext cx="1645920" cy="320040"/>
          </a:xfrm>
          <a:prstGeom prst="rect">
            <a:avLst/>
          </a:prstGeom>
          <a:noFill/>
        </p:spPr>
        <p:txBody>
          <a:bodyPr wrap="square" lIns="0" rIns="0" tIns="0" bIns="0" anchor="t">
            <a:spAutoFit/>
          </a:bodyPr>
          <a:lstStyle/>
          <a:p>
            <a:pPr algn="r">
              <a:lnSpc>
                <a:spcPct val="122000"/>
              </a:lnSpc>
              <a:spcAft>
                <a:spcPts val="0"/>
              </a:spcAft>
            </a:pPr>
            <a:r>
              <a:rPr sz="1200" i="0" b="1">
                <a:solidFill>
                  <a:srgbClr val="2B6CB0"/>
                </a:solidFill>
                <a:latin typeface="Segoe UI"/>
              </a:rPr>
              <a:t>Slide 3–7</a:t>
            </a:r>
          </a:p>
        </p:txBody>
      </p:sp>
      <p:sp>
        <p:nvSpPr>
          <p:cNvPr id="14" name="Rounded Rectangle 13"/>
          <p:cNvSpPr/>
          <p:nvPr/>
        </p:nvSpPr>
        <p:spPr>
          <a:xfrm>
            <a:off x="685800" y="3191256"/>
            <a:ext cx="10817352" cy="877824"/>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3191256"/>
            <a:ext cx="64008" cy="87782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355848"/>
            <a:ext cx="731520" cy="548640"/>
          </a:xfrm>
          <a:prstGeom prst="rect">
            <a:avLst/>
          </a:prstGeom>
          <a:noFill/>
        </p:spPr>
        <p:txBody>
          <a:bodyPr wrap="square" lIns="0" rIns="0" tIns="0" bIns="0" anchor="t">
            <a:spAutoFit/>
          </a:bodyPr>
          <a:lstStyle/>
          <a:p>
            <a:pPr algn="l">
              <a:lnSpc>
                <a:spcPct val="122000"/>
              </a:lnSpc>
              <a:spcAft>
                <a:spcPts val="0"/>
              </a:spcAft>
            </a:pPr>
            <a:r>
              <a:rPr sz="2400" i="0" b="1">
                <a:solidFill>
                  <a:srgbClr val="2B6CB0"/>
                </a:solidFill>
                <a:latin typeface="Segoe UI"/>
              </a:rPr>
              <a:t>II</a:t>
            </a:r>
          </a:p>
        </p:txBody>
      </p:sp>
      <p:sp>
        <p:nvSpPr>
          <p:cNvPr id="17" name="TextBox 16"/>
          <p:cNvSpPr txBox="1"/>
          <p:nvPr/>
        </p:nvSpPr>
        <p:spPr>
          <a:xfrm>
            <a:off x="1783080" y="3328415"/>
            <a:ext cx="7223760" cy="310896"/>
          </a:xfrm>
          <a:prstGeom prst="rect">
            <a:avLst/>
          </a:prstGeom>
          <a:noFill/>
        </p:spPr>
        <p:txBody>
          <a:bodyPr wrap="square" lIns="0" rIns="0" tIns="0" bIns="0" anchor="t">
            <a:spAutoFit/>
          </a:bodyPr>
          <a:lstStyle/>
          <a:p>
            <a:pPr algn="l">
              <a:lnSpc>
                <a:spcPct val="122000"/>
              </a:lnSpc>
              <a:spcAft>
                <a:spcPts val="0"/>
              </a:spcAft>
            </a:pPr>
            <a:r>
              <a:rPr sz="1650" i="0" b="1">
                <a:solidFill>
                  <a:srgbClr val="1A365D"/>
                </a:solidFill>
                <a:latin typeface="Segoe UI"/>
              </a:rPr>
              <a:t>Kết quả demo — sáu bài toán nhỏ</a:t>
            </a:r>
          </a:p>
        </p:txBody>
      </p:sp>
      <p:sp>
        <p:nvSpPr>
          <p:cNvPr id="18" name="TextBox 17"/>
          <p:cNvSpPr txBox="1"/>
          <p:nvPr/>
        </p:nvSpPr>
        <p:spPr>
          <a:xfrm>
            <a:off x="1783080" y="3666744"/>
            <a:ext cx="7680960" cy="347472"/>
          </a:xfrm>
          <a:prstGeom prst="rect">
            <a:avLst/>
          </a:prstGeom>
          <a:noFill/>
        </p:spPr>
        <p:txBody>
          <a:bodyPr wrap="square" lIns="0" rIns="0" tIns="0" bIns="0" anchor="t">
            <a:spAutoFit/>
          </a:bodyPr>
          <a:lstStyle/>
          <a:p>
            <a:pPr algn="l">
              <a:lnSpc>
                <a:spcPct val="122000"/>
              </a:lnSpc>
              <a:spcAft>
                <a:spcPts val="0"/>
              </a:spcAft>
            </a:pPr>
            <a:r>
              <a:rPr sz="1250" i="0" b="0">
                <a:solidFill>
                  <a:srgbClr val="5A6570"/>
                </a:solidFill>
                <a:latin typeface="Segoe UI"/>
              </a:rPr>
              <a:t>Số liệu chạy trực tiếp trên dữ liệu gốc: BTN1 → BTN4, chín giả thuyết.</a:t>
            </a:r>
          </a:p>
        </p:txBody>
      </p:sp>
      <p:sp>
        <p:nvSpPr>
          <p:cNvPr id="19" name="TextBox 18"/>
          <p:cNvSpPr txBox="1"/>
          <p:nvPr/>
        </p:nvSpPr>
        <p:spPr>
          <a:xfrm>
            <a:off x="9692640" y="3483863"/>
            <a:ext cx="1645920" cy="320040"/>
          </a:xfrm>
          <a:prstGeom prst="rect">
            <a:avLst/>
          </a:prstGeom>
          <a:noFill/>
        </p:spPr>
        <p:txBody>
          <a:bodyPr wrap="square" lIns="0" rIns="0" tIns="0" bIns="0" anchor="t">
            <a:spAutoFit/>
          </a:bodyPr>
          <a:lstStyle/>
          <a:p>
            <a:pPr algn="r">
              <a:lnSpc>
                <a:spcPct val="122000"/>
              </a:lnSpc>
              <a:spcAft>
                <a:spcPts val="0"/>
              </a:spcAft>
            </a:pPr>
            <a:r>
              <a:rPr sz="1200" i="0" b="1">
                <a:solidFill>
                  <a:srgbClr val="2B6CB0"/>
                </a:solidFill>
                <a:latin typeface="Segoe UI"/>
              </a:rPr>
              <a:t>Slide 8–14</a:t>
            </a:r>
          </a:p>
        </p:txBody>
      </p:sp>
      <p:sp>
        <p:nvSpPr>
          <p:cNvPr id="20" name="Rounded Rectangle 19"/>
          <p:cNvSpPr/>
          <p:nvPr/>
        </p:nvSpPr>
        <p:spPr>
          <a:xfrm>
            <a:off x="685800" y="4178808"/>
            <a:ext cx="10817352" cy="877824"/>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5800" y="4178808"/>
            <a:ext cx="64008" cy="87782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343400"/>
            <a:ext cx="731520" cy="548640"/>
          </a:xfrm>
          <a:prstGeom prst="rect">
            <a:avLst/>
          </a:prstGeom>
          <a:noFill/>
        </p:spPr>
        <p:txBody>
          <a:bodyPr wrap="square" lIns="0" rIns="0" tIns="0" bIns="0" anchor="t">
            <a:spAutoFit/>
          </a:bodyPr>
          <a:lstStyle/>
          <a:p>
            <a:pPr algn="l">
              <a:lnSpc>
                <a:spcPct val="122000"/>
              </a:lnSpc>
              <a:spcAft>
                <a:spcPts val="0"/>
              </a:spcAft>
            </a:pPr>
            <a:r>
              <a:rPr sz="2400" i="0" b="1">
                <a:solidFill>
                  <a:srgbClr val="2B6CB0"/>
                </a:solidFill>
                <a:latin typeface="Segoe UI"/>
              </a:rPr>
              <a:t>III</a:t>
            </a:r>
          </a:p>
        </p:txBody>
      </p:sp>
      <p:sp>
        <p:nvSpPr>
          <p:cNvPr id="23" name="TextBox 22"/>
          <p:cNvSpPr txBox="1"/>
          <p:nvPr/>
        </p:nvSpPr>
        <p:spPr>
          <a:xfrm>
            <a:off x="1783080" y="4315968"/>
            <a:ext cx="7223760" cy="310896"/>
          </a:xfrm>
          <a:prstGeom prst="rect">
            <a:avLst/>
          </a:prstGeom>
          <a:noFill/>
        </p:spPr>
        <p:txBody>
          <a:bodyPr wrap="square" lIns="0" rIns="0" tIns="0" bIns="0" anchor="t">
            <a:spAutoFit/>
          </a:bodyPr>
          <a:lstStyle/>
          <a:p>
            <a:pPr algn="l">
              <a:lnSpc>
                <a:spcPct val="122000"/>
              </a:lnSpc>
              <a:spcAft>
                <a:spcPts val="0"/>
              </a:spcAft>
            </a:pPr>
            <a:r>
              <a:rPr sz="1650" i="0" b="1">
                <a:solidFill>
                  <a:srgbClr val="1A365D"/>
                </a:solidFill>
                <a:latin typeface="Segoe UI"/>
              </a:rPr>
              <a:t>Bộ chỉ số — Measure → Metric → KPI</a:t>
            </a:r>
          </a:p>
        </p:txBody>
      </p:sp>
      <p:sp>
        <p:nvSpPr>
          <p:cNvPr id="24" name="TextBox 23"/>
          <p:cNvSpPr txBox="1"/>
          <p:nvPr/>
        </p:nvSpPr>
        <p:spPr>
          <a:xfrm>
            <a:off x="1783080" y="4654296"/>
            <a:ext cx="7680960" cy="347472"/>
          </a:xfrm>
          <a:prstGeom prst="rect">
            <a:avLst/>
          </a:prstGeom>
          <a:noFill/>
        </p:spPr>
        <p:txBody>
          <a:bodyPr wrap="square" lIns="0" rIns="0" tIns="0" bIns="0" anchor="t">
            <a:spAutoFit/>
          </a:bodyPr>
          <a:lstStyle/>
          <a:p>
            <a:pPr algn="l">
              <a:lnSpc>
                <a:spcPct val="122000"/>
              </a:lnSpc>
              <a:spcAft>
                <a:spcPts val="0"/>
              </a:spcAft>
            </a:pPr>
            <a:r>
              <a:rPr sz="1250" i="0" b="0">
                <a:solidFill>
                  <a:srgbClr val="5A6570"/>
                </a:solidFill>
                <a:latin typeface="Segoe UI"/>
              </a:rPr>
              <a:t>Đủ bảng M1–M13, Me1–Me13, K1–K7, ma trận truy vết và kiểm chứng.</a:t>
            </a:r>
          </a:p>
        </p:txBody>
      </p:sp>
      <p:sp>
        <p:nvSpPr>
          <p:cNvPr id="25" name="TextBox 24"/>
          <p:cNvSpPr txBox="1"/>
          <p:nvPr/>
        </p:nvSpPr>
        <p:spPr>
          <a:xfrm>
            <a:off x="9692640" y="4471416"/>
            <a:ext cx="1645920" cy="320040"/>
          </a:xfrm>
          <a:prstGeom prst="rect">
            <a:avLst/>
          </a:prstGeom>
          <a:noFill/>
        </p:spPr>
        <p:txBody>
          <a:bodyPr wrap="square" lIns="0" rIns="0" tIns="0" bIns="0" anchor="t">
            <a:spAutoFit/>
          </a:bodyPr>
          <a:lstStyle/>
          <a:p>
            <a:pPr algn="r">
              <a:lnSpc>
                <a:spcPct val="122000"/>
              </a:lnSpc>
              <a:spcAft>
                <a:spcPts val="0"/>
              </a:spcAft>
            </a:pPr>
            <a:r>
              <a:rPr sz="1200" i="0" b="1">
                <a:solidFill>
                  <a:srgbClr val="2B6CB0"/>
                </a:solidFill>
                <a:latin typeface="Segoe UI"/>
              </a:rPr>
              <a:t>Slide 15–20</a:t>
            </a:r>
          </a:p>
        </p:txBody>
      </p:sp>
      <p:sp>
        <p:nvSpPr>
          <p:cNvPr id="26" name="Rounded Rectangle 25"/>
          <p:cNvSpPr/>
          <p:nvPr/>
        </p:nvSpPr>
        <p:spPr>
          <a:xfrm>
            <a:off x="685800" y="5166360"/>
            <a:ext cx="10817352" cy="877824"/>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85800" y="5166360"/>
            <a:ext cx="64008" cy="87782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0120" y="5330952"/>
            <a:ext cx="731520" cy="548640"/>
          </a:xfrm>
          <a:prstGeom prst="rect">
            <a:avLst/>
          </a:prstGeom>
          <a:noFill/>
        </p:spPr>
        <p:txBody>
          <a:bodyPr wrap="square" lIns="0" rIns="0" tIns="0" bIns="0" anchor="t">
            <a:spAutoFit/>
          </a:bodyPr>
          <a:lstStyle/>
          <a:p>
            <a:pPr algn="l">
              <a:lnSpc>
                <a:spcPct val="122000"/>
              </a:lnSpc>
              <a:spcAft>
                <a:spcPts val="0"/>
              </a:spcAft>
            </a:pPr>
            <a:r>
              <a:rPr sz="2400" i="0" b="1">
                <a:solidFill>
                  <a:srgbClr val="2B6CB0"/>
                </a:solidFill>
                <a:latin typeface="Segoe UI"/>
              </a:rPr>
              <a:t>IV</a:t>
            </a:r>
          </a:p>
        </p:txBody>
      </p:sp>
      <p:sp>
        <p:nvSpPr>
          <p:cNvPr id="29" name="TextBox 28"/>
          <p:cNvSpPr txBox="1"/>
          <p:nvPr/>
        </p:nvSpPr>
        <p:spPr>
          <a:xfrm>
            <a:off x="1783080" y="5303520"/>
            <a:ext cx="7223760" cy="310896"/>
          </a:xfrm>
          <a:prstGeom prst="rect">
            <a:avLst/>
          </a:prstGeom>
          <a:noFill/>
        </p:spPr>
        <p:txBody>
          <a:bodyPr wrap="square" lIns="0" rIns="0" tIns="0" bIns="0" anchor="t">
            <a:spAutoFit/>
          </a:bodyPr>
          <a:lstStyle/>
          <a:p>
            <a:pPr algn="l">
              <a:lnSpc>
                <a:spcPct val="122000"/>
              </a:lnSpc>
              <a:spcAft>
                <a:spcPts val="0"/>
              </a:spcAft>
            </a:pPr>
            <a:r>
              <a:rPr sz="1650" i="0" b="1">
                <a:solidFill>
                  <a:srgbClr val="1A365D"/>
                </a:solidFill>
                <a:latin typeface="Segoe UI"/>
              </a:rPr>
              <a:t>Tự phản biện 31 mục</a:t>
            </a:r>
          </a:p>
        </p:txBody>
      </p:sp>
      <p:sp>
        <p:nvSpPr>
          <p:cNvPr id="30" name="TextBox 29"/>
          <p:cNvSpPr txBox="1"/>
          <p:nvPr/>
        </p:nvSpPr>
        <p:spPr>
          <a:xfrm>
            <a:off x="1783080" y="5641848"/>
            <a:ext cx="7680960" cy="347472"/>
          </a:xfrm>
          <a:prstGeom prst="rect">
            <a:avLst/>
          </a:prstGeom>
          <a:noFill/>
        </p:spPr>
        <p:txBody>
          <a:bodyPr wrap="square" lIns="0" rIns="0" tIns="0" bIns="0" anchor="t">
            <a:spAutoFit/>
          </a:bodyPr>
          <a:lstStyle/>
          <a:p>
            <a:pPr algn="l">
              <a:lnSpc>
                <a:spcPct val="122000"/>
              </a:lnSpc>
              <a:spcAft>
                <a:spcPts val="0"/>
              </a:spcAft>
            </a:pPr>
            <a:r>
              <a:rPr sz="1250" i="0" b="0">
                <a:solidFill>
                  <a:srgbClr val="5A6570"/>
                </a:solidFill>
                <a:latin typeface="Segoe UI"/>
              </a:rPr>
              <a:t>Tám lỗi tìm được trong chính tài liệu của mình, và cách sửa.</a:t>
            </a:r>
          </a:p>
        </p:txBody>
      </p:sp>
      <p:sp>
        <p:nvSpPr>
          <p:cNvPr id="31" name="TextBox 30"/>
          <p:cNvSpPr txBox="1"/>
          <p:nvPr/>
        </p:nvSpPr>
        <p:spPr>
          <a:xfrm>
            <a:off x="9692640" y="5458968"/>
            <a:ext cx="1645920" cy="320040"/>
          </a:xfrm>
          <a:prstGeom prst="rect">
            <a:avLst/>
          </a:prstGeom>
          <a:noFill/>
        </p:spPr>
        <p:txBody>
          <a:bodyPr wrap="square" lIns="0" rIns="0" tIns="0" bIns="0" anchor="t">
            <a:spAutoFit/>
          </a:bodyPr>
          <a:lstStyle/>
          <a:p>
            <a:pPr algn="r">
              <a:lnSpc>
                <a:spcPct val="122000"/>
              </a:lnSpc>
              <a:spcAft>
                <a:spcPts val="0"/>
              </a:spcAft>
            </a:pPr>
            <a:r>
              <a:rPr sz="1200" i="0" b="1">
                <a:solidFill>
                  <a:srgbClr val="2B6CB0"/>
                </a:solidFill>
                <a:latin typeface="Segoe UI"/>
              </a:rPr>
              <a:t>Slide 21–29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 · ĐẶT VẤN ĐỀ</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Bài toán lớn của khóa luận</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Dự báo doanh thu và giá vốn hàng bán (COGS) theo ngày</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3</a:t>
            </a:r>
          </a:p>
        </p:txBody>
      </p:sp>
      <p:sp>
        <p:nvSpPr>
          <p:cNvPr id="8" name="Rounded Rectangle 7"/>
          <p:cNvSpPr/>
          <p:nvPr/>
        </p:nvSpPr>
        <p:spPr>
          <a:xfrm>
            <a:off x="685800" y="2176272"/>
            <a:ext cx="3471672" cy="1225296"/>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2B6CB0"/>
                </a:solidFill>
                <a:latin typeface="Segoe UI"/>
              </a:rPr>
              <a:t>3.833</a:t>
            </a:r>
          </a:p>
        </p:txBody>
      </p:sp>
      <p:sp>
        <p:nvSpPr>
          <p:cNvPr id="10" name="TextBox 9"/>
          <p:cNvSpPr txBox="1"/>
          <p:nvPr/>
        </p:nvSpPr>
        <p:spPr>
          <a:xfrm>
            <a:off x="850392" y="2926079"/>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NGÀY trong chuỗi mục tiêu
04/07/2012 → 31/12/2022</a:t>
            </a:r>
          </a:p>
        </p:txBody>
      </p:sp>
      <p:sp>
        <p:nvSpPr>
          <p:cNvPr id="11" name="Rounded Rectangle 10"/>
          <p:cNvSpPr/>
          <p:nvPr/>
        </p:nvSpPr>
        <p:spPr>
          <a:xfrm>
            <a:off x="4358640" y="2176272"/>
            <a:ext cx="3471672" cy="1225296"/>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323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2B6CB0"/>
                </a:solidFill>
                <a:latin typeface="Segoe UI"/>
              </a:rPr>
              <a:t>646.945</a:t>
            </a:r>
          </a:p>
        </p:txBody>
      </p:sp>
      <p:sp>
        <p:nvSpPr>
          <p:cNvPr id="13" name="TextBox 12"/>
          <p:cNvSpPr txBox="1"/>
          <p:nvPr/>
        </p:nvSpPr>
        <p:spPr>
          <a:xfrm>
            <a:off x="4523232" y="2926079"/>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ĐƠN HÀNG
trên 7 bảng dữ liệu</a:t>
            </a:r>
          </a:p>
        </p:txBody>
      </p:sp>
      <p:sp>
        <p:nvSpPr>
          <p:cNvPr id="14" name="Rounded Rectangle 13"/>
          <p:cNvSpPr/>
          <p:nvPr/>
        </p:nvSpPr>
        <p:spPr>
          <a:xfrm>
            <a:off x="8031480" y="2176272"/>
            <a:ext cx="3471672" cy="1225296"/>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9607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2B6CB0"/>
                </a:solidFill>
                <a:latin typeface="Segoe UI"/>
              </a:rPr>
              <a:t>121.930</a:t>
            </a:r>
          </a:p>
        </p:txBody>
      </p:sp>
      <p:sp>
        <p:nvSpPr>
          <p:cNvPr id="16" name="TextBox 15"/>
          <p:cNvSpPr txBox="1"/>
          <p:nvPr/>
        </p:nvSpPr>
        <p:spPr>
          <a:xfrm>
            <a:off x="8196072" y="2926079"/>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KHÁCH HÀNG
danh sách đóng</a:t>
            </a:r>
          </a:p>
        </p:txBody>
      </p:sp>
      <p:sp>
        <p:nvSpPr>
          <p:cNvPr id="17" name="TextBox 16"/>
          <p:cNvSpPr txBox="1"/>
          <p:nvPr/>
        </p:nvSpPr>
        <p:spPr>
          <a:xfrm>
            <a:off x="685800" y="3511296"/>
            <a:ext cx="10817352" cy="1097280"/>
          </a:xfrm>
          <a:prstGeom prst="rect">
            <a:avLst/>
          </a:prstGeom>
          <a:noFill/>
        </p:spPr>
        <p:txBody>
          <a:bodyPr wrap="square" lIns="0" rIns="0" tIns="0" bIns="0" anchor="t">
            <a:spAutoFit/>
          </a:bodyPr>
          <a:lstStyle/>
          <a:p>
            <a:pPr algn="l">
              <a:lnSpc>
                <a:spcPct val="122000"/>
              </a:lnSpc>
              <a:spcAft>
                <a:spcPts val="700"/>
              </a:spcAft>
            </a:pPr>
            <a:r>
              <a:rPr sz="1400" i="0" b="0">
                <a:solidFill>
                  <a:srgbClr val="1A202C"/>
                </a:solidFill>
                <a:latin typeface="Segoe UI"/>
              </a:rPr>
              <a:t>Đây </a:t>
            </a:r>
            <a:r>
              <a:rPr sz="1400" i="0" b="1">
                <a:solidFill>
                  <a:srgbClr val="1A365D"/>
                </a:solidFill>
                <a:latin typeface="Segoe UI"/>
              </a:rPr>
              <a:t>không</a:t>
            </a:r>
            <a:r>
              <a:rPr sz="1400" i="0" b="0">
                <a:solidFill>
                  <a:srgbClr val="1A202C"/>
                </a:solidFill>
                <a:latin typeface="Segoe UI"/>
              </a:rPr>
              <a:t> thuần túy là bài toán chuỗi thời gian. Chuỗi doanh thu ngày có </a:t>
            </a:r>
            <a:r>
              <a:rPr sz="1400" i="0" b="1">
                <a:solidFill>
                  <a:srgbClr val="1A365D"/>
                </a:solidFill>
                <a:latin typeface="Segoe UI"/>
              </a:rPr>
              <a:t>ba chế độ</a:t>
            </a:r>
            <a:r>
              <a:rPr sz="1400" i="0" b="0">
                <a:solidFill>
                  <a:srgbClr val="1A202C"/>
                </a:solidFill>
                <a:latin typeface="Segoe UI"/>
              </a:rPr>
              <a:t> và </a:t>
            </a:r>
            <a:r>
              <a:rPr sz="1400" i="0" b="1">
                <a:solidFill>
                  <a:srgbClr val="1A365D"/>
                </a:solidFill>
                <a:latin typeface="Segoe UI"/>
              </a:rPr>
              <a:t>một điểm gãy năm 2019</a:t>
            </a:r>
            <a:r>
              <a:rPr sz="1400" i="0" b="0">
                <a:solidFill>
                  <a:srgbClr val="1A202C"/>
                </a:solidFill>
                <a:latin typeface="Segoe UI"/>
              </a:rPr>
              <a:t> — ngoại suy xu hướng đơn thuần sẽ dự đoán 2023–2024 tiếp tục rơi.</a:t>
            </a:r>
          </a:p>
          <a:p>
            <a:pPr algn="l">
              <a:lnSpc>
                <a:spcPct val="122000"/>
              </a:lnSpc>
              <a:spcAft>
                <a:spcPts val="700"/>
              </a:spcAft>
            </a:pPr>
            <a:r>
              <a:rPr sz="1400" i="0" b="0">
                <a:solidFill>
                  <a:srgbClr val="1A202C"/>
                </a:solidFill>
                <a:latin typeface="Segoe UI"/>
              </a:rPr>
              <a:t>Muốn biết mô hình nên tin vào chế độ nào, phải hiểu </a:t>
            </a:r>
            <a:r>
              <a:rPr sz="1400" i="0" b="1">
                <a:solidFill>
                  <a:srgbClr val="1A365D"/>
                </a:solidFill>
                <a:latin typeface="Segoe UI"/>
              </a:rPr>
              <a:t>cơ chế sinh ra chuỗi</a:t>
            </a:r>
            <a:r>
              <a:rPr sz="1400" i="0" b="0">
                <a:solidFill>
                  <a:srgbClr val="1A202C"/>
                </a:solidFill>
                <a:latin typeface="Segoe UI"/>
              </a:rPr>
              <a:t>. Cơ chế đó nằm ở nền khách hàng — và đó chính là </a:t>
            </a:r>
            <a:r>
              <a:rPr sz="1400" i="0" b="1">
                <a:solidFill>
                  <a:srgbClr val="1A365D"/>
                </a:solidFill>
                <a:latin typeface="Segoe UI"/>
              </a:rPr>
              <a:t>bài toán D2</a:t>
            </a:r>
            <a:r>
              <a:rPr sz="1400" i="0" b="0">
                <a:solidFill>
                  <a:srgbClr val="1A202C"/>
                </a:solidFill>
                <a:latin typeface="Segoe UI"/>
              </a:rPr>
              <a:t>.</a:t>
            </a:r>
          </a:p>
        </p:txBody>
      </p:sp>
      <p:sp>
        <p:nvSpPr>
          <p:cNvPr id="18" name="Rounded Rectangle 17"/>
          <p:cNvSpPr/>
          <p:nvPr/>
        </p:nvSpPr>
        <p:spPr>
          <a:xfrm>
            <a:off x="685800" y="4754879"/>
            <a:ext cx="2487168" cy="100584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392" y="4919471"/>
            <a:ext cx="2157984" cy="274320"/>
          </a:xfrm>
          <a:prstGeom prst="rect">
            <a:avLst/>
          </a:prstGeom>
          <a:noFill/>
        </p:spPr>
        <p:txBody>
          <a:bodyPr wrap="square" lIns="0" rIns="0" tIns="0" bIns="0" anchor="t">
            <a:spAutoFit/>
          </a:bodyPr>
          <a:lstStyle/>
          <a:p>
            <a:pPr algn="ctr">
              <a:lnSpc>
                <a:spcPct val="122000"/>
              </a:lnSpc>
              <a:spcAft>
                <a:spcPts val="0"/>
              </a:spcAft>
            </a:pPr>
            <a:r>
              <a:rPr sz="1350" i="0" b="1">
                <a:solidFill>
                  <a:srgbClr val="5A6570"/>
                </a:solidFill>
                <a:latin typeface="Segoe UI"/>
              </a:rPr>
              <a:t>Bronze</a:t>
            </a:r>
          </a:p>
        </p:txBody>
      </p:sp>
      <p:sp>
        <p:nvSpPr>
          <p:cNvPr id="20" name="TextBox 19"/>
          <p:cNvSpPr txBox="1"/>
          <p:nvPr/>
        </p:nvSpPr>
        <p:spPr>
          <a:xfrm>
            <a:off x="813816" y="5248655"/>
            <a:ext cx="2231136" cy="457200"/>
          </a:xfrm>
          <a:prstGeom prst="rect">
            <a:avLst/>
          </a:prstGeom>
          <a:noFill/>
        </p:spPr>
        <p:txBody>
          <a:bodyPr wrap="square" lIns="0" rIns="0" tIns="0" bIns="0" anchor="t">
            <a:spAutoFit/>
          </a:bodyPr>
          <a:lstStyle/>
          <a:p>
            <a:pPr algn="ctr">
              <a:lnSpc>
                <a:spcPct val="115000"/>
              </a:lnSpc>
              <a:spcAft>
                <a:spcPts val="0"/>
              </a:spcAft>
            </a:pPr>
            <a:r>
              <a:rPr sz="1050" i="0" b="0">
                <a:solidFill>
                  <a:srgbClr val="5A6570"/>
                </a:solidFill>
                <a:latin typeface="Segoe UI"/>
              </a:rPr>
              <a:t>Dữ liệu thô
7 bảng · 646.945 đơn</a:t>
            </a:r>
          </a:p>
        </p:txBody>
      </p:sp>
      <p:sp>
        <p:nvSpPr>
          <p:cNvPr id="21" name="TextBox 20"/>
          <p:cNvSpPr txBox="1"/>
          <p:nvPr/>
        </p:nvSpPr>
        <p:spPr>
          <a:xfrm>
            <a:off x="3191256" y="5102351"/>
            <a:ext cx="246888" cy="274320"/>
          </a:xfrm>
          <a:prstGeom prst="rect">
            <a:avLst/>
          </a:prstGeom>
          <a:noFill/>
        </p:spPr>
        <p:txBody>
          <a:bodyPr wrap="square" lIns="0" rIns="0" tIns="0" bIns="0" anchor="t">
            <a:spAutoFit/>
          </a:bodyPr>
          <a:lstStyle/>
          <a:p>
            <a:pPr algn="ctr">
              <a:lnSpc>
                <a:spcPct val="122000"/>
              </a:lnSpc>
              <a:spcAft>
                <a:spcPts val="0"/>
              </a:spcAft>
            </a:pPr>
            <a:r>
              <a:rPr sz="1700" i="0" b="0">
                <a:solidFill>
                  <a:srgbClr val="5A6570"/>
                </a:solidFill>
                <a:latin typeface="Segoe UI"/>
              </a:rPr>
              <a:t>→</a:t>
            </a:r>
          </a:p>
        </p:txBody>
      </p:sp>
      <p:sp>
        <p:nvSpPr>
          <p:cNvPr id="22" name="Rounded Rectangle 21"/>
          <p:cNvSpPr/>
          <p:nvPr/>
        </p:nvSpPr>
        <p:spPr>
          <a:xfrm>
            <a:off x="3456432" y="4754879"/>
            <a:ext cx="2487168" cy="100584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21024" y="4919471"/>
            <a:ext cx="2157984" cy="274320"/>
          </a:xfrm>
          <a:prstGeom prst="rect">
            <a:avLst/>
          </a:prstGeom>
          <a:noFill/>
        </p:spPr>
        <p:txBody>
          <a:bodyPr wrap="square" lIns="0" rIns="0" tIns="0" bIns="0" anchor="t">
            <a:spAutoFit/>
          </a:bodyPr>
          <a:lstStyle/>
          <a:p>
            <a:pPr algn="ctr">
              <a:lnSpc>
                <a:spcPct val="122000"/>
              </a:lnSpc>
              <a:spcAft>
                <a:spcPts val="0"/>
              </a:spcAft>
            </a:pPr>
            <a:r>
              <a:rPr sz="1350" i="0" b="1">
                <a:solidFill>
                  <a:srgbClr val="5A6570"/>
                </a:solidFill>
                <a:latin typeface="Segoe UI"/>
              </a:rPr>
              <a:t>Silver</a:t>
            </a:r>
          </a:p>
        </p:txBody>
      </p:sp>
      <p:sp>
        <p:nvSpPr>
          <p:cNvPr id="24" name="TextBox 23"/>
          <p:cNvSpPr txBox="1"/>
          <p:nvPr/>
        </p:nvSpPr>
        <p:spPr>
          <a:xfrm>
            <a:off x="3584448" y="5248655"/>
            <a:ext cx="2231136" cy="457200"/>
          </a:xfrm>
          <a:prstGeom prst="rect">
            <a:avLst/>
          </a:prstGeom>
          <a:noFill/>
        </p:spPr>
        <p:txBody>
          <a:bodyPr wrap="square" lIns="0" rIns="0" tIns="0" bIns="0" anchor="t">
            <a:spAutoFit/>
          </a:bodyPr>
          <a:lstStyle/>
          <a:p>
            <a:pPr algn="ctr">
              <a:lnSpc>
                <a:spcPct val="115000"/>
              </a:lnSpc>
              <a:spcAft>
                <a:spcPts val="0"/>
              </a:spcAft>
            </a:pPr>
            <a:r>
              <a:rPr sz="1050" i="0" b="0">
                <a:solidFill>
                  <a:srgbClr val="5A6570"/>
                </a:solidFill>
                <a:latin typeface="Segoe UI"/>
              </a:rPr>
              <a:t>Làm sạch, chuẩn hóa
84 cột</a:t>
            </a:r>
          </a:p>
        </p:txBody>
      </p:sp>
      <p:sp>
        <p:nvSpPr>
          <p:cNvPr id="25" name="TextBox 24"/>
          <p:cNvSpPr txBox="1"/>
          <p:nvPr/>
        </p:nvSpPr>
        <p:spPr>
          <a:xfrm>
            <a:off x="5961888" y="5102351"/>
            <a:ext cx="246888" cy="274320"/>
          </a:xfrm>
          <a:prstGeom prst="rect">
            <a:avLst/>
          </a:prstGeom>
          <a:noFill/>
        </p:spPr>
        <p:txBody>
          <a:bodyPr wrap="square" lIns="0" rIns="0" tIns="0" bIns="0" anchor="t">
            <a:spAutoFit/>
          </a:bodyPr>
          <a:lstStyle/>
          <a:p>
            <a:pPr algn="ctr">
              <a:lnSpc>
                <a:spcPct val="122000"/>
              </a:lnSpc>
              <a:spcAft>
                <a:spcPts val="0"/>
              </a:spcAft>
            </a:pPr>
            <a:r>
              <a:rPr sz="1700" i="0" b="0">
                <a:solidFill>
                  <a:srgbClr val="5A6570"/>
                </a:solidFill>
                <a:latin typeface="Segoe UI"/>
              </a:rPr>
              <a:t>→</a:t>
            </a:r>
          </a:p>
        </p:txBody>
      </p:sp>
      <p:sp>
        <p:nvSpPr>
          <p:cNvPr id="26" name="Rounded Rectangle 25"/>
          <p:cNvSpPr/>
          <p:nvPr/>
        </p:nvSpPr>
        <p:spPr>
          <a:xfrm>
            <a:off x="6227064" y="4754879"/>
            <a:ext cx="2487168" cy="1005840"/>
          </a:xfrm>
          <a:prstGeom prst="roundRect">
            <a:avLst>
              <a:gd name="adj" fmla="val 8000"/>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27064" y="4754879"/>
            <a:ext cx="2487168" cy="5486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91656" y="4919471"/>
            <a:ext cx="2157984" cy="274320"/>
          </a:xfrm>
          <a:prstGeom prst="rect">
            <a:avLst/>
          </a:prstGeom>
          <a:noFill/>
        </p:spPr>
        <p:txBody>
          <a:bodyPr wrap="square" lIns="0" rIns="0" tIns="0" bIns="0" anchor="t">
            <a:spAutoFit/>
          </a:bodyPr>
          <a:lstStyle/>
          <a:p>
            <a:pPr algn="ctr">
              <a:lnSpc>
                <a:spcPct val="122000"/>
              </a:lnSpc>
              <a:spcAft>
                <a:spcPts val="0"/>
              </a:spcAft>
            </a:pPr>
            <a:r>
              <a:rPr sz="1350" i="0" b="1">
                <a:solidFill>
                  <a:srgbClr val="2B6CB0"/>
                </a:solidFill>
                <a:latin typeface="Segoe UI"/>
              </a:rPr>
              <a:t>★ D2</a:t>
            </a:r>
          </a:p>
        </p:txBody>
      </p:sp>
      <p:sp>
        <p:nvSpPr>
          <p:cNvPr id="29" name="TextBox 28"/>
          <p:cNvSpPr txBox="1"/>
          <p:nvPr/>
        </p:nvSpPr>
        <p:spPr>
          <a:xfrm>
            <a:off x="6355080" y="5248655"/>
            <a:ext cx="2231136" cy="457200"/>
          </a:xfrm>
          <a:prstGeom prst="rect">
            <a:avLst/>
          </a:prstGeom>
          <a:noFill/>
        </p:spPr>
        <p:txBody>
          <a:bodyPr wrap="square" lIns="0" rIns="0" tIns="0" bIns="0" anchor="t">
            <a:spAutoFit/>
          </a:bodyPr>
          <a:lstStyle/>
          <a:p>
            <a:pPr algn="ctr">
              <a:lnSpc>
                <a:spcPct val="115000"/>
              </a:lnSpc>
              <a:spcAft>
                <a:spcPts val="0"/>
              </a:spcAft>
            </a:pPr>
            <a:r>
              <a:rPr sz="1050" i="0" b="0">
                <a:solidFill>
                  <a:srgbClr val="5A6570"/>
                </a:solidFill>
                <a:latin typeface="Segoe UI"/>
              </a:rPr>
              <a:t>Phân tích nền khách hàng
Cơ chế xói mòn</a:t>
            </a:r>
          </a:p>
        </p:txBody>
      </p:sp>
      <p:sp>
        <p:nvSpPr>
          <p:cNvPr id="30" name="TextBox 29"/>
          <p:cNvSpPr txBox="1"/>
          <p:nvPr/>
        </p:nvSpPr>
        <p:spPr>
          <a:xfrm>
            <a:off x="8732520" y="5102351"/>
            <a:ext cx="246888" cy="274320"/>
          </a:xfrm>
          <a:prstGeom prst="rect">
            <a:avLst/>
          </a:prstGeom>
          <a:noFill/>
        </p:spPr>
        <p:txBody>
          <a:bodyPr wrap="square" lIns="0" rIns="0" tIns="0" bIns="0" anchor="t">
            <a:spAutoFit/>
          </a:bodyPr>
          <a:lstStyle/>
          <a:p>
            <a:pPr algn="ctr">
              <a:lnSpc>
                <a:spcPct val="122000"/>
              </a:lnSpc>
              <a:spcAft>
                <a:spcPts val="0"/>
              </a:spcAft>
            </a:pPr>
            <a:r>
              <a:rPr sz="1700" i="0" b="0">
                <a:solidFill>
                  <a:srgbClr val="5A6570"/>
                </a:solidFill>
                <a:latin typeface="Segoe UI"/>
              </a:rPr>
              <a:t>→</a:t>
            </a:r>
          </a:p>
        </p:txBody>
      </p:sp>
      <p:sp>
        <p:nvSpPr>
          <p:cNvPr id="31" name="Rounded Rectangle 30"/>
          <p:cNvSpPr/>
          <p:nvPr/>
        </p:nvSpPr>
        <p:spPr>
          <a:xfrm>
            <a:off x="8997696" y="4754879"/>
            <a:ext cx="2487168" cy="100584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62288" y="4919471"/>
            <a:ext cx="2157984" cy="274320"/>
          </a:xfrm>
          <a:prstGeom prst="rect">
            <a:avLst/>
          </a:prstGeom>
          <a:noFill/>
        </p:spPr>
        <p:txBody>
          <a:bodyPr wrap="square" lIns="0" rIns="0" tIns="0" bIns="0" anchor="t">
            <a:spAutoFit/>
          </a:bodyPr>
          <a:lstStyle/>
          <a:p>
            <a:pPr algn="ctr">
              <a:lnSpc>
                <a:spcPct val="122000"/>
              </a:lnSpc>
              <a:spcAft>
                <a:spcPts val="0"/>
              </a:spcAft>
            </a:pPr>
            <a:r>
              <a:rPr sz="1350" i="0" b="1">
                <a:solidFill>
                  <a:srgbClr val="5A6570"/>
                </a:solidFill>
                <a:latin typeface="Segoe UI"/>
              </a:rPr>
              <a:t>Chương mô hình</a:t>
            </a:r>
          </a:p>
        </p:txBody>
      </p:sp>
      <p:sp>
        <p:nvSpPr>
          <p:cNvPr id="33" name="TextBox 32"/>
          <p:cNvSpPr txBox="1"/>
          <p:nvPr/>
        </p:nvSpPr>
        <p:spPr>
          <a:xfrm>
            <a:off x="9125712" y="5248655"/>
            <a:ext cx="2231136" cy="457200"/>
          </a:xfrm>
          <a:prstGeom prst="rect">
            <a:avLst/>
          </a:prstGeom>
          <a:noFill/>
        </p:spPr>
        <p:txBody>
          <a:bodyPr wrap="square" lIns="0" rIns="0" tIns="0" bIns="0" anchor="t">
            <a:spAutoFit/>
          </a:bodyPr>
          <a:lstStyle/>
          <a:p>
            <a:pPr algn="ctr">
              <a:lnSpc>
                <a:spcPct val="115000"/>
              </a:lnSpc>
              <a:spcAft>
                <a:spcPts val="0"/>
              </a:spcAft>
            </a:pPr>
            <a:r>
              <a:rPr sz="1050" i="0" b="0">
                <a:solidFill>
                  <a:srgbClr val="5A6570"/>
                </a:solidFill>
                <a:latin typeface="Segoe UI"/>
              </a:rPr>
              <a:t>Dự báo Revenue / COGS
theo ngày</a:t>
            </a:r>
          </a:p>
        </p:txBody>
      </p:sp>
      <p:sp>
        <p:nvSpPr>
          <p:cNvPr id="34" name="TextBox 33"/>
          <p:cNvSpPr txBox="1"/>
          <p:nvPr/>
        </p:nvSpPr>
        <p:spPr>
          <a:xfrm>
            <a:off x="685800" y="5852160"/>
            <a:ext cx="10817352" cy="274320"/>
          </a:xfrm>
          <a:prstGeom prst="rect">
            <a:avLst/>
          </a:prstGeom>
          <a:noFill/>
        </p:spPr>
        <p:txBody>
          <a:bodyPr wrap="square" lIns="0" rIns="0" tIns="0" bIns="0" anchor="t">
            <a:spAutoFit/>
          </a:bodyPr>
          <a:lstStyle/>
          <a:p>
            <a:pPr algn="ctr">
              <a:lnSpc>
                <a:spcPct val="122000"/>
              </a:lnSpc>
              <a:spcAft>
                <a:spcPts val="0"/>
              </a:spcAft>
            </a:pPr>
            <a:r>
              <a:rPr sz="1300" i="0" b="0">
                <a:solidFill>
                  <a:srgbClr val="5A6570"/>
                </a:solidFill>
                <a:latin typeface="Segoe UI"/>
              </a:rPr>
              <a:t>D2 đứng </a:t>
            </a:r>
            <a:r>
              <a:rPr sz="1300" i="0" b="1">
                <a:solidFill>
                  <a:srgbClr val="1A365D"/>
                </a:solidFill>
                <a:latin typeface="Segoe UI"/>
              </a:rPr>
              <a:t>giữa</a:t>
            </a:r>
            <a:r>
              <a:rPr sz="1300" i="0" b="0">
                <a:solidFill>
                  <a:srgbClr val="5A6570"/>
                </a:solidFill>
                <a:latin typeface="Segoe UI"/>
              </a:rPr>
              <a:t> dữ liệu và mô hình: nó không dự báo, nó </a:t>
            </a:r>
            <a:r>
              <a:rPr sz="1300" i="0" b="1">
                <a:solidFill>
                  <a:srgbClr val="1A365D"/>
                </a:solidFill>
                <a:latin typeface="Segoe UI"/>
              </a:rPr>
              <a:t>ràng buộc</a:t>
            </a:r>
            <a:r>
              <a:rPr sz="1300" i="0" b="0">
                <a:solidFill>
                  <a:srgbClr val="5A6570"/>
                </a:solidFill>
                <a:latin typeface="Segoe UI"/>
              </a:rPr>
              <a:t> mô hình dự báo.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 · BÀI TOÁN D2</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Doanh thu giảm — nhưng giảm ở đâu?</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Đỉnh 2016 → 2022, bộ lọc ALL, tất cả cùng một mốc</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4</a:t>
            </a:r>
          </a:p>
        </p:txBody>
      </p:sp>
      <p:sp>
        <p:nvSpPr>
          <p:cNvPr id="8" name="Rounded Rectangle 7"/>
          <p:cNvSpPr/>
          <p:nvPr/>
        </p:nvSpPr>
        <p:spPr>
          <a:xfrm>
            <a:off x="685800" y="2176272"/>
            <a:ext cx="3471672" cy="1207008"/>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C53030"/>
                </a:solidFill>
                <a:latin typeface="Segoe UI"/>
              </a:rPr>
              <a:t>−44,4%</a:t>
            </a:r>
          </a:p>
        </p:txBody>
      </p:sp>
      <p:sp>
        <p:nvSpPr>
          <p:cNvPr id="10" name="TextBox 9"/>
          <p:cNvSpPr txBox="1"/>
          <p:nvPr/>
        </p:nvSpPr>
        <p:spPr>
          <a:xfrm>
            <a:off x="850392" y="2907792"/>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DOANH THU</a:t>
            </a:r>
          </a:p>
        </p:txBody>
      </p:sp>
      <p:sp>
        <p:nvSpPr>
          <p:cNvPr id="11" name="Rounded Rectangle 10"/>
          <p:cNvSpPr/>
          <p:nvPr/>
        </p:nvSpPr>
        <p:spPr>
          <a:xfrm>
            <a:off x="4358640" y="2176272"/>
            <a:ext cx="3471672" cy="1207008"/>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323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C53030"/>
                </a:solidFill>
                <a:latin typeface="Segoe UI"/>
              </a:rPr>
              <a:t>−56,2%</a:t>
            </a:r>
          </a:p>
        </p:txBody>
      </p:sp>
      <p:sp>
        <p:nvSpPr>
          <p:cNvPr id="13" name="TextBox 12"/>
          <p:cNvSpPr txBox="1"/>
          <p:nvPr/>
        </p:nvSpPr>
        <p:spPr>
          <a:xfrm>
            <a:off x="4523232" y="2907792"/>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SỐ ĐƠN — đây mới là chỗ mất</a:t>
            </a:r>
          </a:p>
        </p:txBody>
      </p:sp>
      <p:sp>
        <p:nvSpPr>
          <p:cNvPr id="14" name="Rounded Rectangle 13"/>
          <p:cNvSpPr/>
          <p:nvPr/>
        </p:nvSpPr>
        <p:spPr>
          <a:xfrm>
            <a:off x="8031480" y="2176272"/>
            <a:ext cx="3471672" cy="1207008"/>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9607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2F855A"/>
                </a:solidFill>
                <a:latin typeface="Segoe UI"/>
              </a:rPr>
              <a:t>+27,0%</a:t>
            </a:r>
          </a:p>
        </p:txBody>
      </p:sp>
      <p:sp>
        <p:nvSpPr>
          <p:cNvPr id="16" name="TextBox 15"/>
          <p:cNvSpPr txBox="1"/>
          <p:nvPr/>
        </p:nvSpPr>
        <p:spPr>
          <a:xfrm>
            <a:off x="8196072" y="2907792"/>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AOV — giá trị mỗi đơn LẠI TĂNG</a:t>
            </a:r>
          </a:p>
        </p:txBody>
      </p:sp>
      <p:sp>
        <p:nvSpPr>
          <p:cNvPr id="17" name="TextBox 16"/>
          <p:cNvSpPr txBox="1"/>
          <p:nvPr/>
        </p:nvSpPr>
        <p:spPr>
          <a:xfrm>
            <a:off x="685800" y="3584448"/>
            <a:ext cx="10817352" cy="914400"/>
          </a:xfrm>
          <a:prstGeom prst="rect">
            <a:avLst/>
          </a:prstGeom>
          <a:noFill/>
        </p:spPr>
        <p:txBody>
          <a:bodyPr wrap="square" lIns="0" rIns="0" tIns="0" bIns="0" anchor="t">
            <a:spAutoFit/>
          </a:bodyPr>
          <a:lstStyle/>
          <a:p>
            <a:pPr algn="l">
              <a:lnSpc>
                <a:spcPct val="122000"/>
              </a:lnSpc>
              <a:spcAft>
                <a:spcPts val="800"/>
              </a:spcAft>
            </a:pPr>
            <a:r>
              <a:rPr sz="1500" i="0" b="0">
                <a:solidFill>
                  <a:srgbClr val="1A202C"/>
                </a:solidFill>
                <a:latin typeface="Segoe UI"/>
              </a:rPr>
              <a:t>Mức giảm </a:t>
            </a:r>
            <a:r>
              <a:rPr sz="1500" i="0" b="1">
                <a:solidFill>
                  <a:srgbClr val="1A365D"/>
                </a:solidFill>
                <a:latin typeface="Segoe UI"/>
              </a:rPr>
              <a:t>không</a:t>
            </a:r>
            <a:r>
              <a:rPr sz="1500" i="0" b="0">
                <a:solidFill>
                  <a:srgbClr val="1A202C"/>
                </a:solidFill>
                <a:latin typeface="Segoe UI"/>
              </a:rPr>
              <a:t> đến từ giá trị mỗi đơn — AOV còn tăng. Nó đến từ </a:t>
            </a:r>
            <a:r>
              <a:rPr sz="1500" i="0" b="1">
                <a:solidFill>
                  <a:srgbClr val="1A365D"/>
                </a:solidFill>
                <a:latin typeface="Segoe UI"/>
              </a:rPr>
              <a:t>số đơn</a:t>
            </a:r>
            <a:r>
              <a:rPr sz="1500" i="0" b="0">
                <a:solidFill>
                  <a:srgbClr val="1A202C"/>
                </a:solidFill>
                <a:latin typeface="Segoe UI"/>
              </a:rPr>
              <a:t>.</a:t>
            </a:r>
          </a:p>
          <a:p>
            <a:pPr algn="l">
              <a:lnSpc>
                <a:spcPct val="122000"/>
              </a:lnSpc>
              <a:spcAft>
                <a:spcPts val="800"/>
              </a:spcAft>
            </a:pPr>
            <a:r>
              <a:rPr sz="1500" i="0" b="0">
                <a:solidFill>
                  <a:srgbClr val="1A202C"/>
                </a:solidFill>
                <a:latin typeface="Segoe UI"/>
              </a:rPr>
              <a:t>Nhưng số đơn là </a:t>
            </a:r>
            <a:r>
              <a:rPr sz="1500" i="0" b="1">
                <a:solidFill>
                  <a:srgbClr val="1A365D"/>
                </a:solidFill>
                <a:latin typeface="Segoe UI"/>
              </a:rPr>
              <a:t>kết quả</a:t>
            </a:r>
            <a:r>
              <a:rPr sz="1500" i="0" b="0">
                <a:solidFill>
                  <a:srgbClr val="1A202C"/>
                </a:solidFill>
                <a:latin typeface="Segoe UI"/>
              </a:rPr>
              <a:t>, không phải nguyên nhân: đơn hàng do khách hàng tạo ra. Dừng ở đây thì chỉ mô tả được triệu chứng.</a:t>
            </a:r>
          </a:p>
        </p:txBody>
      </p:sp>
      <p:sp>
        <p:nvSpPr>
          <p:cNvPr id="18" name="Rounded Rectangle 17"/>
          <p:cNvSpPr/>
          <p:nvPr/>
        </p:nvSpPr>
        <p:spPr>
          <a:xfrm>
            <a:off x="685800" y="4517136"/>
            <a:ext cx="10817352" cy="713232"/>
          </a:xfrm>
          <a:prstGeom prst="roundRect">
            <a:avLst>
              <a:gd name="adj" fmla="val 6000"/>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517136"/>
            <a:ext cx="64008" cy="713232"/>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700016"/>
            <a:ext cx="10268712" cy="347472"/>
          </a:xfrm>
          <a:prstGeom prst="rect">
            <a:avLst/>
          </a:prstGeom>
          <a:noFill/>
        </p:spPr>
        <p:txBody>
          <a:bodyPr wrap="square" lIns="0" rIns="0" tIns="0" bIns="0" anchor="ctr">
            <a:spAutoFit/>
          </a:bodyPr>
          <a:lstStyle/>
          <a:p>
            <a:pPr algn="l">
              <a:lnSpc>
                <a:spcPct val="125000"/>
              </a:lnSpc>
              <a:spcAft>
                <a:spcPts val="500"/>
              </a:spcAft>
            </a:pPr>
            <a:r>
              <a:rPr sz="1500" i="0" b="0">
                <a:solidFill>
                  <a:srgbClr val="1A202C"/>
                </a:solidFill>
                <a:latin typeface="Segoe UI"/>
              </a:rPr>
              <a:t>Câu hỏi thật: nền khách hàng xói mòn ở </a:t>
            </a:r>
            <a:r>
              <a:rPr sz="1500" i="0" b="1">
                <a:solidFill>
                  <a:srgbClr val="2B6CB0"/>
                </a:solidFill>
                <a:latin typeface="Segoe UI"/>
              </a:rPr>
              <a:t>khâu nào</a:t>
            </a:r>
            <a:r>
              <a:rPr sz="1500" i="0" b="0">
                <a:solidFill>
                  <a:srgbClr val="1A202C"/>
                </a:solidFill>
                <a:latin typeface="Segoe UI"/>
              </a:rPr>
              <a:t>, </a:t>
            </a:r>
            <a:r>
              <a:rPr sz="1500" i="0" b="1">
                <a:solidFill>
                  <a:srgbClr val="2B6CB0"/>
                </a:solidFill>
                <a:latin typeface="Segoe UI"/>
              </a:rPr>
              <a:t>cơ chế gì</a:t>
            </a:r>
            <a:r>
              <a:rPr sz="1500" i="0" b="0">
                <a:solidFill>
                  <a:srgbClr val="1A202C"/>
                </a:solidFill>
                <a:latin typeface="Segoe UI"/>
              </a:rPr>
              <a:t> gây ra, và </a:t>
            </a:r>
            <a:r>
              <a:rPr sz="1500" i="0" b="1">
                <a:solidFill>
                  <a:srgbClr val="2B6CB0"/>
                </a:solidFill>
                <a:latin typeface="Segoe UI"/>
              </a:rPr>
              <a:t>can thiệp nào</a:t>
            </a:r>
            <a:r>
              <a:rPr sz="1500" i="0" b="0">
                <a:solidFill>
                  <a:srgbClr val="1A202C"/>
                </a:solidFill>
                <a:latin typeface="Segoe UI"/>
              </a:rPr>
              <a:t> giữ lại được?</a:t>
            </a:r>
          </a:p>
        </p:txBody>
      </p:sp>
      <p:sp>
        <p:nvSpPr>
          <p:cNvPr id="21" name="Rounded Rectangle 20"/>
          <p:cNvSpPr/>
          <p:nvPr/>
        </p:nvSpPr>
        <p:spPr>
          <a:xfrm>
            <a:off x="685800" y="5321808"/>
            <a:ext cx="10817352" cy="896112"/>
          </a:xfrm>
          <a:prstGeom prst="roundRect">
            <a:avLst>
              <a:gd name="adj" fmla="val 6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 y="5321808"/>
            <a:ext cx="64008" cy="896112"/>
          </a:xfrm>
          <a:prstGeom prst="rect">
            <a:avLst/>
          </a:prstGeom>
          <a:solidFill>
            <a:srgbClr val="B7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8408" y="5504688"/>
            <a:ext cx="10268712" cy="530352"/>
          </a:xfrm>
          <a:prstGeom prst="rect">
            <a:avLst/>
          </a:prstGeom>
          <a:noFill/>
        </p:spPr>
        <p:txBody>
          <a:bodyPr wrap="square" lIns="0" rIns="0" tIns="0" bIns="0" anchor="ctr">
            <a:spAutoFit/>
          </a:bodyPr>
          <a:lstStyle/>
          <a:p>
            <a:pPr algn="l">
              <a:lnSpc>
                <a:spcPct val="125000"/>
              </a:lnSpc>
              <a:spcAft>
                <a:spcPts val="500"/>
              </a:spcAft>
            </a:pPr>
            <a:r>
              <a:rPr sz="1300" i="0" b="0">
                <a:solidFill>
                  <a:srgbClr val="1A202C"/>
                </a:solidFill>
                <a:latin typeface="Segoe UI"/>
              </a:rPr>
              <a:t>⚠  Một chỗ lệch nữa, tìm ra khi dựng slide (ngoài 31 mục đã kiểm): tài liệu ghép </a:t>
            </a:r>
            <a:r>
              <a:rPr sz="1300" i="0" b="1">
                <a:solidFill>
                  <a:srgbClr val="B75309"/>
                </a:solidFill>
                <a:latin typeface="Segoe UI"/>
              </a:rPr>
              <a:t>−44,4% (mốc 2016)</a:t>
            </a:r>
            <a:r>
              <a:rPr sz="1300" i="0" b="0">
                <a:solidFill>
                  <a:srgbClr val="1A202C"/>
                </a:solidFill>
                <a:latin typeface="Segoe UI"/>
              </a:rPr>
              <a:t> với </a:t>
            </a:r>
            <a:r>
              <a:rPr sz="1300" i="0" b="1">
                <a:solidFill>
                  <a:srgbClr val="B75309"/>
                </a:solidFill>
                <a:latin typeface="Segoe UI"/>
              </a:rPr>
              <a:t>AOV +50,7% (mốc 2013)</a:t>
            </a:r>
            <a:r>
              <a:rPr sz="1300" i="0" b="0">
                <a:solidFill>
                  <a:srgbClr val="1A202C"/>
                </a:solidFill>
                <a:latin typeface="Segoe UI"/>
              </a:rPr>
              <a:t> trong cùng một câu.</a:t>
            </a:r>
          </a:p>
          <a:p>
            <a:pPr algn="l">
              <a:lnSpc>
                <a:spcPct val="125000"/>
              </a:lnSpc>
              <a:spcAft>
                <a:spcPts val="500"/>
              </a:spcAft>
            </a:pPr>
            <a:r>
              <a:rPr sz="1300" i="0" b="0">
                <a:solidFill>
                  <a:srgbClr val="1A202C"/>
                </a:solidFill>
                <a:latin typeface="Segoe UI"/>
              </a:rPr>
              <a:t>Cùng mốc 2016 thì AOV chỉ tăng </a:t>
            </a:r>
            <a:r>
              <a:rPr sz="1300" i="0" b="1">
                <a:solidFill>
                  <a:srgbClr val="B75309"/>
                </a:solidFill>
                <a:latin typeface="Segoe UI"/>
              </a:rPr>
              <a:t>27,0%</a:t>
            </a:r>
            <a:r>
              <a:rPr sz="1300" i="0" b="0">
                <a:solidFill>
                  <a:srgbClr val="1A202C"/>
                </a:solidFill>
                <a:latin typeface="Segoe UI"/>
              </a:rPr>
              <a:t>. Phải nói rõ mốc, hoặc đưa cả ba về một mốc.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 · PHƯƠNG PHÁP</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Trục phân rã ba tầng</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Số liệu thật cho từng thành phần · bộ lọc </a:t>
            </a:r>
            <a:r>
              <a:rPr sz="1334" i="0" b="0">
                <a:solidFill>
                  <a:srgbClr val="5A6570"/>
                </a:solidFill>
                <a:latin typeface="Consolas"/>
              </a:rPr>
              <a:t>live</a:t>
            </a:r>
            <a:r>
              <a:rPr sz="1450" i="0" b="0">
                <a:solidFill>
                  <a:srgbClr val="5A6570"/>
                </a:solidFill>
                <a:latin typeface="Segoe UI"/>
              </a:rPr>
              <a:t> · mốc 2013 → 2022</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5</a:t>
            </a:r>
          </a:p>
        </p:txBody>
      </p:sp>
      <p:sp>
        <p:nvSpPr>
          <p:cNvPr id="8" name="Rounded Rectangle 7"/>
          <p:cNvSpPr/>
          <p:nvPr/>
        </p:nvSpPr>
        <p:spPr>
          <a:xfrm>
            <a:off x="685800" y="2176272"/>
            <a:ext cx="10817352" cy="914400"/>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77440"/>
            <a:ext cx="10268712" cy="512064"/>
          </a:xfrm>
          <a:prstGeom prst="rect">
            <a:avLst/>
          </a:prstGeom>
          <a:noFill/>
        </p:spPr>
        <p:txBody>
          <a:bodyPr wrap="square" lIns="0" rIns="0" tIns="0" bIns="0" anchor="t">
            <a:spAutoFit/>
          </a:bodyPr>
          <a:lstStyle/>
          <a:p>
            <a:pPr algn="l">
              <a:lnSpc>
                <a:spcPct val="116000"/>
              </a:lnSpc>
              <a:spcAft>
                <a:spcPts val="200"/>
              </a:spcAft>
            </a:pPr>
            <a:r>
              <a:rPr sz="1350" i="0" b="0">
                <a:solidFill>
                  <a:srgbClr val="1A365D"/>
                </a:solidFill>
                <a:latin typeface="Consolas"/>
              </a:rPr>
              <a:t>Doanh thu = Số đơn × AOV = (Khách hoạt động × Tần suất) × AOV</a:t>
            </a:r>
          </a:p>
          <a:p>
            <a:pPr algn="l">
              <a:lnSpc>
                <a:spcPct val="116000"/>
              </a:lnSpc>
              <a:spcAft>
                <a:spcPts val="200"/>
              </a:spcAft>
            </a:pPr>
            <a:r>
              <a:rPr sz="1350" i="0" b="0">
                <a:solidFill>
                  <a:srgbClr val="1A365D"/>
                </a:solidFill>
                <a:latin typeface="Consolas"/>
              </a:rPr>
              <a:t>          = ((Khách mới + Khách giữ lại) × Tần suất) × AOV</a:t>
            </a:r>
          </a:p>
        </p:txBody>
      </p:sp>
      <p:graphicFrame>
        <p:nvGraphicFramePr>
          <p:cNvPr id="10" name="Table 9"/>
          <p:cNvGraphicFramePr>
            <a:graphicFrameLocks noGrp="1"/>
          </p:cNvGraphicFramePr>
          <p:nvPr/>
        </p:nvGraphicFramePr>
        <p:xfrm>
          <a:off x="685800" y="3200400"/>
          <a:ext cx="10817352" cy="2153405"/>
        </p:xfrm>
        <a:graphic>
          <a:graphicData uri="http://schemas.openxmlformats.org/drawingml/2006/table">
            <a:tbl>
              <a:tblPr>
                <a:tableStyleId>{2D5ABB26-0587-4C30-8999-92F81FD0307C}</a:tableStyleId>
              </a:tblPr>
              <a:tblGrid>
                <a:gridCol w="2103120"/>
                <a:gridCol w="2926080"/>
                <a:gridCol w="2103120"/>
                <a:gridCol w="2103120"/>
                <a:gridCol w="1581912"/>
              </a:tblGrid>
              <a:tr h="329184">
                <a:tc>
                  <a:txBody>
                    <a:bodyPr wrap="square"/>
                    <a:lstStyle/>
                    <a:p>
                      <a:pPr algn="l">
                        <a:lnSpc>
                          <a:spcPct val="108000"/>
                        </a:lnSpc>
                      </a:pPr>
                      <a:r>
                        <a:rPr sz="1150" i="0" b="1">
                          <a:solidFill>
                            <a:srgbClr val="FFFFFF"/>
                          </a:solidFill>
                          <a:latin typeface="Segoe UI"/>
                        </a:rPr>
                        <a:t>Thành phần</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Đếm gì</a:t>
                      </a:r>
                    </a:p>
                  </a:txBody>
                  <a:tcPr marL="91440" marR="91440" marT="27432" marB="27432" anchor="ctr">
                    <a:solidFill>
                      <a:srgbClr val="2B6CB0"/>
                    </a:solidFill>
                  </a:tcPr>
                </a:tc>
                <a:tc>
                  <a:txBody>
                    <a:bodyPr wrap="square"/>
                    <a:lstStyle/>
                    <a:p>
                      <a:pPr algn="r">
                        <a:lnSpc>
                          <a:spcPct val="108000"/>
                        </a:lnSpc>
                      </a:pPr>
                      <a:r>
                        <a:rPr sz="1150" i="0" b="1">
                          <a:solidFill>
                            <a:srgbClr val="FFFFFF"/>
                          </a:solidFill>
                          <a:latin typeface="Segoe UI"/>
                        </a:rPr>
                        <a:t>2013</a:t>
                      </a:r>
                    </a:p>
                  </a:txBody>
                  <a:tcPr marL="91440" marR="91440" marT="27432" marB="27432" anchor="ctr">
                    <a:solidFill>
                      <a:srgbClr val="2B6CB0"/>
                    </a:solidFill>
                  </a:tcPr>
                </a:tc>
                <a:tc>
                  <a:txBody>
                    <a:bodyPr wrap="square"/>
                    <a:lstStyle/>
                    <a:p>
                      <a:pPr algn="r">
                        <a:lnSpc>
                          <a:spcPct val="108000"/>
                        </a:lnSpc>
                      </a:pPr>
                      <a:r>
                        <a:rPr sz="1150" i="0" b="1">
                          <a:solidFill>
                            <a:srgbClr val="FFFFFF"/>
                          </a:solidFill>
                          <a:latin typeface="Segoe UI"/>
                        </a:rPr>
                        <a:t>2022</a:t>
                      </a:r>
                    </a:p>
                  </a:txBody>
                  <a:tcPr marL="91440" marR="91440" marT="27432" marB="27432" anchor="ctr">
                    <a:solidFill>
                      <a:srgbClr val="2B6CB0"/>
                    </a:solidFill>
                  </a:tcPr>
                </a:tc>
                <a:tc>
                  <a:txBody>
                    <a:bodyPr wrap="square"/>
                    <a:lstStyle/>
                    <a:p>
                      <a:pPr algn="r">
                        <a:lnSpc>
                          <a:spcPct val="108000"/>
                        </a:lnSpc>
                      </a:pPr>
                      <a:r>
                        <a:rPr sz="1150" i="0" b="1">
                          <a:solidFill>
                            <a:srgbClr val="FFFFFF"/>
                          </a:solidFill>
                          <a:latin typeface="Segoe UI"/>
                        </a:rPr>
                        <a:t>Thay đổi</a:t>
                      </a:r>
                    </a:p>
                  </a:txBody>
                  <a:tcPr marL="91440" marR="91440" marT="27432" marB="27432" anchor="ctr">
                    <a:solidFill>
                      <a:srgbClr val="2B6CB0"/>
                    </a:solidFill>
                  </a:tcPr>
                </a:tc>
              </a:tr>
              <a:tr h="260603">
                <a:tc>
                  <a:txBody>
                    <a:bodyPr wrap="square"/>
                    <a:lstStyle/>
                    <a:p>
                      <a:pPr algn="l">
                        <a:lnSpc>
                          <a:spcPct val="108000"/>
                        </a:lnSpc>
                      </a:pPr>
                      <a:r>
                        <a:rPr sz="1200" i="0" b="0">
                          <a:solidFill>
                            <a:srgbClr val="1A202C"/>
                          </a:solidFill>
                          <a:latin typeface="Segoe UI"/>
                        </a:rPr>
                        <a:t>Doanh thu</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Σ(quantity × unit_price)</a:t>
                      </a:r>
                    </a:p>
                  </a:txBody>
                  <a:tcPr marL="91440" marR="91440" marT="27432" marB="27432" anchor="ctr">
                    <a:solidFill>
                      <a:srgbClr val="FFFFFF"/>
                    </a:solidFill>
                  </a:tcPr>
                </a:tc>
                <a:tc>
                  <a:txBody>
                    <a:bodyPr wrap="square"/>
                    <a:lstStyle/>
                    <a:p>
                      <a:pPr algn="r">
                        <a:lnSpc>
                          <a:spcPct val="108000"/>
                        </a:lnSpc>
                      </a:pPr>
                      <a:r>
                        <a:rPr sz="1200" i="0" b="0">
                          <a:solidFill>
                            <a:srgbClr val="1A202C"/>
                          </a:solidFill>
                          <a:latin typeface="Segoe UI"/>
                        </a:rPr>
                        <a:t>1.504.550.974</a:t>
                      </a:r>
                    </a:p>
                  </a:txBody>
                  <a:tcPr marL="91440" marR="91440" marT="27432" marB="27432" anchor="ctr">
                    <a:solidFill>
                      <a:srgbClr val="FFFFFF"/>
                    </a:solidFill>
                  </a:tcPr>
                </a:tc>
                <a:tc>
                  <a:txBody>
                    <a:bodyPr wrap="square"/>
                    <a:lstStyle/>
                    <a:p>
                      <a:pPr algn="r">
                        <a:lnSpc>
                          <a:spcPct val="108000"/>
                        </a:lnSpc>
                      </a:pPr>
                      <a:r>
                        <a:rPr sz="1200" i="0" b="0">
                          <a:solidFill>
                            <a:srgbClr val="1A202C"/>
                          </a:solidFill>
                          <a:latin typeface="Segoe UI"/>
                        </a:rPr>
                        <a:t>1.061.061.965</a:t>
                      </a:r>
                    </a:p>
                  </a:txBody>
                  <a:tcPr marL="91440" marR="91440" marT="27432" marB="27432" anchor="ctr">
                    <a:solidFill>
                      <a:srgbClr val="FFFFFF"/>
                    </a:solidFill>
                  </a:tcPr>
                </a:tc>
                <a:tc>
                  <a:txBody>
                    <a:bodyPr wrap="square"/>
                    <a:lstStyle/>
                    <a:p>
                      <a:pPr algn="r">
                        <a:lnSpc>
                          <a:spcPct val="108000"/>
                        </a:lnSpc>
                      </a:pPr>
                      <a:r>
                        <a:rPr sz="1200" i="0" b="0">
                          <a:solidFill>
                            <a:srgbClr val="C53030"/>
                          </a:solidFill>
                          <a:latin typeface="Segoe UI"/>
                        </a:rPr>
                        <a:t>−29,5%</a:t>
                      </a:r>
                    </a:p>
                  </a:txBody>
                  <a:tcPr marL="91440" marR="91440" marT="27432" marB="27432" anchor="ctr">
                    <a:solidFill>
                      <a:srgbClr val="FFFFFF"/>
                    </a:solidFill>
                  </a:tcPr>
                </a:tc>
              </a:tr>
              <a:tr h="260603">
                <a:tc>
                  <a:txBody>
                    <a:bodyPr wrap="square"/>
                    <a:lstStyle/>
                    <a:p>
                      <a:pPr algn="l">
                        <a:lnSpc>
                          <a:spcPct val="108000"/>
                        </a:lnSpc>
                      </a:pPr>
                      <a:r>
                        <a:rPr sz="1200" i="0" b="0">
                          <a:solidFill>
                            <a:srgbClr val="1A202C"/>
                          </a:solidFill>
                          <a:latin typeface="Segoe UI"/>
                        </a:rPr>
                        <a:t>Số đơn</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COUNT(order_id)</a:t>
                      </a:r>
                    </a:p>
                  </a:txBody>
                  <a:tcPr marL="91440" marR="91440" marT="27432" marB="27432" anchor="ctr">
                    <a:solidFill>
                      <a:srgbClr val="F1F5F9"/>
                    </a:solidFill>
                  </a:tcPr>
                </a:tc>
                <a:tc>
                  <a:txBody>
                    <a:bodyPr wrap="square"/>
                    <a:lstStyle/>
                    <a:p>
                      <a:pPr algn="r">
                        <a:lnSpc>
                          <a:spcPct val="108000"/>
                        </a:lnSpc>
                      </a:pPr>
                      <a:r>
                        <a:rPr sz="1200" i="0" b="0">
                          <a:solidFill>
                            <a:srgbClr val="1A202C"/>
                          </a:solidFill>
                          <a:latin typeface="Segoe UI"/>
                        </a:rPr>
                        <a:t>69.756</a:t>
                      </a:r>
                    </a:p>
                  </a:txBody>
                  <a:tcPr marL="91440" marR="91440" marT="27432" marB="27432" anchor="ctr">
                    <a:solidFill>
                      <a:srgbClr val="F1F5F9"/>
                    </a:solidFill>
                  </a:tcPr>
                </a:tc>
                <a:tc>
                  <a:txBody>
                    <a:bodyPr wrap="square"/>
                    <a:lstStyle/>
                    <a:p>
                      <a:pPr algn="r">
                        <a:lnSpc>
                          <a:spcPct val="108000"/>
                        </a:lnSpc>
                      </a:pPr>
                      <a:r>
                        <a:rPr sz="1200" i="0" b="0">
                          <a:solidFill>
                            <a:srgbClr val="1A202C"/>
                          </a:solidFill>
                          <a:latin typeface="Segoe UI"/>
                        </a:rPr>
                        <a:t>32.620</a:t>
                      </a:r>
                    </a:p>
                  </a:txBody>
                  <a:tcPr marL="91440" marR="91440" marT="27432" marB="27432" anchor="ctr">
                    <a:solidFill>
                      <a:srgbClr val="F1F5F9"/>
                    </a:solidFill>
                  </a:tcPr>
                </a:tc>
                <a:tc>
                  <a:txBody>
                    <a:bodyPr wrap="square"/>
                    <a:lstStyle/>
                    <a:p>
                      <a:pPr algn="r">
                        <a:lnSpc>
                          <a:spcPct val="108000"/>
                        </a:lnSpc>
                      </a:pPr>
                      <a:r>
                        <a:rPr sz="1200" i="0" b="0">
                          <a:solidFill>
                            <a:srgbClr val="C53030"/>
                          </a:solidFill>
                          <a:latin typeface="Segoe UI"/>
                        </a:rPr>
                        <a:t>−53,2%</a:t>
                      </a:r>
                    </a:p>
                  </a:txBody>
                  <a:tcPr marL="91440" marR="91440" marT="27432" marB="27432" anchor="ctr">
                    <a:solidFill>
                      <a:srgbClr val="F1F5F9"/>
                    </a:solidFill>
                  </a:tcPr>
                </a:tc>
              </a:tr>
              <a:tr h="260603">
                <a:tc>
                  <a:txBody>
                    <a:bodyPr wrap="square"/>
                    <a:lstStyle/>
                    <a:p>
                      <a:pPr algn="l">
                        <a:lnSpc>
                          <a:spcPct val="108000"/>
                        </a:lnSpc>
                      </a:pPr>
                      <a:r>
                        <a:rPr sz="1200" i="0" b="0">
                          <a:solidFill>
                            <a:srgbClr val="1A202C"/>
                          </a:solidFill>
                          <a:latin typeface="Segoe UI"/>
                        </a:rPr>
                        <a:t>Khách hoạt động</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COUNTD(customer_id)</a:t>
                      </a:r>
                    </a:p>
                  </a:txBody>
                  <a:tcPr marL="91440" marR="91440" marT="27432" marB="27432" anchor="ctr">
                    <a:solidFill>
                      <a:srgbClr val="FFFFFF"/>
                    </a:solidFill>
                  </a:tcPr>
                </a:tc>
                <a:tc>
                  <a:txBody>
                    <a:bodyPr wrap="square"/>
                    <a:lstStyle/>
                    <a:p>
                      <a:pPr algn="r">
                        <a:lnSpc>
                          <a:spcPct val="108000"/>
                        </a:lnSpc>
                      </a:pPr>
                      <a:r>
                        <a:rPr sz="1200" i="0" b="0">
                          <a:solidFill>
                            <a:srgbClr val="1A202C"/>
                          </a:solidFill>
                          <a:latin typeface="Segoe UI"/>
                        </a:rPr>
                        <a:t>37.352</a:t>
                      </a:r>
                    </a:p>
                  </a:txBody>
                  <a:tcPr marL="91440" marR="91440" marT="27432" marB="27432" anchor="ctr">
                    <a:solidFill>
                      <a:srgbClr val="FFFFFF"/>
                    </a:solidFill>
                  </a:tcPr>
                </a:tc>
                <a:tc>
                  <a:txBody>
                    <a:bodyPr wrap="square"/>
                    <a:lstStyle/>
                    <a:p>
                      <a:pPr algn="r">
                        <a:lnSpc>
                          <a:spcPct val="108000"/>
                        </a:lnSpc>
                      </a:pPr>
                      <a:r>
                        <a:rPr sz="1200" i="0" b="0">
                          <a:solidFill>
                            <a:srgbClr val="1A202C"/>
                          </a:solidFill>
                          <a:latin typeface="Segoe UI"/>
                        </a:rPr>
                        <a:t>22.999</a:t>
                      </a:r>
                    </a:p>
                  </a:txBody>
                  <a:tcPr marL="91440" marR="91440" marT="27432" marB="27432" anchor="ctr">
                    <a:solidFill>
                      <a:srgbClr val="FFFFFF"/>
                    </a:solidFill>
                  </a:tcPr>
                </a:tc>
                <a:tc>
                  <a:txBody>
                    <a:bodyPr wrap="square"/>
                    <a:lstStyle/>
                    <a:p>
                      <a:pPr algn="r">
                        <a:lnSpc>
                          <a:spcPct val="108000"/>
                        </a:lnSpc>
                      </a:pPr>
                      <a:r>
                        <a:rPr sz="1200" i="0" b="0">
                          <a:solidFill>
                            <a:srgbClr val="C53030"/>
                          </a:solidFill>
                          <a:latin typeface="Segoe UI"/>
                        </a:rPr>
                        <a:t>−38,4%</a:t>
                      </a:r>
                    </a:p>
                  </a:txBody>
                  <a:tcPr marL="91440" marR="91440" marT="27432" marB="27432" anchor="ctr">
                    <a:solidFill>
                      <a:srgbClr val="FFFFFF"/>
                    </a:solidFill>
                  </a:tcPr>
                </a:tc>
              </a:tr>
              <a:tr h="260603">
                <a:tc>
                  <a:txBody>
                    <a:bodyPr wrap="square"/>
                    <a:lstStyle/>
                    <a:p>
                      <a:pPr algn="l">
                        <a:lnSpc>
                          <a:spcPct val="108000"/>
                        </a:lnSpc>
                      </a:pPr>
                      <a:r>
                        <a:rPr sz="1200" i="0" b="0">
                          <a:solidFill>
                            <a:srgbClr val="1A202C"/>
                          </a:solidFill>
                          <a:latin typeface="Segoe UI"/>
                        </a:rPr>
                        <a:t>Tần suất</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đơn / khách</a:t>
                      </a:r>
                    </a:p>
                  </a:txBody>
                  <a:tcPr marL="91440" marR="91440" marT="27432" marB="27432" anchor="ctr">
                    <a:solidFill>
                      <a:srgbClr val="F1F5F9"/>
                    </a:solidFill>
                  </a:tcPr>
                </a:tc>
                <a:tc>
                  <a:txBody>
                    <a:bodyPr wrap="square"/>
                    <a:lstStyle/>
                    <a:p>
                      <a:pPr algn="r">
                        <a:lnSpc>
                          <a:spcPct val="108000"/>
                        </a:lnSpc>
                      </a:pPr>
                      <a:r>
                        <a:rPr sz="1200" i="0" b="0">
                          <a:solidFill>
                            <a:srgbClr val="1A202C"/>
                          </a:solidFill>
                          <a:latin typeface="Segoe UI"/>
                        </a:rPr>
                        <a:t>1,8675</a:t>
                      </a:r>
                    </a:p>
                  </a:txBody>
                  <a:tcPr marL="91440" marR="91440" marT="27432" marB="27432" anchor="ctr">
                    <a:solidFill>
                      <a:srgbClr val="F1F5F9"/>
                    </a:solidFill>
                  </a:tcPr>
                </a:tc>
                <a:tc>
                  <a:txBody>
                    <a:bodyPr wrap="square"/>
                    <a:lstStyle/>
                    <a:p>
                      <a:pPr algn="r">
                        <a:lnSpc>
                          <a:spcPct val="108000"/>
                        </a:lnSpc>
                      </a:pPr>
                      <a:r>
                        <a:rPr sz="1200" i="0" b="0">
                          <a:solidFill>
                            <a:srgbClr val="1A202C"/>
                          </a:solidFill>
                          <a:latin typeface="Segoe UI"/>
                        </a:rPr>
                        <a:t>1,4183</a:t>
                      </a:r>
                    </a:p>
                  </a:txBody>
                  <a:tcPr marL="91440" marR="91440" marT="27432" marB="27432" anchor="ctr">
                    <a:solidFill>
                      <a:srgbClr val="F1F5F9"/>
                    </a:solidFill>
                  </a:tcPr>
                </a:tc>
                <a:tc>
                  <a:txBody>
                    <a:bodyPr wrap="square"/>
                    <a:lstStyle/>
                    <a:p>
                      <a:pPr algn="r">
                        <a:lnSpc>
                          <a:spcPct val="108000"/>
                        </a:lnSpc>
                      </a:pPr>
                      <a:r>
                        <a:rPr sz="1200" i="0" b="0">
                          <a:solidFill>
                            <a:srgbClr val="C53030"/>
                          </a:solidFill>
                          <a:latin typeface="Segoe UI"/>
                        </a:rPr>
                        <a:t>−24,1%</a:t>
                      </a:r>
                    </a:p>
                  </a:txBody>
                  <a:tcPr marL="91440" marR="91440" marT="27432" marB="27432" anchor="ctr">
                    <a:solidFill>
                      <a:srgbClr val="F1F5F9"/>
                    </a:solidFill>
                  </a:tcPr>
                </a:tc>
              </a:tr>
              <a:tr h="260603">
                <a:tc>
                  <a:txBody>
                    <a:bodyPr wrap="square"/>
                    <a:lstStyle/>
                    <a:p>
                      <a:pPr algn="l">
                        <a:lnSpc>
                          <a:spcPct val="108000"/>
                        </a:lnSpc>
                      </a:pPr>
                      <a:r>
                        <a:rPr sz="1200" i="0" b="0">
                          <a:solidFill>
                            <a:srgbClr val="1A202C"/>
                          </a:solidFill>
                          <a:latin typeface="Segoe UI"/>
                        </a:rPr>
                        <a:t>AOV</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doanh thu / đơn</a:t>
                      </a:r>
                    </a:p>
                  </a:txBody>
                  <a:tcPr marL="91440" marR="91440" marT="27432" marB="27432" anchor="ctr">
                    <a:solidFill>
                      <a:srgbClr val="FFFFFF"/>
                    </a:solidFill>
                  </a:tcPr>
                </a:tc>
                <a:tc>
                  <a:txBody>
                    <a:bodyPr wrap="square"/>
                    <a:lstStyle/>
                    <a:p>
                      <a:pPr algn="r">
                        <a:lnSpc>
                          <a:spcPct val="108000"/>
                        </a:lnSpc>
                      </a:pPr>
                      <a:r>
                        <a:rPr sz="1200" i="0" b="0">
                          <a:solidFill>
                            <a:srgbClr val="1A202C"/>
                          </a:solidFill>
                          <a:latin typeface="Segoe UI"/>
                        </a:rPr>
                        <a:t>21.569</a:t>
                      </a:r>
                    </a:p>
                  </a:txBody>
                  <a:tcPr marL="91440" marR="91440" marT="27432" marB="27432" anchor="ctr">
                    <a:solidFill>
                      <a:srgbClr val="FFFFFF"/>
                    </a:solidFill>
                  </a:tcPr>
                </a:tc>
                <a:tc>
                  <a:txBody>
                    <a:bodyPr wrap="square"/>
                    <a:lstStyle/>
                    <a:p>
                      <a:pPr algn="r">
                        <a:lnSpc>
                          <a:spcPct val="108000"/>
                        </a:lnSpc>
                      </a:pPr>
                      <a:r>
                        <a:rPr sz="1200" i="0" b="0">
                          <a:solidFill>
                            <a:srgbClr val="1A202C"/>
                          </a:solidFill>
                          <a:latin typeface="Segoe UI"/>
                        </a:rPr>
                        <a:t>32.528</a:t>
                      </a:r>
                    </a:p>
                  </a:txBody>
                  <a:tcPr marL="91440" marR="91440" marT="27432" marB="27432" anchor="ctr">
                    <a:solidFill>
                      <a:srgbClr val="FFFFFF"/>
                    </a:solidFill>
                  </a:tcPr>
                </a:tc>
                <a:tc>
                  <a:txBody>
                    <a:bodyPr wrap="square"/>
                    <a:lstStyle/>
                    <a:p>
                      <a:pPr algn="r">
                        <a:lnSpc>
                          <a:spcPct val="108000"/>
                        </a:lnSpc>
                      </a:pPr>
                      <a:r>
                        <a:rPr sz="1200" i="0" b="0">
                          <a:solidFill>
                            <a:srgbClr val="2F855A"/>
                          </a:solidFill>
                          <a:latin typeface="Segoe UI"/>
                        </a:rPr>
                        <a:t>+50,8%</a:t>
                      </a:r>
                    </a:p>
                  </a:txBody>
                  <a:tcPr marL="91440" marR="91440" marT="27432" marB="27432" anchor="ctr">
                    <a:solidFill>
                      <a:srgbClr val="FFFFFF"/>
                    </a:solidFill>
                  </a:tcPr>
                </a:tc>
              </a:tr>
              <a:tr h="260603">
                <a:tc>
                  <a:txBody>
                    <a:bodyPr wrap="square"/>
                    <a:lstStyle/>
                    <a:p>
                      <a:pPr algn="l">
                        <a:lnSpc>
                          <a:spcPct val="108000"/>
                        </a:lnSpc>
                      </a:pPr>
                      <a:r>
                        <a:rPr sz="1200" i="0" b="0">
                          <a:solidFill>
                            <a:srgbClr val="1A202C"/>
                          </a:solidFill>
                          <a:latin typeface="Segoe UI"/>
                        </a:rPr>
                        <a:t>Khách mới</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cohort = năm đó</a:t>
                      </a:r>
                    </a:p>
                  </a:txBody>
                  <a:tcPr marL="91440" marR="91440" marT="27432" marB="27432" anchor="ctr">
                    <a:solidFill>
                      <a:srgbClr val="F1F5F9"/>
                    </a:solidFill>
                  </a:tcPr>
                </a:tc>
                <a:tc>
                  <a:txBody>
                    <a:bodyPr wrap="square"/>
                    <a:lstStyle/>
                    <a:p>
                      <a:pPr algn="r">
                        <a:lnSpc>
                          <a:spcPct val="108000"/>
                        </a:lnSpc>
                      </a:pPr>
                      <a:r>
                        <a:rPr sz="1200" i="0" b="0">
                          <a:solidFill>
                            <a:srgbClr val="1A202C"/>
                          </a:solidFill>
                          <a:latin typeface="Segoe UI"/>
                        </a:rPr>
                        <a:t>24.407</a:t>
                      </a:r>
                    </a:p>
                  </a:txBody>
                  <a:tcPr marL="91440" marR="91440" marT="27432" marB="27432" anchor="ctr">
                    <a:solidFill>
                      <a:srgbClr val="F1F5F9"/>
                    </a:solidFill>
                  </a:tcPr>
                </a:tc>
                <a:tc>
                  <a:txBody>
                    <a:bodyPr wrap="square"/>
                    <a:lstStyle/>
                    <a:p>
                      <a:pPr algn="r">
                        <a:lnSpc>
                          <a:spcPct val="108000"/>
                        </a:lnSpc>
                      </a:pPr>
                      <a:r>
                        <a:rPr sz="1200" i="0" b="0">
                          <a:solidFill>
                            <a:srgbClr val="1A202C"/>
                          </a:solidFill>
                          <a:latin typeface="Segoe UI"/>
                        </a:rPr>
                        <a:t>1.328</a:t>
                      </a:r>
                    </a:p>
                  </a:txBody>
                  <a:tcPr marL="91440" marR="91440" marT="27432" marB="27432" anchor="ctr">
                    <a:solidFill>
                      <a:srgbClr val="F1F5F9"/>
                    </a:solidFill>
                  </a:tcPr>
                </a:tc>
                <a:tc>
                  <a:txBody>
                    <a:bodyPr wrap="square"/>
                    <a:lstStyle/>
                    <a:p>
                      <a:pPr algn="r">
                        <a:lnSpc>
                          <a:spcPct val="108000"/>
                        </a:lnSpc>
                      </a:pPr>
                      <a:r>
                        <a:rPr sz="1200" i="0" b="0">
                          <a:solidFill>
                            <a:srgbClr val="C53030"/>
                          </a:solidFill>
                          <a:latin typeface="Segoe UI"/>
                        </a:rPr>
                        <a:t>−94,6%</a:t>
                      </a:r>
                    </a:p>
                  </a:txBody>
                  <a:tcPr marL="91440" marR="91440" marT="27432" marB="27432" anchor="ctr">
                    <a:solidFill>
                      <a:srgbClr val="F1F5F9"/>
                    </a:solidFill>
                  </a:tcPr>
                </a:tc>
              </a:tr>
              <a:tr h="260603">
                <a:tc>
                  <a:txBody>
                    <a:bodyPr wrap="square"/>
                    <a:lstStyle/>
                    <a:p>
                      <a:pPr algn="l">
                        <a:lnSpc>
                          <a:spcPct val="108000"/>
                        </a:lnSpc>
                      </a:pPr>
                      <a:r>
                        <a:rPr sz="1200" i="0" b="0">
                          <a:solidFill>
                            <a:srgbClr val="1A202C"/>
                          </a:solidFill>
                          <a:latin typeface="Segoe UI"/>
                        </a:rPr>
                        <a:t>Khách giữ lại</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hoạt động − mới</a:t>
                      </a:r>
                    </a:p>
                  </a:txBody>
                  <a:tcPr marL="91440" marR="91440" marT="27432" marB="27432" anchor="ctr">
                    <a:solidFill>
                      <a:srgbClr val="FFFFFF"/>
                    </a:solidFill>
                  </a:tcPr>
                </a:tc>
                <a:tc>
                  <a:txBody>
                    <a:bodyPr wrap="square"/>
                    <a:lstStyle/>
                    <a:p>
                      <a:pPr algn="r">
                        <a:lnSpc>
                          <a:spcPct val="108000"/>
                        </a:lnSpc>
                      </a:pPr>
                      <a:r>
                        <a:rPr sz="1200" i="0" b="0">
                          <a:solidFill>
                            <a:srgbClr val="1A202C"/>
                          </a:solidFill>
                          <a:latin typeface="Segoe UI"/>
                        </a:rPr>
                        <a:t>12.945</a:t>
                      </a:r>
                    </a:p>
                  </a:txBody>
                  <a:tcPr marL="91440" marR="91440" marT="27432" marB="27432" anchor="ctr">
                    <a:solidFill>
                      <a:srgbClr val="FFFFFF"/>
                    </a:solidFill>
                  </a:tcPr>
                </a:tc>
                <a:tc>
                  <a:txBody>
                    <a:bodyPr wrap="square"/>
                    <a:lstStyle/>
                    <a:p>
                      <a:pPr algn="r">
                        <a:lnSpc>
                          <a:spcPct val="108000"/>
                        </a:lnSpc>
                      </a:pPr>
                      <a:r>
                        <a:rPr sz="1200" i="0" b="0">
                          <a:solidFill>
                            <a:srgbClr val="1A202C"/>
                          </a:solidFill>
                          <a:latin typeface="Segoe UI"/>
                        </a:rPr>
                        <a:t>21.671</a:t>
                      </a:r>
                    </a:p>
                  </a:txBody>
                  <a:tcPr marL="91440" marR="91440" marT="27432" marB="27432" anchor="ctr">
                    <a:solidFill>
                      <a:srgbClr val="FFFFFF"/>
                    </a:solidFill>
                  </a:tcPr>
                </a:tc>
                <a:tc>
                  <a:txBody>
                    <a:bodyPr wrap="square"/>
                    <a:lstStyle/>
                    <a:p>
                      <a:pPr algn="r">
                        <a:lnSpc>
                          <a:spcPct val="108000"/>
                        </a:lnSpc>
                      </a:pPr>
                      <a:r>
                        <a:rPr sz="1200" i="0" b="0">
                          <a:solidFill>
                            <a:srgbClr val="2F855A"/>
                          </a:solidFill>
                          <a:latin typeface="Segoe UI"/>
                        </a:rPr>
                        <a:t>+67,4%</a:t>
                      </a:r>
                    </a:p>
                  </a:txBody>
                  <a:tcPr marL="91440" marR="91440" marT="27432" marB="27432" anchor="ctr">
                    <a:solidFill>
                      <a:srgbClr val="FFFFFF"/>
                    </a:solidFill>
                  </a:tcPr>
                </a:tc>
              </a:tr>
            </a:tbl>
          </a:graphicData>
        </a:graphic>
      </p:graphicFrame>
      <p:sp>
        <p:nvSpPr>
          <p:cNvPr id="11" name="Rounded Rectangle 10"/>
          <p:cNvSpPr/>
          <p:nvPr/>
        </p:nvSpPr>
        <p:spPr>
          <a:xfrm>
            <a:off x="685800" y="5468112"/>
            <a:ext cx="10817352" cy="786384"/>
          </a:xfrm>
          <a:prstGeom prst="roundRect">
            <a:avLst>
              <a:gd name="adj" fmla="val 6000"/>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5468112"/>
            <a:ext cx="64008" cy="7863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5650992"/>
            <a:ext cx="10268712" cy="420623"/>
          </a:xfrm>
          <a:prstGeom prst="rect">
            <a:avLst/>
          </a:prstGeom>
          <a:noFill/>
        </p:spPr>
        <p:txBody>
          <a:bodyPr wrap="square" lIns="0" rIns="0" tIns="0" bIns="0" anchor="ctr">
            <a:spAutoFit/>
          </a:bodyPr>
          <a:lstStyle/>
          <a:p>
            <a:pPr algn="l">
              <a:lnSpc>
                <a:spcPct val="125000"/>
              </a:lnSpc>
              <a:spcAft>
                <a:spcPts val="500"/>
              </a:spcAft>
            </a:pPr>
            <a:r>
              <a:rPr sz="1350" i="0" b="0">
                <a:solidFill>
                  <a:srgbClr val="1A202C"/>
                </a:solidFill>
                <a:latin typeface="Segoe UI"/>
              </a:rPr>
              <a:t>Kiểm số dòng ba, năm 2022:  </a:t>
            </a:r>
            <a:r>
              <a:rPr sz="1350" i="0" b="1">
                <a:solidFill>
                  <a:srgbClr val="2B6CB0"/>
                </a:solidFill>
                <a:latin typeface="Segoe UI"/>
              </a:rPr>
              <a:t>(1.328 + 21.671) × 1,4183 × 32.527,96 = 1.061.061.965</a:t>
            </a:r>
            <a:r>
              <a:rPr sz="1350" i="0" b="0">
                <a:solidFill>
                  <a:srgbClr val="1A202C"/>
                </a:solidFill>
                <a:latin typeface="Segoe UI"/>
              </a:rPr>
              <a:t> ✔</a:t>
            </a:r>
          </a:p>
          <a:p>
            <a:pPr algn="l">
              <a:lnSpc>
                <a:spcPct val="125000"/>
              </a:lnSpc>
              <a:spcAft>
                <a:spcPts val="500"/>
              </a:spcAft>
            </a:pPr>
            <a:r>
              <a:rPr sz="1350" i="0" b="0">
                <a:solidFill>
                  <a:srgbClr val="1A202C"/>
                </a:solidFill>
                <a:latin typeface="Segoe UI"/>
              </a:rPr>
              <a:t>Phần dư "khách giữ lại" 21.671 cũng khớp khi </a:t>
            </a:r>
            <a:r>
              <a:rPr sz="1350" i="0" b="1">
                <a:solidFill>
                  <a:srgbClr val="2B6CB0"/>
                </a:solidFill>
                <a:latin typeface="Segoe UI"/>
              </a:rPr>
              <a:t>đếm trực tiếp</a:t>
            </a:r>
            <a:r>
              <a:rPr sz="1350" i="0" b="0">
                <a:solidFill>
                  <a:srgbClr val="1A202C"/>
                </a:solidFill>
                <a:latin typeface="Segoe UI"/>
              </a:rPr>
              <a:t> bằng đường độc lập.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 · TỰ PHẢN BIỆN A9</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Đẳng thức này chứng minh được gì?</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Một câu hỏi nhỏ làm lộ ra hai chỗ hổng trong khung phân tích</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6</a:t>
            </a:r>
          </a:p>
        </p:txBody>
      </p:sp>
      <p:sp>
        <p:nvSpPr>
          <p:cNvPr id="8" name="TextBox 7"/>
          <p:cNvSpPr txBox="1"/>
          <p:nvPr/>
        </p:nvSpPr>
        <p:spPr>
          <a:xfrm>
            <a:off x="685800" y="2176272"/>
            <a:ext cx="5257800" cy="292608"/>
          </a:xfrm>
          <a:prstGeom prst="rect">
            <a:avLst/>
          </a:prstGeom>
          <a:noFill/>
        </p:spPr>
        <p:txBody>
          <a:bodyPr wrap="square" lIns="0" rIns="0" tIns="0" bIns="0" anchor="t">
            <a:spAutoFit/>
          </a:bodyPr>
          <a:lstStyle/>
          <a:p>
            <a:pPr algn="l">
              <a:lnSpc>
                <a:spcPct val="122000"/>
              </a:lnSpc>
              <a:spcAft>
                <a:spcPts val="0"/>
              </a:spcAft>
            </a:pPr>
            <a:r>
              <a:rPr sz="1200" i="0" b="1">
                <a:solidFill>
                  <a:srgbClr val="B75309"/>
                </a:solidFill>
                <a:latin typeface="Segoe UI"/>
              </a:rPr>
              <a:t>NÓ LÀ ĐỒNG NHẤT THỨC</a:t>
            </a:r>
          </a:p>
        </p:txBody>
      </p:sp>
      <p:sp>
        <p:nvSpPr>
          <p:cNvPr id="9" name="Rounded Rectangle 8"/>
          <p:cNvSpPr/>
          <p:nvPr/>
        </p:nvSpPr>
        <p:spPr>
          <a:xfrm>
            <a:off x="685800" y="2505456"/>
            <a:ext cx="5257800" cy="1938528"/>
          </a:xfrm>
          <a:prstGeom prst="roundRect">
            <a:avLst>
              <a:gd name="adj" fmla="val 5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688336"/>
            <a:ext cx="4800600" cy="1645920"/>
          </a:xfrm>
          <a:prstGeom prst="rect">
            <a:avLst/>
          </a:prstGeom>
          <a:noFill/>
        </p:spPr>
        <p:txBody>
          <a:bodyPr wrap="square" lIns="0" rIns="0" tIns="0" bIns="0" anchor="t">
            <a:spAutoFit/>
          </a:bodyPr>
          <a:lstStyle/>
          <a:p>
            <a:pPr algn="l">
              <a:lnSpc>
                <a:spcPct val="120000"/>
              </a:lnSpc>
              <a:spcAft>
                <a:spcPts val="800"/>
              </a:spcAft>
            </a:pPr>
            <a:r>
              <a:rPr sz="1300" i="0" b="0">
                <a:solidFill>
                  <a:srgbClr val="1A202C"/>
                </a:solidFill>
                <a:latin typeface="Segoe UI"/>
              </a:rPr>
              <a:t>Tần suất </a:t>
            </a:r>
            <a:r>
              <a:rPr sz="1300" i="0" b="1">
                <a:solidFill>
                  <a:srgbClr val="B75309"/>
                </a:solidFill>
                <a:latin typeface="Segoe UI"/>
              </a:rPr>
              <a:t>được định nghĩa</a:t>
            </a:r>
            <a:r>
              <a:rPr sz="1300" i="0" b="0">
                <a:solidFill>
                  <a:srgbClr val="1A202C"/>
                </a:solidFill>
                <a:latin typeface="Segoe UI"/>
              </a:rPr>
              <a:t> là đơn/khách. AOV </a:t>
            </a:r>
            <a:r>
              <a:rPr sz="1300" i="0" b="1">
                <a:solidFill>
                  <a:srgbClr val="B75309"/>
                </a:solidFill>
                <a:latin typeface="Segoe UI"/>
              </a:rPr>
              <a:t>được định nghĩa</a:t>
            </a:r>
            <a:r>
              <a:rPr sz="1300" i="0" b="0">
                <a:solidFill>
                  <a:srgbClr val="1A202C"/>
                </a:solidFill>
                <a:latin typeface="Segoe UI"/>
              </a:rPr>
              <a:t> là doanh thu/đơn.</a:t>
            </a:r>
          </a:p>
          <a:p>
            <a:pPr algn="l">
              <a:lnSpc>
                <a:spcPct val="120000"/>
              </a:lnSpc>
              <a:spcAft>
                <a:spcPts val="800"/>
              </a:spcAft>
            </a:pPr>
            <a:r>
              <a:rPr sz="1300" i="0" b="0">
                <a:solidFill>
                  <a:srgbClr val="1A202C"/>
                </a:solidFill>
                <a:latin typeface="Segoe UI"/>
              </a:rPr>
              <a:t>Thay vào thì các mẫu số triệt tiêu — đẳng thức </a:t>
            </a:r>
            <a:r>
              <a:rPr sz="1300" i="0" b="1">
                <a:solidFill>
                  <a:srgbClr val="B75309"/>
                </a:solidFill>
                <a:latin typeface="Segoe UI"/>
              </a:rPr>
              <a:t>đúng với mọi bộ dữ liệu</a:t>
            </a:r>
            <a:r>
              <a:rPr sz="1300" i="0" b="0">
                <a:solidFill>
                  <a:srgbClr val="1A202C"/>
                </a:solidFill>
                <a:latin typeface="Segoe UI"/>
              </a:rPr>
              <a:t>, kể cả dữ liệu bịa.</a:t>
            </a:r>
          </a:p>
          <a:p>
            <a:pPr algn="l">
              <a:lnSpc>
                <a:spcPct val="120000"/>
              </a:lnSpc>
              <a:spcAft>
                <a:spcPts val="800"/>
              </a:spcAft>
            </a:pPr>
            <a:r>
              <a:rPr sz="1300" i="0" b="0">
                <a:solidFill>
                  <a:srgbClr val="1A202C"/>
                </a:solidFill>
                <a:latin typeface="Segoe UI"/>
              </a:rPr>
              <a:t>→ Nó là </a:t>
            </a:r>
            <a:r>
              <a:rPr sz="1300" i="0" b="1">
                <a:solidFill>
                  <a:srgbClr val="B75309"/>
                </a:solidFill>
                <a:latin typeface="Segoe UI"/>
              </a:rPr>
              <a:t>khung để chia việc</a:t>
            </a:r>
            <a:r>
              <a:rPr sz="1300" i="0" b="0">
                <a:solidFill>
                  <a:srgbClr val="1A202C"/>
                </a:solidFill>
                <a:latin typeface="Segoe UI"/>
              </a:rPr>
              <a:t>, không phải </a:t>
            </a:r>
            <a:r>
              <a:rPr sz="1300" i="0" b="1">
                <a:solidFill>
                  <a:srgbClr val="B75309"/>
                </a:solidFill>
                <a:latin typeface="Segoe UI"/>
              </a:rPr>
              <a:t>bằng chứng</a:t>
            </a:r>
            <a:r>
              <a:rPr sz="1300" i="0" b="0">
                <a:solidFill>
                  <a:srgbClr val="1A202C"/>
                </a:solidFill>
                <a:latin typeface="Segoe UI"/>
              </a:rPr>
              <a:t> cho bất cứ điều gì.</a:t>
            </a:r>
          </a:p>
        </p:txBody>
      </p:sp>
      <p:sp>
        <p:nvSpPr>
          <p:cNvPr id="11" name="TextBox 10"/>
          <p:cNvSpPr txBox="1"/>
          <p:nvPr/>
        </p:nvSpPr>
        <p:spPr>
          <a:xfrm>
            <a:off x="6245352" y="2176272"/>
            <a:ext cx="5257800" cy="292608"/>
          </a:xfrm>
          <a:prstGeom prst="rect">
            <a:avLst/>
          </a:prstGeom>
          <a:noFill/>
        </p:spPr>
        <p:txBody>
          <a:bodyPr wrap="square" lIns="0" rIns="0" tIns="0" bIns="0" anchor="t">
            <a:spAutoFit/>
          </a:bodyPr>
          <a:lstStyle/>
          <a:p>
            <a:pPr algn="l">
              <a:lnSpc>
                <a:spcPct val="122000"/>
              </a:lnSpc>
              <a:spcAft>
                <a:spcPts val="0"/>
              </a:spcAft>
            </a:pPr>
            <a:r>
              <a:rPr sz="1200" i="0" b="1">
                <a:solidFill>
                  <a:srgbClr val="C53030"/>
                </a:solidFill>
                <a:latin typeface="Segoe UI"/>
              </a:rPr>
              <a:t>BÓC 22.999 KHÁCH HOẠT ĐỘNG 2022</a:t>
            </a:r>
          </a:p>
        </p:txBody>
      </p:sp>
      <p:graphicFrame>
        <p:nvGraphicFramePr>
          <p:cNvPr id="12" name="Table 11"/>
          <p:cNvGraphicFramePr>
            <a:graphicFrameLocks noGrp="1"/>
          </p:cNvGraphicFramePr>
          <p:nvPr/>
        </p:nvGraphicFramePr>
        <p:xfrm>
          <a:off x="6245352" y="2505456"/>
          <a:ext cx="5257800" cy="1847088"/>
        </p:xfrm>
        <a:graphic>
          <a:graphicData uri="http://schemas.openxmlformats.org/drawingml/2006/table">
            <a:tbl>
              <a:tblPr>
                <a:tableStyleId>{2D5ABB26-0587-4C30-8999-92F81FD0307C}</a:tableStyleId>
              </a:tblPr>
              <a:tblGrid>
                <a:gridCol w="3017520"/>
                <a:gridCol w="1280160"/>
                <a:gridCol w="960120"/>
              </a:tblGrid>
              <a:tr h="310896">
                <a:tc>
                  <a:txBody>
                    <a:bodyPr wrap="square"/>
                    <a:lstStyle/>
                    <a:p>
                      <a:pPr algn="l">
                        <a:lnSpc>
                          <a:spcPct val="108000"/>
                        </a:lnSpc>
                      </a:pPr>
                      <a:r>
                        <a:rPr sz="1100" i="0" b="1">
                          <a:solidFill>
                            <a:srgbClr val="FFFFFF"/>
                          </a:solidFill>
                          <a:latin typeface="Segoe UI"/>
                        </a:rPr>
                        <a:t>Nhóm</a:t>
                      </a:r>
                    </a:p>
                  </a:txBody>
                  <a:tcPr marL="91440" marR="91440" marT="27432" marB="27432" anchor="ctr">
                    <a:solidFill>
                      <a:srgbClr val="2B6CB0"/>
                    </a:solidFill>
                  </a:tcPr>
                </a:tc>
                <a:tc>
                  <a:txBody>
                    <a:bodyPr wrap="square"/>
                    <a:lstStyle/>
                    <a:p>
                      <a:pPr algn="r">
                        <a:lnSpc>
                          <a:spcPct val="108000"/>
                        </a:lnSpc>
                      </a:pPr>
                      <a:r>
                        <a:rPr sz="1100" i="0" b="1">
                          <a:solidFill>
                            <a:srgbClr val="FFFFFF"/>
                          </a:solidFill>
                          <a:latin typeface="Segoe UI"/>
                        </a:rPr>
                        <a:t>Số khách</a:t>
                      </a:r>
                    </a:p>
                  </a:txBody>
                  <a:tcPr marL="91440" marR="91440" marT="27432" marB="27432" anchor="ctr">
                    <a:solidFill>
                      <a:srgbClr val="2B6CB0"/>
                    </a:solidFill>
                  </a:tcPr>
                </a:tc>
                <a:tc>
                  <a:txBody>
                    <a:bodyPr wrap="square"/>
                    <a:lstStyle/>
                    <a:p>
                      <a:pPr algn="r">
                        <a:lnSpc>
                          <a:spcPct val="108000"/>
                        </a:lnSpc>
                      </a:pPr>
                      <a:r>
                        <a:rPr sz="1100" i="0" b="1">
                          <a:solidFill>
                            <a:srgbClr val="FFFFFF"/>
                          </a:solidFill>
                          <a:latin typeface="Segoe UI"/>
                        </a:rPr>
                        <a:t>%</a:t>
                      </a:r>
                    </a:p>
                  </a:txBody>
                  <a:tcPr marL="91440" marR="91440" marT="27432" marB="27432" anchor="ctr">
                    <a:solidFill>
                      <a:srgbClr val="2B6CB0"/>
                    </a:solidFill>
                  </a:tcPr>
                </a:tc>
              </a:tr>
              <a:tr h="384048">
                <a:tc>
                  <a:txBody>
                    <a:bodyPr wrap="square"/>
                    <a:lstStyle/>
                    <a:p>
                      <a:pPr algn="l">
                        <a:lnSpc>
                          <a:spcPct val="108000"/>
                        </a:lnSpc>
                      </a:pPr>
                      <a:r>
                        <a:rPr sz="1150" i="0" b="0">
                          <a:solidFill>
                            <a:srgbClr val="1A202C"/>
                          </a:solidFill>
                          <a:latin typeface="Segoe UI"/>
                        </a:rPr>
                        <a:t>Khách mới (cohort 2022)</a:t>
                      </a:r>
                    </a:p>
                  </a:txBody>
                  <a:tcPr marL="91440" marR="91440" marT="27432" marB="27432" anchor="ctr">
                    <a:solidFill>
                      <a:srgbClr val="FFFFFF"/>
                    </a:solidFill>
                  </a:tcPr>
                </a:tc>
                <a:tc>
                  <a:txBody>
                    <a:bodyPr wrap="square"/>
                    <a:lstStyle/>
                    <a:p>
                      <a:pPr algn="r">
                        <a:lnSpc>
                          <a:spcPct val="108000"/>
                        </a:lnSpc>
                      </a:pPr>
                      <a:r>
                        <a:rPr sz="1150" i="0" b="0">
                          <a:solidFill>
                            <a:srgbClr val="1A202C"/>
                          </a:solidFill>
                          <a:latin typeface="Segoe UI"/>
                        </a:rPr>
                        <a:t>1.328</a:t>
                      </a:r>
                    </a:p>
                  </a:txBody>
                  <a:tcPr marL="91440" marR="91440" marT="27432" marB="27432" anchor="ctr">
                    <a:solidFill>
                      <a:srgbClr val="FFFFFF"/>
                    </a:solidFill>
                  </a:tcPr>
                </a:tc>
                <a:tc>
                  <a:txBody>
                    <a:bodyPr wrap="square"/>
                    <a:lstStyle/>
                    <a:p>
                      <a:pPr algn="r">
                        <a:lnSpc>
                          <a:spcPct val="108000"/>
                        </a:lnSpc>
                      </a:pPr>
                      <a:r>
                        <a:rPr sz="1150" i="0" b="0">
                          <a:solidFill>
                            <a:srgbClr val="1A202C"/>
                          </a:solidFill>
                          <a:latin typeface="Segoe UI"/>
                        </a:rPr>
                        <a:t>5,8%</a:t>
                      </a:r>
                    </a:p>
                  </a:txBody>
                  <a:tcPr marL="91440" marR="91440" marT="27432" marB="27432" anchor="ctr">
                    <a:solidFill>
                      <a:srgbClr val="FFFFFF"/>
                    </a:solidFill>
                  </a:tcPr>
                </a:tc>
              </a:tr>
              <a:tr h="384048">
                <a:tc>
                  <a:txBody>
                    <a:bodyPr wrap="square"/>
                    <a:lstStyle/>
                    <a:p>
                      <a:pPr algn="l">
                        <a:lnSpc>
                          <a:spcPct val="108000"/>
                        </a:lnSpc>
                      </a:pPr>
                      <a:r>
                        <a:rPr sz="1150" i="0" b="0">
                          <a:solidFill>
                            <a:srgbClr val="1A202C"/>
                          </a:solidFill>
                          <a:latin typeface="Segoe UI"/>
                        </a:rPr>
                        <a:t>Giữ lại thật (có đơn 2021)</a:t>
                      </a:r>
                    </a:p>
                  </a:txBody>
                  <a:tcPr marL="91440" marR="91440" marT="27432" marB="27432" anchor="ctr">
                    <a:solidFill>
                      <a:srgbClr val="F1F5F9"/>
                    </a:solidFill>
                  </a:tcPr>
                </a:tc>
                <a:tc>
                  <a:txBody>
                    <a:bodyPr wrap="square"/>
                    <a:lstStyle/>
                    <a:p>
                      <a:pPr algn="r">
                        <a:lnSpc>
                          <a:spcPct val="108000"/>
                        </a:lnSpc>
                      </a:pPr>
                      <a:r>
                        <a:rPr sz="1150" i="0" b="0">
                          <a:solidFill>
                            <a:srgbClr val="1A202C"/>
                          </a:solidFill>
                          <a:latin typeface="Segoe UI"/>
                        </a:rPr>
                        <a:t>9.495</a:t>
                      </a:r>
                    </a:p>
                  </a:txBody>
                  <a:tcPr marL="91440" marR="91440" marT="27432" marB="27432" anchor="ctr">
                    <a:solidFill>
                      <a:srgbClr val="F1F5F9"/>
                    </a:solidFill>
                  </a:tcPr>
                </a:tc>
                <a:tc>
                  <a:txBody>
                    <a:bodyPr wrap="square"/>
                    <a:lstStyle/>
                    <a:p>
                      <a:pPr algn="r">
                        <a:lnSpc>
                          <a:spcPct val="108000"/>
                        </a:lnSpc>
                      </a:pPr>
                      <a:r>
                        <a:rPr sz="1150" i="0" b="0">
                          <a:solidFill>
                            <a:srgbClr val="1A202C"/>
                          </a:solidFill>
                          <a:latin typeface="Segoe UI"/>
                        </a:rPr>
                        <a:t>41,3%</a:t>
                      </a:r>
                    </a:p>
                  </a:txBody>
                  <a:tcPr marL="91440" marR="91440" marT="27432" marB="27432" anchor="ctr">
                    <a:solidFill>
                      <a:srgbClr val="F1F5F9"/>
                    </a:solidFill>
                  </a:tcPr>
                </a:tc>
              </a:tr>
              <a:tr h="384048">
                <a:tc>
                  <a:txBody>
                    <a:bodyPr wrap="square"/>
                    <a:lstStyle/>
                    <a:p>
                      <a:pPr algn="l">
                        <a:lnSpc>
                          <a:spcPct val="108000"/>
                        </a:lnSpc>
                      </a:pPr>
                      <a:r>
                        <a:rPr sz="1150" i="0" b="1">
                          <a:solidFill>
                            <a:srgbClr val="C53030"/>
                          </a:solidFill>
                          <a:latin typeface="Segoe UI"/>
                        </a:rPr>
                        <a:t>GIÀNH LẠI</a:t>
                      </a:r>
                      <a:r>
                        <a:rPr sz="1150" i="0" b="0">
                          <a:solidFill>
                            <a:srgbClr val="1A202C"/>
                          </a:solidFill>
                          <a:latin typeface="Segoe UI"/>
                        </a:rPr>
                        <a:t> (nghỉ ≥ 1 năm)</a:t>
                      </a:r>
                    </a:p>
                  </a:txBody>
                  <a:tcPr marL="91440" marR="91440" marT="27432" marB="27432" anchor="ctr">
                    <a:solidFill>
                      <a:srgbClr val="FFFFFF"/>
                    </a:solidFill>
                  </a:tcPr>
                </a:tc>
                <a:tc>
                  <a:txBody>
                    <a:bodyPr wrap="square"/>
                    <a:lstStyle/>
                    <a:p>
                      <a:pPr algn="r">
                        <a:lnSpc>
                          <a:spcPct val="108000"/>
                        </a:lnSpc>
                      </a:pPr>
                      <a:r>
                        <a:rPr sz="1150" i="0" b="1">
                          <a:solidFill>
                            <a:srgbClr val="C53030"/>
                          </a:solidFill>
                          <a:latin typeface="Segoe UI"/>
                        </a:rPr>
                        <a:t>12.176</a:t>
                      </a:r>
                    </a:p>
                  </a:txBody>
                  <a:tcPr marL="91440" marR="91440" marT="27432" marB="27432" anchor="ctr">
                    <a:solidFill>
                      <a:srgbClr val="FFFFFF"/>
                    </a:solidFill>
                  </a:tcPr>
                </a:tc>
                <a:tc>
                  <a:txBody>
                    <a:bodyPr wrap="square"/>
                    <a:lstStyle/>
                    <a:p>
                      <a:pPr algn="r">
                        <a:lnSpc>
                          <a:spcPct val="108000"/>
                        </a:lnSpc>
                      </a:pPr>
                      <a:r>
                        <a:rPr sz="1150" i="0" b="1">
                          <a:solidFill>
                            <a:srgbClr val="C53030"/>
                          </a:solidFill>
                          <a:latin typeface="Segoe UI"/>
                        </a:rPr>
                        <a:t>52,9%</a:t>
                      </a:r>
                    </a:p>
                  </a:txBody>
                  <a:tcPr marL="91440" marR="91440" marT="27432" marB="27432" anchor="ctr">
                    <a:solidFill>
                      <a:srgbClr val="FFFFFF"/>
                    </a:solidFill>
                  </a:tcPr>
                </a:tc>
              </a:tr>
              <a:tr h="384048">
                <a:tc>
                  <a:txBody>
                    <a:bodyPr wrap="square"/>
                    <a:lstStyle/>
                    <a:p>
                      <a:pPr algn="l">
                        <a:lnSpc>
                          <a:spcPct val="108000"/>
                        </a:lnSpc>
                      </a:pPr>
                      <a:r>
                        <a:rPr sz="1150" i="0" b="0">
                          <a:solidFill>
                            <a:srgbClr val="1A202C"/>
                          </a:solidFill>
                          <a:latin typeface="Segoe UI"/>
                        </a:rPr>
                        <a:t>Tổng</a:t>
                      </a:r>
                    </a:p>
                  </a:txBody>
                  <a:tcPr marL="91440" marR="91440" marT="27432" marB="27432" anchor="ctr">
                    <a:solidFill>
                      <a:srgbClr val="F1F5F9"/>
                    </a:solidFill>
                  </a:tcPr>
                </a:tc>
                <a:tc>
                  <a:txBody>
                    <a:bodyPr wrap="square"/>
                    <a:lstStyle/>
                    <a:p>
                      <a:pPr algn="r">
                        <a:lnSpc>
                          <a:spcPct val="108000"/>
                        </a:lnSpc>
                      </a:pPr>
                      <a:r>
                        <a:rPr sz="1150" i="0" b="0">
                          <a:solidFill>
                            <a:srgbClr val="1A202C"/>
                          </a:solidFill>
                          <a:latin typeface="Segoe UI"/>
                        </a:rPr>
                        <a:t>22.999</a:t>
                      </a:r>
                    </a:p>
                  </a:txBody>
                  <a:tcPr marL="91440" marR="91440" marT="27432" marB="27432" anchor="ctr">
                    <a:solidFill>
                      <a:srgbClr val="F1F5F9"/>
                    </a:solidFill>
                  </a:tcPr>
                </a:tc>
                <a:tc>
                  <a:txBody>
                    <a:bodyPr wrap="square"/>
                    <a:lstStyle/>
                    <a:p>
                      <a:pPr algn="r">
                        <a:lnSpc>
                          <a:spcPct val="108000"/>
                        </a:lnSpc>
                      </a:pPr>
                      <a:r>
                        <a:rPr sz="1150" i="0" b="0">
                          <a:solidFill>
                            <a:srgbClr val="1A202C"/>
                          </a:solidFill>
                          <a:latin typeface="Segoe UI"/>
                        </a:rPr>
                        <a:t>100%</a:t>
                      </a:r>
                    </a:p>
                  </a:txBody>
                  <a:tcPr marL="91440" marR="91440" marT="27432" marB="27432" anchor="ctr">
                    <a:solidFill>
                      <a:srgbClr val="F1F5F9"/>
                    </a:solidFill>
                  </a:tcPr>
                </a:tc>
              </a:tr>
            </a:tbl>
          </a:graphicData>
        </a:graphic>
      </p:graphicFrame>
      <p:sp>
        <p:nvSpPr>
          <p:cNvPr id="13" name="Rounded Rectangle 12"/>
          <p:cNvSpPr/>
          <p:nvPr/>
        </p:nvSpPr>
        <p:spPr>
          <a:xfrm>
            <a:off x="685800" y="4608576"/>
            <a:ext cx="10817352" cy="1298448"/>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4608576"/>
            <a:ext cx="64008" cy="1298448"/>
          </a:xfrm>
          <a:prstGeom prst="rect">
            <a:avLst/>
          </a:prstGeom>
          <a:solidFill>
            <a:srgbClr val="C5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4791456"/>
            <a:ext cx="10268712" cy="932688"/>
          </a:xfrm>
          <a:prstGeom prst="rect">
            <a:avLst/>
          </a:prstGeom>
          <a:noFill/>
        </p:spPr>
        <p:txBody>
          <a:bodyPr wrap="square" lIns="0" rIns="0" tIns="0" bIns="0" anchor="ctr">
            <a:spAutoFit/>
          </a:bodyPr>
          <a:lstStyle/>
          <a:p>
            <a:pPr algn="l">
              <a:lnSpc>
                <a:spcPct val="125000"/>
              </a:lnSpc>
              <a:spcAft>
                <a:spcPts val="500"/>
              </a:spcAft>
            </a:pPr>
            <a:r>
              <a:rPr sz="1300" i="0" b="0">
                <a:solidFill>
                  <a:srgbClr val="1A202C"/>
                </a:solidFill>
                <a:latin typeface="Segoe UI"/>
              </a:rPr>
              <a:t>Hai chỗ hổng: </a:t>
            </a:r>
            <a:r>
              <a:rPr sz="1300" i="0" b="1">
                <a:solidFill>
                  <a:srgbClr val="C53030"/>
                </a:solidFill>
                <a:latin typeface="Segoe UI"/>
              </a:rPr>
              <a:t>AOV tăng +50,8%</a:t>
            </a:r>
            <a:r>
              <a:rPr sz="1300" i="0" b="0">
                <a:solidFill>
                  <a:srgbClr val="1A202C"/>
                </a:solidFill>
                <a:latin typeface="Segoe UI"/>
              </a:rPr>
              <a:t> — thành phần duy nhất tăng — nhưng </a:t>
            </a:r>
            <a:r>
              <a:rPr sz="1300" i="0" b="1">
                <a:solidFill>
                  <a:srgbClr val="C53030"/>
                </a:solidFill>
                <a:latin typeface="Segoe UI"/>
              </a:rPr>
              <a:t>không bài toán nhỏ nào phụ trách</a:t>
            </a:r>
            <a:r>
              <a:rPr sz="1300" i="0" b="0">
                <a:solidFill>
                  <a:srgbClr val="1A202C"/>
                </a:solidFill>
                <a:latin typeface="Segoe UI"/>
              </a:rPr>
              <a:t> nó.</a:t>
            </a:r>
          </a:p>
          <a:p>
            <a:pPr algn="l">
              <a:lnSpc>
                <a:spcPct val="125000"/>
              </a:lnSpc>
              <a:spcAft>
                <a:spcPts val="500"/>
              </a:spcAft>
            </a:pPr>
            <a:r>
              <a:rPr sz="1300" i="0" b="0">
                <a:solidFill>
                  <a:srgbClr val="1A202C"/>
                </a:solidFill>
                <a:latin typeface="Segoe UI"/>
              </a:rPr>
              <a:t>Và nhóm </a:t>
            </a:r>
            <a:r>
              <a:rPr sz="1300" i="0" b="1">
                <a:solidFill>
                  <a:srgbClr val="C53030"/>
                </a:solidFill>
                <a:latin typeface="Segoe UI"/>
              </a:rPr>
              <a:t>"giành lại" chiếm 52,9%</a:t>
            </a:r>
            <a:r>
              <a:rPr sz="1300" i="0" b="0">
                <a:solidFill>
                  <a:srgbClr val="1A202C"/>
                </a:solidFill>
                <a:latin typeface="Segoe UI"/>
              </a:rPr>
              <a:t>, nhiều hơn cả nhóm giữ lại thật (41,3%), nhưng bị gộp chìm vào "khách giữ lại".</a:t>
            </a:r>
          </a:p>
          <a:p>
            <a:pPr algn="l">
              <a:lnSpc>
                <a:spcPct val="125000"/>
              </a:lnSpc>
              <a:spcAft>
                <a:spcPts val="500"/>
              </a:spcAft>
            </a:pPr>
            <a:r>
              <a:rPr sz="1300" i="0" b="0">
                <a:solidFill>
                  <a:srgbClr val="1A202C"/>
                </a:solidFill>
                <a:latin typeface="Segoe UI"/>
              </a:rPr>
              <a:t>Đề xuất: đổi dòng ba thành </a:t>
            </a:r>
            <a:r>
              <a:rPr sz="1300" i="0" b="1">
                <a:solidFill>
                  <a:srgbClr val="C53030"/>
                </a:solidFill>
                <a:latin typeface="Segoe UI"/>
              </a:rPr>
              <a:t>ba</a:t>
            </a:r>
            <a:r>
              <a:rPr sz="1300" i="0" b="0">
                <a:solidFill>
                  <a:srgbClr val="1A202C"/>
                </a:solidFill>
                <a:latin typeface="Segoe UI"/>
              </a:rPr>
              <a:t> số hạng — Khách hoạt động = Khách mới + Khách giữ lại + </a:t>
            </a:r>
            <a:r>
              <a:rPr sz="1300" i="0" b="1">
                <a:solidFill>
                  <a:srgbClr val="C53030"/>
                </a:solidFill>
                <a:latin typeface="Segoe UI"/>
              </a:rPr>
              <a:t>Khách giành lại</a:t>
            </a:r>
            <a:r>
              <a:rPr sz="1300" i="0" b="0">
                <a:solidFill>
                  <a:srgbClr val="1A202C"/>
                </a:solidFill>
                <a:latin typeface="Segoe UI"/>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 · CẤU TRÚC</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Sáu bài toán nhỏ và tiến độ</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Bốn bài toán đã có kết quả · hai bài còn treo, và treo vì lý do khác nhau</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7</a:t>
            </a:r>
          </a:p>
        </p:txBody>
      </p:sp>
      <p:graphicFrame>
        <p:nvGraphicFramePr>
          <p:cNvPr id="8" name="Table 7"/>
          <p:cNvGraphicFramePr>
            <a:graphicFrameLocks noGrp="1"/>
          </p:cNvGraphicFramePr>
          <p:nvPr/>
        </p:nvGraphicFramePr>
        <p:xfrm>
          <a:off x="685800" y="2176272"/>
          <a:ext cx="10817351" cy="2743200"/>
        </p:xfrm>
        <a:graphic>
          <a:graphicData uri="http://schemas.openxmlformats.org/drawingml/2006/table">
            <a:tbl>
              <a:tblPr>
                <a:tableStyleId>{2D5ABB26-0587-4C30-8999-92F81FD0307C}</a:tableStyleId>
              </a:tblPr>
              <a:tblGrid>
                <a:gridCol w="825052"/>
                <a:gridCol w="3116864"/>
                <a:gridCol w="5133658"/>
                <a:gridCol w="1741777"/>
              </a:tblGrid>
              <a:tr h="329184">
                <a:tc>
                  <a:txBody>
                    <a:bodyPr wrap="square"/>
                    <a:lstStyle/>
                    <a:p>
                      <a:pPr algn="ctr">
                        <a:lnSpc>
                          <a:spcPct val="108000"/>
                        </a:lnSpc>
                      </a:pP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Bài toán nhỏ</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Kết quả</a:t>
                      </a:r>
                    </a:p>
                  </a:txBody>
                  <a:tcPr marL="91440" marR="91440" marT="27432" marB="27432" anchor="ctr">
                    <a:solidFill>
                      <a:srgbClr val="2B6CB0"/>
                    </a:solidFill>
                  </a:tcPr>
                </a:tc>
                <a:tc>
                  <a:txBody>
                    <a:bodyPr wrap="square"/>
                    <a:lstStyle/>
                    <a:p>
                      <a:pPr algn="ctr">
                        <a:lnSpc>
                          <a:spcPct val="108000"/>
                        </a:lnSpc>
                      </a:pPr>
                      <a:r>
                        <a:rPr sz="1150" i="0" b="1">
                          <a:solidFill>
                            <a:srgbClr val="FFFFFF"/>
                          </a:solidFill>
                          <a:latin typeface="Segoe UI"/>
                        </a:rPr>
                        <a:t>Trạng thái</a:t>
                      </a:r>
                    </a:p>
                  </a:txBody>
                  <a:tcPr marL="91440" marR="91440" marT="27432" marB="27432" anchor="ctr">
                    <a:solidFill>
                      <a:srgbClr val="2B6CB0"/>
                    </a:solidFill>
                  </a:tcPr>
                </a:tc>
              </a:tr>
              <a:tr h="402336">
                <a:tc>
                  <a:txBody>
                    <a:bodyPr wrap="square"/>
                    <a:lstStyle/>
                    <a:p>
                      <a:pPr algn="ctr">
                        <a:lnSpc>
                          <a:spcPct val="108000"/>
                        </a:lnSpc>
                      </a:pPr>
                      <a:r>
                        <a:rPr sz="1250" i="0" b="0">
                          <a:solidFill>
                            <a:srgbClr val="1A202C"/>
                          </a:solidFill>
                          <a:latin typeface="Segoe UI"/>
                        </a:rPr>
                        <a:t>BTN1</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Tập khách đang ở trạng thái nào?</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31.684 chưa mua · 65.493 ngủ đông · 24.753 hoạt động</a:t>
                      </a:r>
                    </a:p>
                  </a:txBody>
                  <a:tcPr marL="91440" marR="91440" marT="27432" marB="27432" anchor="ctr">
                    <a:solidFill>
                      <a:srgbClr val="FFFFFF"/>
                    </a:solidFill>
                  </a:tcPr>
                </a:tc>
                <a:tc>
                  <a:txBody>
                    <a:bodyPr wrap="square"/>
                    <a:lstStyle/>
                    <a:p>
                      <a:pPr algn="ctr">
                        <a:lnSpc>
                          <a:spcPct val="108000"/>
                        </a:lnSpc>
                      </a:pPr>
                      <a:r>
                        <a:rPr sz="1250" i="0" b="0">
                          <a:solidFill>
                            <a:srgbClr val="2F855A"/>
                          </a:solidFill>
                          <a:latin typeface="Segoe UI"/>
                        </a:rPr>
                        <a:t>✔ Xong</a:t>
                      </a:r>
                    </a:p>
                  </a:txBody>
                  <a:tcPr marL="91440" marR="91440" marT="27432" marB="27432" anchor="ctr">
                    <a:solidFill>
                      <a:srgbClr val="FFFFFF"/>
                    </a:solidFill>
                  </a:tcPr>
                </a:tc>
              </a:tr>
              <a:tr h="402336">
                <a:tc>
                  <a:txBody>
                    <a:bodyPr wrap="square"/>
                    <a:lstStyle/>
                    <a:p>
                      <a:pPr algn="ctr">
                        <a:lnSpc>
                          <a:spcPct val="108000"/>
                        </a:lnSpc>
                      </a:pPr>
                      <a:r>
                        <a:rPr sz="1250" i="0" b="0">
                          <a:solidFill>
                            <a:srgbClr val="1A202C"/>
                          </a:solidFill>
                          <a:latin typeface="Segoe UI"/>
                        </a:rPr>
                        <a:t>BTN2</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Mất khách hay mua thưa đi?</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Ít khách 72,2% · mua thưa 45,2% · tương tác −17,4%</a:t>
                      </a:r>
                    </a:p>
                  </a:txBody>
                  <a:tcPr marL="91440" marR="91440" marT="27432" marB="27432" anchor="ctr">
                    <a:solidFill>
                      <a:srgbClr val="F1F5F9"/>
                    </a:solidFill>
                  </a:tcPr>
                </a:tc>
                <a:tc>
                  <a:txBody>
                    <a:bodyPr wrap="square"/>
                    <a:lstStyle/>
                    <a:p>
                      <a:pPr algn="ctr">
                        <a:lnSpc>
                          <a:spcPct val="108000"/>
                        </a:lnSpc>
                      </a:pPr>
                      <a:r>
                        <a:rPr sz="1250" i="0" b="0">
                          <a:solidFill>
                            <a:srgbClr val="2F855A"/>
                          </a:solidFill>
                          <a:latin typeface="Segoe UI"/>
                        </a:rPr>
                        <a:t>✔ Xong</a:t>
                      </a:r>
                    </a:p>
                  </a:txBody>
                  <a:tcPr marL="91440" marR="91440" marT="27432" marB="27432" anchor="ctr">
                    <a:solidFill>
                      <a:srgbClr val="F1F5F9"/>
                    </a:solidFill>
                  </a:tcPr>
                </a:tc>
              </a:tr>
              <a:tr h="402336">
                <a:tc>
                  <a:txBody>
                    <a:bodyPr wrap="square"/>
                    <a:lstStyle/>
                    <a:p>
                      <a:pPr algn="ctr">
                        <a:lnSpc>
                          <a:spcPct val="108000"/>
                        </a:lnSpc>
                      </a:pPr>
                      <a:r>
                        <a:rPr sz="1250" i="0" b="0">
                          <a:solidFill>
                            <a:srgbClr val="1A202C"/>
                          </a:solidFill>
                          <a:latin typeface="Segoe UI"/>
                        </a:rPr>
                        <a:t>BTN3</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Kích hoạt hỏng hay giữ chân hỏng?</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Rổ cạn 36,4% · tỷ lệ hút giảm 63,6%  (đã sửa)</a:t>
                      </a:r>
                    </a:p>
                  </a:txBody>
                  <a:tcPr marL="91440" marR="91440" marT="27432" marB="27432" anchor="ctr">
                    <a:solidFill>
                      <a:srgbClr val="FFFFFF"/>
                    </a:solidFill>
                  </a:tcPr>
                </a:tc>
                <a:tc>
                  <a:txBody>
                    <a:bodyPr wrap="square"/>
                    <a:lstStyle/>
                    <a:p>
                      <a:pPr algn="ctr">
                        <a:lnSpc>
                          <a:spcPct val="108000"/>
                        </a:lnSpc>
                      </a:pPr>
                      <a:r>
                        <a:rPr sz="1250" i="0" b="0">
                          <a:solidFill>
                            <a:srgbClr val="2F855A"/>
                          </a:solidFill>
                          <a:latin typeface="Segoe UI"/>
                        </a:rPr>
                        <a:t>✔ Xong</a:t>
                      </a:r>
                    </a:p>
                  </a:txBody>
                  <a:tcPr marL="91440" marR="91440" marT="27432" marB="27432" anchor="ctr">
                    <a:solidFill>
                      <a:srgbClr val="FFFFFF"/>
                    </a:solidFill>
                  </a:tcPr>
                </a:tc>
              </a:tr>
              <a:tr h="402336">
                <a:tc>
                  <a:txBody>
                    <a:bodyPr wrap="square"/>
                    <a:lstStyle/>
                    <a:p>
                      <a:pPr algn="ctr">
                        <a:lnSpc>
                          <a:spcPct val="108000"/>
                        </a:lnSpc>
                      </a:pPr>
                      <a:r>
                        <a:rPr sz="1250" i="0" b="0">
                          <a:solidFill>
                            <a:srgbClr val="1A202C"/>
                          </a:solidFill>
                          <a:latin typeface="Segoe UI"/>
                        </a:rPr>
                        <a:t>BTN4</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Cơ chế ở đơn đầu là gì?</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Khuyến mãi: thô 39,2% → kiểm soát xong còn 5,2%</a:t>
                      </a:r>
                    </a:p>
                  </a:txBody>
                  <a:tcPr marL="91440" marR="91440" marT="27432" marB="27432" anchor="ctr">
                    <a:solidFill>
                      <a:srgbClr val="F1F5F9"/>
                    </a:solidFill>
                  </a:tcPr>
                </a:tc>
                <a:tc>
                  <a:txBody>
                    <a:bodyPr wrap="square"/>
                    <a:lstStyle/>
                    <a:p>
                      <a:pPr algn="ctr">
                        <a:lnSpc>
                          <a:spcPct val="108000"/>
                        </a:lnSpc>
                      </a:pPr>
                      <a:r>
                        <a:rPr sz="1250" i="0" b="0">
                          <a:solidFill>
                            <a:srgbClr val="2B6CB0"/>
                          </a:solidFill>
                          <a:latin typeface="Segoe UI"/>
                        </a:rPr>
                        <a:t>★ Trọng tâm</a:t>
                      </a:r>
                    </a:p>
                  </a:txBody>
                  <a:tcPr marL="91440" marR="91440" marT="27432" marB="27432" anchor="ctr">
                    <a:solidFill>
                      <a:srgbClr val="F1F5F9"/>
                    </a:solidFill>
                  </a:tcPr>
                </a:tc>
              </a:tr>
              <a:tr h="402336">
                <a:tc>
                  <a:txBody>
                    <a:bodyPr wrap="square"/>
                    <a:lstStyle/>
                    <a:p>
                      <a:pPr algn="ctr">
                        <a:lnSpc>
                          <a:spcPct val="108000"/>
                        </a:lnSpc>
                      </a:pPr>
                      <a:r>
                        <a:rPr sz="1250" i="0" b="0">
                          <a:solidFill>
                            <a:srgbClr val="1A202C"/>
                          </a:solidFill>
                          <a:latin typeface="Segoe UI"/>
                        </a:rPr>
                        <a:t>BTN5</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Nền khách đỡ nổi 2023–24?</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Đi ngang ba năm, nhưng n = 3 quá mỏng</a:t>
                      </a:r>
                    </a:p>
                  </a:txBody>
                  <a:tcPr marL="91440" marR="91440" marT="27432" marB="27432" anchor="ctr">
                    <a:solidFill>
                      <a:srgbClr val="FFFFFF"/>
                    </a:solidFill>
                  </a:tcPr>
                </a:tc>
                <a:tc>
                  <a:txBody>
                    <a:bodyPr wrap="square"/>
                    <a:lstStyle/>
                    <a:p>
                      <a:pPr algn="ctr">
                        <a:lnSpc>
                          <a:spcPct val="108000"/>
                        </a:lnSpc>
                      </a:pPr>
                      <a:r>
                        <a:rPr sz="1250" i="0" b="0">
                          <a:solidFill>
                            <a:srgbClr val="B75309"/>
                          </a:solidFill>
                          <a:latin typeface="Segoe UI"/>
                        </a:rPr>
                        <a:t>◐ Cần Chow test</a:t>
                      </a:r>
                    </a:p>
                  </a:txBody>
                  <a:tcPr marL="91440" marR="91440" marT="27432" marB="27432" anchor="ctr">
                    <a:solidFill>
                      <a:srgbClr val="FFFFFF"/>
                    </a:solidFill>
                  </a:tcPr>
                </a:tc>
              </a:tr>
              <a:tr h="402336">
                <a:tc>
                  <a:txBody>
                    <a:bodyPr wrap="square"/>
                    <a:lstStyle/>
                    <a:p>
                      <a:pPr algn="ctr">
                        <a:lnSpc>
                          <a:spcPct val="108000"/>
                        </a:lnSpc>
                      </a:pPr>
                      <a:r>
                        <a:rPr sz="1250" i="0" b="0">
                          <a:solidFill>
                            <a:srgbClr val="1A202C"/>
                          </a:solidFill>
                          <a:latin typeface="Segoe UI"/>
                        </a:rPr>
                        <a:t>BTN6</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Ngân sách nên đi đâu?</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Đã loại phương án theo kênh; thiếu bảng chi phí</a:t>
                      </a:r>
                    </a:p>
                  </a:txBody>
                  <a:tcPr marL="91440" marR="91440" marT="27432" marB="27432" anchor="ctr">
                    <a:solidFill>
                      <a:srgbClr val="F1F5F9"/>
                    </a:solidFill>
                  </a:tcPr>
                </a:tc>
                <a:tc>
                  <a:txBody>
                    <a:bodyPr wrap="square"/>
                    <a:lstStyle/>
                    <a:p>
                      <a:pPr algn="ctr">
                        <a:lnSpc>
                          <a:spcPct val="108000"/>
                        </a:lnSpc>
                      </a:pPr>
                      <a:r>
                        <a:rPr sz="1250" i="0" b="0">
                          <a:solidFill>
                            <a:srgbClr val="C53030"/>
                          </a:solidFill>
                          <a:latin typeface="Segoe UI"/>
                        </a:rPr>
                        <a:t>✖ Thiếu dữ liệu</a:t>
                      </a:r>
                    </a:p>
                  </a:txBody>
                  <a:tcPr marL="91440" marR="91440" marT="27432" marB="27432" anchor="ctr">
                    <a:solidFill>
                      <a:srgbClr val="F1F5F9"/>
                    </a:solidFill>
                  </a:tcPr>
                </a:tc>
              </a:tr>
            </a:tbl>
          </a:graphicData>
        </a:graphic>
      </p:graphicFrame>
      <p:sp>
        <p:nvSpPr>
          <p:cNvPr id="9" name="Rounded Rectangle 8"/>
          <p:cNvSpPr/>
          <p:nvPr/>
        </p:nvSpPr>
        <p:spPr>
          <a:xfrm>
            <a:off x="685800" y="5047488"/>
            <a:ext cx="10817352" cy="868680"/>
          </a:xfrm>
          <a:prstGeom prst="roundRect">
            <a:avLst>
              <a:gd name="adj" fmla="val 6000"/>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5047488"/>
            <a:ext cx="64008" cy="86868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5230368"/>
            <a:ext cx="10268712" cy="502919"/>
          </a:xfrm>
          <a:prstGeom prst="rect">
            <a:avLst/>
          </a:prstGeom>
          <a:noFill/>
        </p:spPr>
        <p:txBody>
          <a:bodyPr wrap="square" lIns="0" rIns="0" tIns="0" bIns="0" anchor="ctr">
            <a:spAutoFit/>
          </a:bodyPr>
          <a:lstStyle/>
          <a:p>
            <a:pPr algn="l">
              <a:lnSpc>
                <a:spcPct val="125000"/>
              </a:lnSpc>
              <a:spcAft>
                <a:spcPts val="500"/>
              </a:spcAft>
            </a:pPr>
            <a:r>
              <a:rPr sz="1400" i="0" b="0">
                <a:solidFill>
                  <a:srgbClr val="1A202C"/>
                </a:solidFill>
                <a:latin typeface="Segoe UI"/>
              </a:rPr>
              <a:t>BTN5 treo vì </a:t>
            </a:r>
            <a:r>
              <a:rPr sz="1400" i="0" b="1">
                <a:solidFill>
                  <a:srgbClr val="2B6CB0"/>
                </a:solidFill>
                <a:latin typeface="Segoe UI"/>
              </a:rPr>
              <a:t>chưa làm</a:t>
            </a:r>
            <a:r>
              <a:rPr sz="1400" i="0" b="0">
                <a:solidFill>
                  <a:srgbClr val="1A202C"/>
                </a:solidFill>
                <a:latin typeface="Segoe UI"/>
              </a:rPr>
              <a:t> — công cụ có sẵn, làm được ngay.   BTN6 treo vì </a:t>
            </a:r>
            <a:r>
              <a:rPr sz="1400" i="0" b="1">
                <a:solidFill>
                  <a:srgbClr val="2B6CB0"/>
                </a:solidFill>
                <a:latin typeface="Segoe UI"/>
              </a:rPr>
              <a:t>bộ dữ liệu không có bảng chi phí marketing</a:t>
            </a:r>
            <a:r>
              <a:rPr sz="1400" i="0" b="0">
                <a:solidFill>
                  <a:srgbClr val="1A202C"/>
                </a:solidFill>
                <a:latin typeface="Segoe UI"/>
              </a:rPr>
              <a:t>.</a:t>
            </a:r>
          </a:p>
          <a:p>
            <a:pPr algn="l">
              <a:lnSpc>
                <a:spcPct val="125000"/>
              </a:lnSpc>
              <a:spcAft>
                <a:spcPts val="500"/>
              </a:spcAft>
            </a:pPr>
            <a:r>
              <a:rPr sz="1400" i="0" b="0">
                <a:solidFill>
                  <a:srgbClr val="1A202C"/>
                </a:solidFill>
                <a:latin typeface="Segoe UI"/>
              </a:rPr>
              <a:t>Phân biệt này quan trọng: một cái là thiếu công, một cái là </a:t>
            </a:r>
            <a:r>
              <a:rPr sz="1400" i="0" b="1">
                <a:solidFill>
                  <a:srgbClr val="2B6CB0"/>
                </a:solidFill>
                <a:latin typeface="Segoe UI"/>
              </a:rPr>
              <a:t>giới hạn dữ liệu</a:t>
            </a:r>
            <a:r>
              <a:rPr sz="1400" i="0" b="0">
                <a:solidFill>
                  <a:srgbClr val="1A202C"/>
                </a:solidFill>
                <a:latin typeface="Segoe UI"/>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II · BTN1</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Tập khách đang ở trạng thái nào?</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Phân ba trạng thái trên danh sách đóng 121.930 khách</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8</a:t>
            </a:r>
          </a:p>
        </p:txBody>
      </p:sp>
      <p:sp>
        <p:nvSpPr>
          <p:cNvPr id="8" name="Rounded Rectangle 7"/>
          <p:cNvSpPr/>
          <p:nvPr/>
        </p:nvSpPr>
        <p:spPr>
          <a:xfrm>
            <a:off x="685800" y="2176272"/>
            <a:ext cx="3471672" cy="132588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5A6570"/>
                </a:solidFill>
                <a:latin typeface="Segoe UI"/>
              </a:rPr>
              <a:t>31.684</a:t>
            </a:r>
          </a:p>
        </p:txBody>
      </p:sp>
      <p:sp>
        <p:nvSpPr>
          <p:cNvPr id="10" name="TextBox 9"/>
          <p:cNvSpPr txBox="1"/>
          <p:nvPr/>
        </p:nvSpPr>
        <p:spPr>
          <a:xfrm>
            <a:off x="850392" y="3026664"/>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CHƯA TỪNG MUA
đăng ký rồi im lặng</a:t>
            </a:r>
          </a:p>
        </p:txBody>
      </p:sp>
      <p:sp>
        <p:nvSpPr>
          <p:cNvPr id="11" name="Rounded Rectangle 10"/>
          <p:cNvSpPr/>
          <p:nvPr/>
        </p:nvSpPr>
        <p:spPr>
          <a:xfrm>
            <a:off x="4358640" y="2176272"/>
            <a:ext cx="3471672" cy="132588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323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B75309"/>
                </a:solidFill>
                <a:latin typeface="Segoe UI"/>
              </a:rPr>
              <a:t>65.493</a:t>
            </a:r>
          </a:p>
        </p:txBody>
      </p:sp>
      <p:sp>
        <p:nvSpPr>
          <p:cNvPr id="13" name="TextBox 12"/>
          <p:cNvSpPr txBox="1"/>
          <p:nvPr/>
        </p:nvSpPr>
        <p:spPr>
          <a:xfrm>
            <a:off x="4523232" y="3026664"/>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NGỦ ĐÔNG
từng mua, đã ngưng</a:t>
            </a:r>
          </a:p>
        </p:txBody>
      </p:sp>
      <p:sp>
        <p:nvSpPr>
          <p:cNvPr id="14" name="Rounded Rectangle 13"/>
          <p:cNvSpPr/>
          <p:nvPr/>
        </p:nvSpPr>
        <p:spPr>
          <a:xfrm>
            <a:off x="8031480" y="2176272"/>
            <a:ext cx="3471672" cy="132588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9607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2F855A"/>
                </a:solidFill>
                <a:latin typeface="Segoe UI"/>
              </a:rPr>
              <a:t>24.753</a:t>
            </a:r>
          </a:p>
        </p:txBody>
      </p:sp>
      <p:sp>
        <p:nvSpPr>
          <p:cNvPr id="16" name="TextBox 15"/>
          <p:cNvSpPr txBox="1"/>
          <p:nvPr/>
        </p:nvSpPr>
        <p:spPr>
          <a:xfrm>
            <a:off x="8196072" y="3026664"/>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HOẠT ĐỘNG
còn mua trong 2022</a:t>
            </a:r>
          </a:p>
        </p:txBody>
      </p:sp>
      <p:sp>
        <p:nvSpPr>
          <p:cNvPr id="17" name="TextBox 16"/>
          <p:cNvSpPr txBox="1"/>
          <p:nvPr/>
        </p:nvSpPr>
        <p:spPr>
          <a:xfrm>
            <a:off x="685800" y="3675887"/>
            <a:ext cx="10817352" cy="402336"/>
          </a:xfrm>
          <a:prstGeom prst="rect">
            <a:avLst/>
          </a:prstGeom>
          <a:noFill/>
        </p:spPr>
        <p:txBody>
          <a:bodyPr wrap="square" lIns="0" rIns="0" tIns="0" bIns="0" anchor="t">
            <a:spAutoFit/>
          </a:bodyPr>
          <a:lstStyle/>
          <a:p>
            <a:pPr algn="l">
              <a:lnSpc>
                <a:spcPct val="122000"/>
              </a:lnSpc>
              <a:spcAft>
                <a:spcPts val="0"/>
              </a:spcAft>
            </a:pPr>
            <a:r>
              <a:rPr sz="1450" i="0" b="0">
                <a:solidFill>
                  <a:srgbClr val="1A202C"/>
                </a:solidFill>
                <a:latin typeface="Segoe UI"/>
              </a:rPr>
              <a:t>Phép kiểm tổng:   31.684 + 65.493 + 24.753 = </a:t>
            </a:r>
            <a:r>
              <a:rPr sz="1450" i="0" b="1">
                <a:solidFill>
                  <a:srgbClr val="1A365D"/>
                </a:solidFill>
                <a:latin typeface="Segoe UI"/>
              </a:rPr>
              <a:t>121.930</a:t>
            </a:r>
            <a:r>
              <a:rPr sz="1450" i="0" b="0">
                <a:solidFill>
                  <a:srgbClr val="1A202C"/>
                </a:solidFill>
                <a:latin typeface="Segoe UI"/>
              </a:rPr>
              <a:t>  — đúng bằng số dòng </a:t>
            </a:r>
            <a:r>
              <a:rPr sz="1334" i="0" b="0">
                <a:solidFill>
                  <a:srgbClr val="1A365D"/>
                </a:solidFill>
                <a:latin typeface="Consolas"/>
              </a:rPr>
              <a:t>customers.csv</a:t>
            </a:r>
            <a:r>
              <a:rPr sz="1450" i="0" b="0">
                <a:solidFill>
                  <a:srgbClr val="1A202C"/>
                </a:solidFill>
                <a:latin typeface="Segoe UI"/>
              </a:rPr>
              <a:t>. Không ai rơi ra ngoài, không ai bị đếm hai lần.</a:t>
            </a:r>
          </a:p>
        </p:txBody>
      </p:sp>
      <p:sp>
        <p:nvSpPr>
          <p:cNvPr id="18" name="Rounded Rectangle 17"/>
          <p:cNvSpPr/>
          <p:nvPr/>
        </p:nvSpPr>
        <p:spPr>
          <a:xfrm>
            <a:off x="685800" y="4224527"/>
            <a:ext cx="10817352" cy="1682496"/>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224527"/>
            <a:ext cx="64008" cy="1682496"/>
          </a:xfrm>
          <a:prstGeom prst="rect">
            <a:avLst/>
          </a:prstGeom>
          <a:solidFill>
            <a:srgbClr val="C5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407407"/>
            <a:ext cx="10268712" cy="1316736"/>
          </a:xfrm>
          <a:prstGeom prst="rect">
            <a:avLst/>
          </a:prstGeom>
          <a:noFill/>
        </p:spPr>
        <p:txBody>
          <a:bodyPr wrap="square" lIns="0" rIns="0" tIns="0" bIns="0" anchor="ctr">
            <a:spAutoFit/>
          </a:bodyPr>
          <a:lstStyle/>
          <a:p>
            <a:pPr algn="l">
              <a:lnSpc>
                <a:spcPct val="125000"/>
              </a:lnSpc>
              <a:spcAft>
                <a:spcPts val="500"/>
              </a:spcAft>
            </a:pPr>
            <a:r>
              <a:rPr sz="1350" i="0" b="0">
                <a:solidFill>
                  <a:srgbClr val="1A202C"/>
                </a:solidFill>
                <a:latin typeface="Segoe UI"/>
              </a:rPr>
              <a:t>⚠  Tự phản biện B15 — hai chỉ số dùng </a:t>
            </a:r>
            <a:r>
              <a:rPr sz="1350" i="0" b="1">
                <a:solidFill>
                  <a:srgbClr val="C53030"/>
                </a:solidFill>
                <a:latin typeface="Segoe UI"/>
              </a:rPr>
              <a:t>hai bộ lọc khác nhau</a:t>
            </a:r>
            <a:r>
              <a:rPr sz="1350" i="0" b="0">
                <a:solidFill>
                  <a:srgbClr val="1A202C"/>
                </a:solidFill>
                <a:latin typeface="Segoe UI"/>
              </a:rPr>
              <a:t> mà không ghi nhãn.</a:t>
            </a:r>
          </a:p>
          <a:p>
            <a:pPr algn="l">
              <a:lnSpc>
                <a:spcPct val="125000"/>
              </a:lnSpc>
              <a:spcAft>
                <a:spcPts val="500"/>
              </a:spcAft>
            </a:pPr>
            <a:r>
              <a:rPr sz="1350" i="0" b="0">
                <a:solidFill>
                  <a:srgbClr val="1A202C"/>
                </a:solidFill>
                <a:latin typeface="Segoe UI"/>
              </a:rPr>
              <a:t>Me1 ("chưa từng mua") tính trên </a:t>
            </a:r>
            <a:r>
              <a:rPr sz="1242" i="0" b="0">
                <a:solidFill>
                  <a:srgbClr val="1A365D"/>
                </a:solidFill>
                <a:latin typeface="Consolas"/>
              </a:rPr>
              <a:t>live</a:t>
            </a:r>
            <a:r>
              <a:rPr sz="1350" i="0" b="0">
                <a:solidFill>
                  <a:srgbClr val="1A202C"/>
                </a:solidFill>
                <a:latin typeface="Segoe UI"/>
              </a:rPr>
              <a:t> — loại đơn </a:t>
            </a:r>
            <a:r>
              <a:rPr sz="1242" i="0" b="0">
                <a:solidFill>
                  <a:srgbClr val="1A365D"/>
                </a:solidFill>
                <a:latin typeface="Consolas"/>
              </a:rPr>
              <a:t>cancelled</a:t>
            </a:r>
            <a:r>
              <a:rPr sz="1350" i="0" b="0">
                <a:solidFill>
                  <a:srgbClr val="1A202C"/>
                </a:solidFill>
                <a:latin typeface="Segoe UI"/>
              </a:rPr>
              <a:t>. Me8a tính trên </a:t>
            </a:r>
            <a:r>
              <a:rPr sz="1242" i="0" b="0">
                <a:solidFill>
                  <a:srgbClr val="1A365D"/>
                </a:solidFill>
                <a:latin typeface="Consolas"/>
              </a:rPr>
              <a:t>ALL</a:t>
            </a:r>
            <a:r>
              <a:rPr sz="1350" i="0" b="0">
                <a:solidFill>
                  <a:srgbClr val="1A202C"/>
                </a:solidFill>
                <a:latin typeface="Segoe UI"/>
              </a:rPr>
              <a:t> — giữ đơn </a:t>
            </a:r>
            <a:r>
              <a:rPr sz="1242" i="0" b="0">
                <a:solidFill>
                  <a:srgbClr val="1A365D"/>
                </a:solidFill>
                <a:latin typeface="Consolas"/>
              </a:rPr>
              <a:t>cancelled</a:t>
            </a:r>
            <a:r>
              <a:rPr sz="1350" i="0" b="0">
                <a:solidFill>
                  <a:srgbClr val="1A202C"/>
                </a:solidFill>
                <a:latin typeface="Segoe UI"/>
              </a:rPr>
              <a:t>.</a:t>
            </a:r>
          </a:p>
          <a:p>
            <a:pPr algn="l">
              <a:lnSpc>
                <a:spcPct val="125000"/>
              </a:lnSpc>
              <a:spcAft>
                <a:spcPts val="500"/>
              </a:spcAft>
            </a:pPr>
            <a:r>
              <a:rPr sz="1350" i="0" b="0">
                <a:solidFill>
                  <a:srgbClr val="1A202C"/>
                </a:solidFill>
                <a:latin typeface="Segoe UI"/>
              </a:rPr>
              <a:t>Hệ quả: cộng lại ra </a:t>
            </a:r>
            <a:r>
              <a:rPr sz="1350" i="0" b="1">
                <a:solidFill>
                  <a:srgbClr val="C53030"/>
                </a:solidFill>
                <a:latin typeface="Segoe UI"/>
              </a:rPr>
              <a:t>98,26%</a:t>
            </a:r>
            <a:r>
              <a:rPr sz="1350" i="0" b="0">
                <a:solidFill>
                  <a:srgbClr val="1A202C"/>
                </a:solidFill>
                <a:latin typeface="Segoe UI"/>
              </a:rPr>
              <a:t> thay vì 100%. Khách chỉ có đơn </a:t>
            </a:r>
            <a:r>
              <a:rPr sz="1242" i="0" b="0">
                <a:solidFill>
                  <a:srgbClr val="1A365D"/>
                </a:solidFill>
                <a:latin typeface="Consolas"/>
              </a:rPr>
              <a:t>cancelled</a:t>
            </a:r>
            <a:r>
              <a:rPr sz="1350" i="0" b="0">
                <a:solidFill>
                  <a:srgbClr val="1A202C"/>
                </a:solidFill>
                <a:latin typeface="Segoe UI"/>
              </a:rPr>
              <a:t> </a:t>
            </a:r>
            <a:r>
              <a:rPr sz="1350" i="0" b="1">
                <a:solidFill>
                  <a:srgbClr val="C53030"/>
                </a:solidFill>
                <a:latin typeface="Segoe UI"/>
              </a:rPr>
              <a:t>rơi mất</a:t>
            </a:r>
            <a:r>
              <a:rPr sz="1350" i="0" b="0">
                <a:solidFill>
                  <a:srgbClr val="1A202C"/>
                </a:solidFill>
                <a:latin typeface="Segoe UI"/>
              </a:rPr>
              <a:t>.</a:t>
            </a:r>
          </a:p>
          <a:p>
            <a:pPr algn="l">
              <a:lnSpc>
                <a:spcPct val="125000"/>
              </a:lnSpc>
              <a:spcAft>
                <a:spcPts val="500"/>
              </a:spcAft>
            </a:pPr>
            <a:r>
              <a:rPr sz="1350" i="0" b="0">
                <a:solidFill>
                  <a:srgbClr val="1A202C"/>
                </a:solidFill>
                <a:latin typeface="Segoe UI"/>
              </a:rPr>
              <a:t>Con số nhất quán là </a:t>
            </a:r>
            <a:r>
              <a:rPr sz="1350" i="0" b="1">
                <a:solidFill>
                  <a:srgbClr val="C53030"/>
                </a:solidFill>
                <a:latin typeface="Segoe UI"/>
              </a:rPr>
              <a:t>27,73%</a:t>
            </a:r>
            <a:r>
              <a:rPr sz="1350" i="0" b="0">
                <a:solidFill>
                  <a:srgbClr val="1A202C"/>
                </a:solidFill>
                <a:latin typeface="Segoe UI"/>
              </a:rPr>
              <a:t>, không phải 26,0%.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II · BTN2</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Mất khách, hay người ở lại mua thưa đi?</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Phân rã ba thành phần: số đơn = khách hoạt động × tần suất</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9</a:t>
            </a:r>
          </a:p>
        </p:txBody>
      </p:sp>
      <p:sp>
        <p:nvSpPr>
          <p:cNvPr id="8" name="Rounded Rectangle 7"/>
          <p:cNvSpPr/>
          <p:nvPr/>
        </p:nvSpPr>
        <p:spPr>
          <a:xfrm>
            <a:off x="685800" y="2176272"/>
            <a:ext cx="3471672" cy="1207008"/>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C53030"/>
                </a:solidFill>
                <a:latin typeface="Segoe UI"/>
              </a:rPr>
              <a:t>72,2%</a:t>
            </a:r>
          </a:p>
        </p:txBody>
      </p:sp>
      <p:sp>
        <p:nvSpPr>
          <p:cNvPr id="10" name="TextBox 9"/>
          <p:cNvSpPr txBox="1"/>
          <p:nvPr/>
        </p:nvSpPr>
        <p:spPr>
          <a:xfrm>
            <a:off x="850392" y="2907792"/>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do ÍT KHÁCH hơn</a:t>
            </a:r>
          </a:p>
        </p:txBody>
      </p:sp>
      <p:sp>
        <p:nvSpPr>
          <p:cNvPr id="11" name="Rounded Rectangle 10"/>
          <p:cNvSpPr/>
          <p:nvPr/>
        </p:nvSpPr>
        <p:spPr>
          <a:xfrm>
            <a:off x="4358640" y="2176272"/>
            <a:ext cx="3471672" cy="1207008"/>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323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B75309"/>
                </a:solidFill>
                <a:latin typeface="Segoe UI"/>
              </a:rPr>
              <a:t>45,2%</a:t>
            </a:r>
          </a:p>
        </p:txBody>
      </p:sp>
      <p:sp>
        <p:nvSpPr>
          <p:cNvPr id="13" name="TextBox 12"/>
          <p:cNvSpPr txBox="1"/>
          <p:nvPr/>
        </p:nvSpPr>
        <p:spPr>
          <a:xfrm>
            <a:off x="4523232" y="2907792"/>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do MUA THƯA hơn</a:t>
            </a:r>
          </a:p>
        </p:txBody>
      </p:sp>
      <p:sp>
        <p:nvSpPr>
          <p:cNvPr id="14" name="Rounded Rectangle 13"/>
          <p:cNvSpPr/>
          <p:nvPr/>
        </p:nvSpPr>
        <p:spPr>
          <a:xfrm>
            <a:off x="8031480" y="2176272"/>
            <a:ext cx="3471672" cy="1207008"/>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9607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5A6570"/>
                </a:solidFill>
                <a:latin typeface="Segoe UI"/>
              </a:rPr>
              <a:t>−17,4%</a:t>
            </a:r>
          </a:p>
        </p:txBody>
      </p:sp>
      <p:sp>
        <p:nvSpPr>
          <p:cNvPr id="16" name="TextBox 15"/>
          <p:cNvSpPr txBox="1"/>
          <p:nvPr/>
        </p:nvSpPr>
        <p:spPr>
          <a:xfrm>
            <a:off x="8196072" y="2907792"/>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số hạng tương tác</a:t>
            </a:r>
          </a:p>
        </p:txBody>
      </p:sp>
      <p:sp>
        <p:nvSpPr>
          <p:cNvPr id="17" name="TextBox 16"/>
          <p:cNvSpPr txBox="1"/>
          <p:nvPr/>
        </p:nvSpPr>
        <p:spPr>
          <a:xfrm>
            <a:off x="685800" y="3621024"/>
            <a:ext cx="10817352" cy="868680"/>
          </a:xfrm>
          <a:prstGeom prst="rect">
            <a:avLst/>
          </a:prstGeom>
          <a:noFill/>
        </p:spPr>
        <p:txBody>
          <a:bodyPr wrap="square" lIns="0" rIns="0" tIns="0" bIns="0" anchor="t">
            <a:spAutoFit/>
          </a:bodyPr>
          <a:lstStyle/>
          <a:p>
            <a:pPr algn="l">
              <a:lnSpc>
                <a:spcPct val="122000"/>
              </a:lnSpc>
              <a:spcAft>
                <a:spcPts val="800"/>
              </a:spcAft>
            </a:pPr>
            <a:r>
              <a:rPr sz="1500" i="0" b="0">
                <a:solidFill>
                  <a:srgbClr val="1A202C"/>
                </a:solidFill>
                <a:latin typeface="Segoe UI"/>
              </a:rPr>
              <a:t>Hai sự cố xảy ra </a:t>
            </a:r>
            <a:r>
              <a:rPr sz="1500" i="0" b="1">
                <a:solidFill>
                  <a:srgbClr val="1A365D"/>
                </a:solidFill>
                <a:latin typeface="Segoe UI"/>
              </a:rPr>
              <a:t>đồng thời</a:t>
            </a:r>
            <a:r>
              <a:rPr sz="1500" i="0" b="0">
                <a:solidFill>
                  <a:srgbClr val="1A202C"/>
                </a:solidFill>
                <a:latin typeface="Segoe UI"/>
              </a:rPr>
              <a:t> và </a:t>
            </a:r>
            <a:r>
              <a:rPr sz="1500" i="0" b="1">
                <a:solidFill>
                  <a:srgbClr val="1A365D"/>
                </a:solidFill>
                <a:latin typeface="Segoe UI"/>
              </a:rPr>
              <a:t>nhân lên nhau</a:t>
            </a:r>
            <a:r>
              <a:rPr sz="1500" i="0" b="0">
                <a:solidFill>
                  <a:srgbClr val="1A202C"/>
                </a:solidFill>
                <a:latin typeface="Segoe UI"/>
              </a:rPr>
              <a:t> — nên tổng ba phần vượt 100%, phần dôi bị số hạng tương tác kéo lại.</a:t>
            </a:r>
          </a:p>
          <a:p>
            <a:pPr algn="l">
              <a:lnSpc>
                <a:spcPct val="122000"/>
              </a:lnSpc>
              <a:spcAft>
                <a:spcPts val="800"/>
              </a:spcAft>
            </a:pPr>
            <a:r>
              <a:rPr sz="1500" i="0" b="1">
                <a:solidFill>
                  <a:srgbClr val="1A365D"/>
                </a:solidFill>
                <a:latin typeface="Segoe UI"/>
              </a:rPr>
              <a:t>Hệ quả thực hành:</a:t>
            </a:r>
            <a:r>
              <a:rPr sz="1500" i="0" b="0">
                <a:solidFill>
                  <a:srgbClr val="1A202C"/>
                </a:solidFill>
                <a:latin typeface="Segoe UI"/>
              </a:rPr>
              <a:t> sửa một trong hai không đủ. Giữ chân tốt hơn mà nền khách vẫn co thì doanh thu vẫn giảm.</a:t>
            </a:r>
          </a:p>
        </p:txBody>
      </p:sp>
      <p:sp>
        <p:nvSpPr>
          <p:cNvPr id="18" name="Rounded Rectangle 17"/>
          <p:cNvSpPr/>
          <p:nvPr/>
        </p:nvSpPr>
        <p:spPr>
          <a:xfrm>
            <a:off x="685800" y="4645152"/>
            <a:ext cx="10817352" cy="1261872"/>
          </a:xfrm>
          <a:prstGeom prst="roundRect">
            <a:avLst>
              <a:gd name="adj" fmla="val 6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645152"/>
            <a:ext cx="64008" cy="1261872"/>
          </a:xfrm>
          <a:prstGeom prst="rect">
            <a:avLst/>
          </a:prstGeom>
          <a:solidFill>
            <a:srgbClr val="B7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828032"/>
            <a:ext cx="10268712" cy="896111"/>
          </a:xfrm>
          <a:prstGeom prst="rect">
            <a:avLst/>
          </a:prstGeom>
          <a:noFill/>
        </p:spPr>
        <p:txBody>
          <a:bodyPr wrap="square" lIns="0" rIns="0" tIns="0" bIns="0" anchor="ctr">
            <a:spAutoFit/>
          </a:bodyPr>
          <a:lstStyle/>
          <a:p>
            <a:pPr algn="l">
              <a:lnSpc>
                <a:spcPct val="125000"/>
              </a:lnSpc>
              <a:spcAft>
                <a:spcPts val="500"/>
              </a:spcAft>
            </a:pPr>
            <a:r>
              <a:rPr sz="1350" i="0" b="0">
                <a:solidFill>
                  <a:srgbClr val="1A202C"/>
                </a:solidFill>
                <a:latin typeface="Segoe UI"/>
              </a:rPr>
              <a:t>⚠  Tự phản biện B6 — </a:t>
            </a:r>
            <a:r>
              <a:rPr sz="1350" i="0" b="1">
                <a:solidFill>
                  <a:srgbClr val="B75309"/>
                </a:solidFill>
                <a:latin typeface="Segoe UI"/>
              </a:rPr>
              <a:t>hai tầng dùng hai phương pháp phân rã khác nhau.</a:t>
            </a:r>
          </a:p>
          <a:p>
            <a:pPr algn="l">
              <a:lnSpc>
                <a:spcPct val="125000"/>
              </a:lnSpc>
              <a:spcAft>
                <a:spcPts val="500"/>
              </a:spcAft>
            </a:pPr>
            <a:r>
              <a:rPr sz="1350" i="0" b="0">
                <a:solidFill>
                  <a:srgbClr val="1A202C"/>
                </a:solidFill>
                <a:latin typeface="Segoe UI"/>
              </a:rPr>
              <a:t>Tầng này dùng phân rã </a:t>
            </a:r>
            <a:r>
              <a:rPr sz="1350" i="0" b="1">
                <a:solidFill>
                  <a:srgbClr val="B75309"/>
                </a:solidFill>
                <a:latin typeface="Segoe UI"/>
              </a:rPr>
              <a:t>số học</a:t>
            </a:r>
            <a:r>
              <a:rPr sz="1350" i="0" b="0">
                <a:solidFill>
                  <a:srgbClr val="1A202C"/>
                </a:solidFill>
                <a:latin typeface="Segoe UI"/>
              </a:rPr>
              <a:t> (có số hạng tương tác), tầng BTN3 dùng phân rã </a:t>
            </a:r>
            <a:r>
              <a:rPr sz="1350" i="0" b="1">
                <a:solidFill>
                  <a:srgbClr val="B75309"/>
                </a:solidFill>
                <a:latin typeface="Segoe UI"/>
              </a:rPr>
              <a:t>logarit</a:t>
            </a:r>
            <a:r>
              <a:rPr sz="1350" i="0" b="0">
                <a:solidFill>
                  <a:srgbClr val="1A202C"/>
                </a:solidFill>
                <a:latin typeface="Segoe UI"/>
              </a:rPr>
              <a:t> (không có). Tính lại BTN2 bằng logarit cho </a:t>
            </a:r>
            <a:r>
              <a:rPr sz="1350" i="0" b="1">
                <a:solidFill>
                  <a:srgbClr val="B75309"/>
                </a:solidFill>
                <a:latin typeface="Segoe UI"/>
              </a:rPr>
              <a:t>63,8% / 36,2%</a:t>
            </a:r>
            <a:r>
              <a:rPr sz="1350" i="0" b="0">
                <a:solidFill>
                  <a:srgbClr val="1A202C"/>
                </a:solidFill>
                <a:latin typeface="Segoe UI"/>
              </a:rPr>
              <a:t>.</a:t>
            </a:r>
          </a:p>
          <a:p>
            <a:pPr algn="l">
              <a:lnSpc>
                <a:spcPct val="125000"/>
              </a:lnSpc>
              <a:spcAft>
                <a:spcPts val="500"/>
              </a:spcAft>
            </a:pPr>
            <a:r>
              <a:rPr sz="1350" i="0" b="0">
                <a:solidFill>
                  <a:srgbClr val="1A202C"/>
                </a:solidFill>
                <a:latin typeface="Segoe UI"/>
              </a:rPr>
              <a:t>Thứ tự </a:t>
            </a:r>
            <a:r>
              <a:rPr sz="1350" i="0" b="1">
                <a:solidFill>
                  <a:srgbClr val="B75309"/>
                </a:solidFill>
                <a:latin typeface="Segoe UI"/>
              </a:rPr>
              <a:t>không đổi</a:t>
            </a:r>
            <a:r>
              <a:rPr sz="1350" i="0" b="0">
                <a:solidFill>
                  <a:srgbClr val="1A202C"/>
                </a:solidFill>
                <a:latin typeface="Segoe UI"/>
              </a:rPr>
              <a:t> — H1 vẫn đứng — nhưng tài liệu </a:t>
            </a:r>
            <a:r>
              <a:rPr sz="1350" i="0" b="1">
                <a:solidFill>
                  <a:srgbClr val="B75309"/>
                </a:solidFill>
                <a:latin typeface="Segoe UI"/>
              </a:rPr>
              <a:t>phải khai báo</a:t>
            </a:r>
            <a:r>
              <a:rPr sz="1350" i="0" b="0">
                <a:solidFill>
                  <a:srgbClr val="1A202C"/>
                </a:solidFill>
                <a:latin typeface="Segoe UI"/>
              </a:rPr>
              <a:t> dùng phương pháp nào.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II · BTN3</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Kích hoạt hỏng, hay chỉ là rổ khách đã cạn?</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Phân rã logarit  ln(Khách mới) = ln(Pool) + ln(Tỷ lệ hút)</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10</a:t>
            </a:r>
          </a:p>
        </p:txBody>
      </p:sp>
      <p:sp>
        <p:nvSpPr>
          <p:cNvPr id="8" name="TextBox 7"/>
          <p:cNvSpPr txBox="1"/>
          <p:nvPr/>
        </p:nvSpPr>
        <p:spPr>
          <a:xfrm>
            <a:off x="685800" y="2176272"/>
            <a:ext cx="10817352" cy="457200"/>
          </a:xfrm>
          <a:prstGeom prst="rect">
            <a:avLst/>
          </a:prstGeom>
          <a:noFill/>
        </p:spPr>
        <p:txBody>
          <a:bodyPr wrap="square" lIns="0" rIns="0" tIns="0" bIns="0" anchor="t">
            <a:spAutoFit/>
          </a:bodyPr>
          <a:lstStyle/>
          <a:p>
            <a:pPr algn="l">
              <a:lnSpc>
                <a:spcPct val="122000"/>
              </a:lnSpc>
              <a:spcAft>
                <a:spcPts val="0"/>
              </a:spcAft>
            </a:pPr>
            <a:r>
              <a:rPr sz="1334" i="0" b="0">
                <a:solidFill>
                  <a:srgbClr val="1A365D"/>
                </a:solidFill>
                <a:latin typeface="Consolas"/>
              </a:rPr>
              <a:t>customers.csv</a:t>
            </a:r>
            <a:r>
              <a:rPr sz="1450" i="0" b="0">
                <a:solidFill>
                  <a:srgbClr val="1A202C"/>
                </a:solidFill>
                <a:latin typeface="Segoe UI"/>
              </a:rPr>
              <a:t> là </a:t>
            </a:r>
            <a:r>
              <a:rPr sz="1450" i="0" b="1">
                <a:solidFill>
                  <a:srgbClr val="1A365D"/>
                </a:solidFill>
                <a:latin typeface="Segoe UI"/>
              </a:rPr>
              <a:t>danh sách đóng</a:t>
            </a:r>
            <a:r>
              <a:rPr sz="1450" i="0" b="0">
                <a:solidFill>
                  <a:srgbClr val="1A202C"/>
                </a:solidFill>
                <a:latin typeface="Segoe UI"/>
              </a:rPr>
              <a:t> 121.930 người. Rổ chưa mua chỉ co lại theo thời gian — nên "khách mới giảm" </a:t>
            </a:r>
            <a:r>
              <a:rPr sz="1450" i="0" b="1">
                <a:solidFill>
                  <a:srgbClr val="1A365D"/>
                </a:solidFill>
                <a:latin typeface="Segoe UI"/>
              </a:rPr>
              <a:t>trộn lẫn</a:t>
            </a:r>
            <a:r>
              <a:rPr sz="1450" i="0" b="0">
                <a:solidFill>
                  <a:srgbClr val="1A202C"/>
                </a:solidFill>
                <a:latin typeface="Segoe UI"/>
              </a:rPr>
              <a:t> hiệu ứng cơ học với tín hiệu thật. Phân rã logarit tách đôi.</a:t>
            </a:r>
          </a:p>
        </p:txBody>
      </p:sp>
      <p:sp>
        <p:nvSpPr>
          <p:cNvPr id="9" name="Rounded Rectangle 8"/>
          <p:cNvSpPr/>
          <p:nvPr/>
        </p:nvSpPr>
        <p:spPr>
          <a:xfrm>
            <a:off x="685800" y="2816352"/>
            <a:ext cx="3471672" cy="132588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297180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5A6570"/>
                </a:solidFill>
                <a:latin typeface="Segoe UI"/>
              </a:rPr>
              <a:t>36,4%</a:t>
            </a:r>
          </a:p>
        </p:txBody>
      </p:sp>
      <p:sp>
        <p:nvSpPr>
          <p:cNvPr id="11" name="TextBox 10"/>
          <p:cNvSpPr txBox="1"/>
          <p:nvPr/>
        </p:nvSpPr>
        <p:spPr>
          <a:xfrm>
            <a:off x="850392" y="3666744"/>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do RỔ CẠN
hiệu ứng cơ học</a:t>
            </a:r>
          </a:p>
        </p:txBody>
      </p:sp>
      <p:sp>
        <p:nvSpPr>
          <p:cNvPr id="12" name="Rounded Rectangle 11"/>
          <p:cNvSpPr/>
          <p:nvPr/>
        </p:nvSpPr>
        <p:spPr>
          <a:xfrm>
            <a:off x="4358640" y="2816352"/>
            <a:ext cx="3471672" cy="132588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3232" y="297180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C53030"/>
                </a:solidFill>
                <a:latin typeface="Segoe UI"/>
              </a:rPr>
              <a:t>63,6%</a:t>
            </a:r>
          </a:p>
        </p:txBody>
      </p:sp>
      <p:sp>
        <p:nvSpPr>
          <p:cNvPr id="14" name="TextBox 13"/>
          <p:cNvSpPr txBox="1"/>
          <p:nvPr/>
        </p:nvSpPr>
        <p:spPr>
          <a:xfrm>
            <a:off x="4523232" y="3666744"/>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do TỶ LỆ HÚT SỤP
tín hiệu thật</a:t>
            </a:r>
          </a:p>
        </p:txBody>
      </p:sp>
      <p:sp>
        <p:nvSpPr>
          <p:cNvPr id="15" name="Rounded Rectangle 14"/>
          <p:cNvSpPr/>
          <p:nvPr/>
        </p:nvSpPr>
        <p:spPr>
          <a:xfrm>
            <a:off x="8031480" y="2816352"/>
            <a:ext cx="3471672" cy="132588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6072" y="2971800"/>
            <a:ext cx="3142488" cy="548640"/>
          </a:xfrm>
          <a:prstGeom prst="rect">
            <a:avLst/>
          </a:prstGeom>
          <a:noFill/>
        </p:spPr>
        <p:txBody>
          <a:bodyPr wrap="square" lIns="0" rIns="0" tIns="0" bIns="0" anchor="t">
            <a:spAutoFit/>
          </a:bodyPr>
          <a:lstStyle/>
          <a:p>
            <a:pPr algn="ctr">
              <a:lnSpc>
                <a:spcPct val="122000"/>
              </a:lnSpc>
              <a:spcAft>
                <a:spcPts val="0"/>
              </a:spcAft>
            </a:pPr>
            <a:r>
              <a:rPr sz="2500" i="0" b="1">
                <a:solidFill>
                  <a:srgbClr val="C53030"/>
                </a:solidFill>
                <a:latin typeface="Segoe UI"/>
              </a:rPr>
              <a:t>24,09% → 3,78%</a:t>
            </a:r>
          </a:p>
        </p:txBody>
      </p:sp>
      <p:sp>
        <p:nvSpPr>
          <p:cNvPr id="17" name="TextBox 16"/>
          <p:cNvSpPr txBox="1"/>
          <p:nvPr/>
        </p:nvSpPr>
        <p:spPr>
          <a:xfrm>
            <a:off x="8196072" y="3666744"/>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Tỷ lệ hút từ pool
2013 → 2022</a:t>
            </a:r>
          </a:p>
        </p:txBody>
      </p:sp>
      <p:sp>
        <p:nvSpPr>
          <p:cNvPr id="18" name="Rounded Rectangle 17"/>
          <p:cNvSpPr/>
          <p:nvPr/>
        </p:nvSpPr>
        <p:spPr>
          <a:xfrm>
            <a:off x="685800" y="4352544"/>
            <a:ext cx="10817352" cy="1572768"/>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352544"/>
            <a:ext cx="64008" cy="1572768"/>
          </a:xfrm>
          <a:prstGeom prst="rect">
            <a:avLst/>
          </a:prstGeom>
          <a:solidFill>
            <a:srgbClr val="C5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535424"/>
            <a:ext cx="10268712" cy="1207007"/>
          </a:xfrm>
          <a:prstGeom prst="rect">
            <a:avLst/>
          </a:prstGeom>
          <a:noFill/>
        </p:spPr>
        <p:txBody>
          <a:bodyPr wrap="square" lIns="0" rIns="0" tIns="0" bIns="0" anchor="ctr">
            <a:spAutoFit/>
          </a:bodyPr>
          <a:lstStyle/>
          <a:p>
            <a:pPr algn="l">
              <a:lnSpc>
                <a:spcPct val="125000"/>
              </a:lnSpc>
              <a:spcAft>
                <a:spcPts val="500"/>
              </a:spcAft>
            </a:pPr>
            <a:r>
              <a:rPr sz="1350" i="0" b="0">
                <a:solidFill>
                  <a:srgbClr val="1A202C"/>
                </a:solidFill>
                <a:latin typeface="Segoe UI"/>
              </a:rPr>
              <a:t>✖  Tự phản biện B1 — </a:t>
            </a:r>
            <a:r>
              <a:rPr sz="1350" i="0" b="1">
                <a:solidFill>
                  <a:srgbClr val="C53030"/>
                </a:solidFill>
                <a:latin typeface="Segoe UI"/>
              </a:rPr>
              <a:t>tài liệu ghi 26,9% / 73,1%, con số đó SAI.</a:t>
            </a:r>
          </a:p>
          <a:p>
            <a:pPr algn="l">
              <a:lnSpc>
                <a:spcPct val="125000"/>
              </a:lnSpc>
              <a:spcAft>
                <a:spcPts val="500"/>
              </a:spcAft>
            </a:pPr>
            <a:r>
              <a:rPr sz="1350" i="0" b="0">
                <a:solidFill>
                  <a:srgbClr val="1A202C"/>
                </a:solidFill>
                <a:latin typeface="Segoe UI"/>
              </a:rPr>
              <a:t>Vòng lặp tính Pool gán giá trị </a:t>
            </a:r>
            <a:r>
              <a:rPr sz="1350" i="0" b="1">
                <a:solidFill>
                  <a:srgbClr val="C53030"/>
                </a:solidFill>
                <a:latin typeface="Segoe UI"/>
              </a:rPr>
              <a:t>trước khi trừ</a:t>
            </a:r>
            <a:r>
              <a:rPr sz="1350" i="0" b="0">
                <a:solidFill>
                  <a:srgbClr val="1A202C"/>
                </a:solidFill>
                <a:latin typeface="Segoe UI"/>
              </a:rPr>
              <a:t> và bắt đầu từ năm 2013, làm </a:t>
            </a:r>
            <a:r>
              <a:rPr sz="1350" i="0" b="1">
                <a:solidFill>
                  <a:srgbClr val="C53030"/>
                </a:solidFill>
                <a:latin typeface="Segoe UI"/>
              </a:rPr>
              <a:t>rơi mất toàn bộ cohort 2012</a:t>
            </a:r>
            <a:r>
              <a:rPr sz="1350" i="0" b="0">
                <a:solidFill>
                  <a:srgbClr val="1A202C"/>
                </a:solidFill>
                <a:latin typeface="Segoe UI"/>
              </a:rPr>
              <a:t>. Tính lại đúng: </a:t>
            </a:r>
            <a:r>
              <a:rPr sz="1350" i="0" b="1">
                <a:solidFill>
                  <a:srgbClr val="C53030"/>
                </a:solidFill>
                <a:latin typeface="Segoe UI"/>
              </a:rPr>
              <a:t>36,4% / 63,6%</a:t>
            </a:r>
            <a:r>
              <a:rPr sz="1350" i="0" b="0">
                <a:solidFill>
                  <a:srgbClr val="1A202C"/>
                </a:solidFill>
                <a:latin typeface="Segoe UI"/>
              </a:rPr>
              <a:t>.</a:t>
            </a:r>
          </a:p>
          <a:p>
            <a:pPr algn="l">
              <a:lnSpc>
                <a:spcPct val="125000"/>
              </a:lnSpc>
              <a:spcAft>
                <a:spcPts val="500"/>
              </a:spcAft>
            </a:pPr>
            <a:r>
              <a:rPr sz="1350" i="0" b="1">
                <a:solidFill>
                  <a:srgbClr val="C53030"/>
                </a:solidFill>
                <a:latin typeface="Segoe UI"/>
              </a:rPr>
              <a:t>Kết luận không đổi</a:t>
            </a:r>
            <a:r>
              <a:rPr sz="1350" i="0" b="0">
                <a:solidFill>
                  <a:srgbClr val="1A202C"/>
                </a:solidFill>
                <a:latin typeface="Segoe UI"/>
              </a:rPr>
              <a:t> — tỷ lệ hút vẫn là nguyên nhân chính — nhưng rổ cạn nặng hơn tài liệu thừa nhận gần </a:t>
            </a:r>
            <a:r>
              <a:rPr sz="1350" i="0" b="1">
                <a:solidFill>
                  <a:srgbClr val="C53030"/>
                </a:solidFill>
                <a:latin typeface="Segoe UI"/>
              </a:rPr>
              <a:t>10 điểm phần trăm</a:t>
            </a:r>
            <a:r>
              <a:rPr sz="1350" i="0" b="0">
                <a:solidFill>
                  <a:srgbClr val="1A202C"/>
                </a:solidFill>
                <a:latin typeface="Segoe UI"/>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II · BTN4 ★ TRỌNG TÂM</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Cơ chế ở đơn hàng đầu tiên</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Mô hình Cox proportional hazards · 84.566 khách · 74,1% có sự kiện · trung vị 312 ngày</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11</a:t>
            </a:r>
          </a:p>
        </p:txBody>
      </p:sp>
      <p:graphicFrame>
        <p:nvGraphicFramePr>
          <p:cNvPr id="8" name="Table 7"/>
          <p:cNvGraphicFramePr>
            <a:graphicFrameLocks noGrp="1"/>
          </p:cNvGraphicFramePr>
          <p:nvPr/>
        </p:nvGraphicFramePr>
        <p:xfrm>
          <a:off x="685800" y="2176272"/>
          <a:ext cx="10817352" cy="2249424"/>
        </p:xfrm>
        <a:graphic>
          <a:graphicData uri="http://schemas.openxmlformats.org/drawingml/2006/table">
            <a:tbl>
              <a:tblPr>
                <a:tableStyleId>{2D5ABB26-0587-4C30-8999-92F81FD0307C}</a:tableStyleId>
              </a:tblPr>
              <a:tblGrid>
                <a:gridCol w="3017520"/>
                <a:gridCol w="1097280"/>
                <a:gridCol w="1005840"/>
                <a:gridCol w="5696712"/>
              </a:tblGrid>
              <a:tr h="329184">
                <a:tc>
                  <a:txBody>
                    <a:bodyPr wrap="square"/>
                    <a:lstStyle/>
                    <a:p>
                      <a:pPr algn="l">
                        <a:lnSpc>
                          <a:spcPct val="108000"/>
                        </a:lnSpc>
                      </a:pPr>
                      <a:r>
                        <a:rPr sz="1150" i="0" b="1">
                          <a:solidFill>
                            <a:srgbClr val="FFFFFF"/>
                          </a:solidFill>
                          <a:latin typeface="Segoe UI"/>
                        </a:rPr>
                        <a:t>Biến ở đơn đầu</a:t>
                      </a:r>
                    </a:p>
                  </a:txBody>
                  <a:tcPr marL="91440" marR="91440" marT="27432" marB="27432" anchor="ctr">
                    <a:solidFill>
                      <a:srgbClr val="2B6CB0"/>
                    </a:solidFill>
                  </a:tcPr>
                </a:tc>
                <a:tc>
                  <a:txBody>
                    <a:bodyPr wrap="square"/>
                    <a:lstStyle/>
                    <a:p>
                      <a:pPr algn="ctr">
                        <a:lnSpc>
                          <a:spcPct val="108000"/>
                        </a:lnSpc>
                      </a:pPr>
                      <a:r>
                        <a:rPr sz="1150" i="0" b="1">
                          <a:solidFill>
                            <a:srgbClr val="FFFFFF"/>
                          </a:solidFill>
                          <a:latin typeface="Segoe UI"/>
                        </a:rPr>
                        <a:t>HR</a:t>
                      </a:r>
                    </a:p>
                  </a:txBody>
                  <a:tcPr marL="91440" marR="91440" marT="27432" marB="27432" anchor="ctr">
                    <a:solidFill>
                      <a:srgbClr val="2B6CB0"/>
                    </a:solidFill>
                  </a:tcPr>
                </a:tc>
                <a:tc>
                  <a:txBody>
                    <a:bodyPr wrap="square"/>
                    <a:lstStyle/>
                    <a:p>
                      <a:pPr algn="ctr">
                        <a:lnSpc>
                          <a:spcPct val="108000"/>
                        </a:lnSpc>
                      </a:pPr>
                      <a:r>
                        <a:rPr sz="1150" i="0" b="1">
                          <a:solidFill>
                            <a:srgbClr val="FFFFFF"/>
                          </a:solidFill>
                          <a:latin typeface="Segoe UI"/>
                        </a:rPr>
                        <a:t>p</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Đọc thế nào</a:t>
                      </a:r>
                    </a:p>
                  </a:txBody>
                  <a:tcPr marL="91440" marR="91440" marT="27432" marB="27432" anchor="ctr">
                    <a:solidFill>
                      <a:srgbClr val="2B6CB0"/>
                    </a:solidFill>
                  </a:tcPr>
                </a:tc>
              </a:tr>
              <a:tr h="384048">
                <a:tc>
                  <a:txBody>
                    <a:bodyPr wrap="square"/>
                    <a:lstStyle/>
                    <a:p>
                      <a:pPr algn="l">
                        <a:lnSpc>
                          <a:spcPct val="108000"/>
                        </a:lnSpc>
                      </a:pPr>
                      <a:r>
                        <a:rPr sz="1150" i="0" b="0">
                          <a:solidFill>
                            <a:srgbClr val="1A365D"/>
                          </a:solidFill>
                          <a:latin typeface="Consolas"/>
                        </a:rPr>
                        <a:t>cohort_year</a:t>
                      </a:r>
                      <a:r>
                        <a:rPr sz="1250" i="0" b="0">
                          <a:solidFill>
                            <a:srgbClr val="1A202C"/>
                          </a:solidFill>
                          <a:latin typeface="Segoe UI"/>
                        </a:rPr>
                        <a:t> — năm gia nhập</a:t>
                      </a:r>
                    </a:p>
                  </a:txBody>
                  <a:tcPr marL="91440" marR="91440" marT="27432" marB="27432" anchor="ctr">
                    <a:solidFill>
                      <a:srgbClr val="FFFFFF"/>
                    </a:solidFill>
                  </a:tcPr>
                </a:tc>
                <a:tc>
                  <a:txBody>
                    <a:bodyPr wrap="square"/>
                    <a:lstStyle/>
                    <a:p>
                      <a:pPr algn="ctr">
                        <a:lnSpc>
                          <a:spcPct val="108000"/>
                        </a:lnSpc>
                      </a:pPr>
                      <a:r>
                        <a:rPr sz="1250" i="0" b="0">
                          <a:solidFill>
                            <a:srgbClr val="1A202C"/>
                          </a:solidFill>
                          <a:latin typeface="Segoe UI"/>
                        </a:rPr>
                        <a:t>0,7478</a:t>
                      </a:r>
                    </a:p>
                  </a:txBody>
                  <a:tcPr marL="91440" marR="91440" marT="27432" marB="27432" anchor="ctr">
                    <a:solidFill>
                      <a:srgbClr val="FFFFFF"/>
                    </a:solidFill>
                  </a:tcPr>
                </a:tc>
                <a:tc>
                  <a:txBody>
                    <a:bodyPr wrap="square"/>
                    <a:lstStyle/>
                    <a:p>
                      <a:pPr algn="ctr">
                        <a:lnSpc>
                          <a:spcPct val="108000"/>
                        </a:lnSpc>
                      </a:pPr>
                      <a:r>
                        <a:rPr sz="1250" i="0" b="0">
                          <a:solidFill>
                            <a:srgbClr val="1A202C"/>
                          </a:solidFill>
                          <a:latin typeface="Segoe UI"/>
                        </a:rPr>
                        <a:t>&lt; 0,001</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Mỗi năm gia nhập muộn hơn → quay lại chậm hơn 25%</a:t>
                      </a:r>
                    </a:p>
                  </a:txBody>
                  <a:tcPr marL="91440" marR="91440" marT="27432" marB="27432" anchor="ctr">
                    <a:solidFill>
                      <a:srgbClr val="FFFFFF"/>
                    </a:solidFill>
                  </a:tcPr>
                </a:tc>
              </a:tr>
              <a:tr h="384048">
                <a:tc>
                  <a:txBody>
                    <a:bodyPr wrap="square"/>
                    <a:lstStyle/>
                    <a:p>
                      <a:pPr algn="l">
                        <a:lnSpc>
                          <a:spcPct val="108000"/>
                        </a:lnSpc>
                      </a:pPr>
                      <a:r>
                        <a:rPr sz="1150" i="0" b="0">
                          <a:solidFill>
                            <a:srgbClr val="1A365D"/>
                          </a:solidFill>
                          <a:latin typeface="Consolas"/>
                        </a:rPr>
                        <a:t>promo_first</a:t>
                      </a:r>
                      <a:r>
                        <a:rPr sz="1250" i="0" b="0">
                          <a:solidFill>
                            <a:srgbClr val="1A202C"/>
                          </a:solidFill>
                          <a:latin typeface="Segoe UI"/>
                        </a:rPr>
                        <a:t> — có khuyến mãi</a:t>
                      </a:r>
                    </a:p>
                  </a:txBody>
                  <a:tcPr marL="91440" marR="91440" marT="27432" marB="27432" anchor="ctr">
                    <a:solidFill>
                      <a:srgbClr val="F1F5F9"/>
                    </a:solidFill>
                  </a:tcPr>
                </a:tc>
                <a:tc>
                  <a:txBody>
                    <a:bodyPr wrap="square"/>
                    <a:lstStyle/>
                    <a:p>
                      <a:pPr algn="ctr">
                        <a:lnSpc>
                          <a:spcPct val="108000"/>
                        </a:lnSpc>
                      </a:pPr>
                      <a:r>
                        <a:rPr sz="1250" i="0" b="0">
                          <a:solidFill>
                            <a:srgbClr val="1A202C"/>
                          </a:solidFill>
                          <a:latin typeface="Segoe UI"/>
                        </a:rPr>
                        <a:t>0,948</a:t>
                      </a:r>
                    </a:p>
                  </a:txBody>
                  <a:tcPr marL="91440" marR="91440" marT="27432" marB="27432" anchor="ctr">
                    <a:solidFill>
                      <a:srgbClr val="F1F5F9"/>
                    </a:solidFill>
                  </a:tcPr>
                </a:tc>
                <a:tc>
                  <a:txBody>
                    <a:bodyPr wrap="square"/>
                    <a:lstStyle/>
                    <a:p>
                      <a:pPr algn="ctr">
                        <a:lnSpc>
                          <a:spcPct val="108000"/>
                        </a:lnSpc>
                      </a:pPr>
                      <a:r>
                        <a:rPr sz="1250" i="0" b="0">
                          <a:solidFill>
                            <a:srgbClr val="1A202C"/>
                          </a:solidFill>
                          <a:latin typeface="Segoe UI"/>
                        </a:rPr>
                        <a:t>&lt; 0,001</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Chậm hơn ~5,2% sau khi kiểm soát — nhỏ</a:t>
                      </a:r>
                    </a:p>
                  </a:txBody>
                  <a:tcPr marL="91440" marR="91440" marT="27432" marB="27432" anchor="ctr">
                    <a:solidFill>
                      <a:srgbClr val="F1F5F9"/>
                    </a:solidFill>
                  </a:tcPr>
                </a:tc>
              </a:tr>
              <a:tr h="384048">
                <a:tc>
                  <a:txBody>
                    <a:bodyPr wrap="square"/>
                    <a:lstStyle/>
                    <a:p>
                      <a:pPr algn="l">
                        <a:lnSpc>
                          <a:spcPct val="108000"/>
                        </a:lnSpc>
                      </a:pPr>
                      <a:r>
                        <a:rPr sz="1150" i="0" b="0">
                          <a:solidFill>
                            <a:srgbClr val="1A365D"/>
                          </a:solidFill>
                          <a:latin typeface="Consolas"/>
                        </a:rPr>
                        <a:t>log_aov</a:t>
                      </a:r>
                      <a:r>
                        <a:rPr sz="1250" i="0" b="0">
                          <a:solidFill>
                            <a:srgbClr val="1A202C"/>
                          </a:solidFill>
                          <a:latin typeface="Segoe UI"/>
                        </a:rPr>
                        <a:t> — giá trị đơn đầu</a:t>
                      </a:r>
                    </a:p>
                  </a:txBody>
                  <a:tcPr marL="91440" marR="91440" marT="27432" marB="27432" anchor="ctr">
                    <a:solidFill>
                      <a:srgbClr val="FFFFFF"/>
                    </a:solidFill>
                  </a:tcPr>
                </a:tc>
                <a:tc>
                  <a:txBody>
                    <a:bodyPr wrap="square"/>
                    <a:lstStyle/>
                    <a:p>
                      <a:pPr algn="ctr">
                        <a:lnSpc>
                          <a:spcPct val="108000"/>
                        </a:lnSpc>
                      </a:pPr>
                      <a:r>
                        <a:rPr sz="1250" i="0" b="0">
                          <a:solidFill>
                            <a:srgbClr val="1A202C"/>
                          </a:solidFill>
                          <a:latin typeface="Segoe UI"/>
                        </a:rPr>
                        <a:t>—</a:t>
                      </a:r>
                    </a:p>
                  </a:txBody>
                  <a:tcPr marL="91440" marR="91440" marT="27432" marB="27432" anchor="ctr">
                    <a:solidFill>
                      <a:srgbClr val="FFFFFF"/>
                    </a:solidFill>
                  </a:tcPr>
                </a:tc>
                <a:tc>
                  <a:txBody>
                    <a:bodyPr wrap="square"/>
                    <a:lstStyle/>
                    <a:p>
                      <a:pPr algn="ctr">
                        <a:lnSpc>
                          <a:spcPct val="108000"/>
                        </a:lnSpc>
                      </a:pPr>
                      <a:r>
                        <a:rPr sz="1250" i="0" b="0">
                          <a:solidFill>
                            <a:srgbClr val="1A202C"/>
                          </a:solidFill>
                          <a:latin typeface="Segoe UI"/>
                        </a:rPr>
                        <a:t>&lt; 0,001</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Có ý nghĩa nhưng VI PHẠM giả định Cox</a:t>
                      </a:r>
                    </a:p>
                  </a:txBody>
                  <a:tcPr marL="91440" marR="91440" marT="27432" marB="27432" anchor="ctr">
                    <a:solidFill>
                      <a:srgbClr val="FFFFFF"/>
                    </a:solidFill>
                  </a:tcPr>
                </a:tc>
              </a:tr>
              <a:tr h="384048">
                <a:tc>
                  <a:txBody>
                    <a:bodyPr wrap="square"/>
                    <a:lstStyle/>
                    <a:p>
                      <a:pPr algn="l">
                        <a:lnSpc>
                          <a:spcPct val="108000"/>
                        </a:lnSpc>
                      </a:pPr>
                      <a:r>
                        <a:rPr sz="1150" i="0" b="0">
                          <a:solidFill>
                            <a:srgbClr val="1A365D"/>
                          </a:solidFill>
                          <a:latin typeface="Consolas"/>
                        </a:rPr>
                        <a:t>delivery_days</a:t>
                      </a:r>
                      <a:r>
                        <a:rPr sz="1250" i="0" b="0">
                          <a:solidFill>
                            <a:srgbClr val="1A202C"/>
                          </a:solidFill>
                          <a:latin typeface="Segoe UI"/>
                        </a:rPr>
                        <a:t> — giao chậm</a:t>
                      </a:r>
                    </a:p>
                  </a:txBody>
                  <a:tcPr marL="91440" marR="91440" marT="27432" marB="27432" anchor="ctr">
                    <a:solidFill>
                      <a:srgbClr val="F1F5F9"/>
                    </a:solidFill>
                  </a:tcPr>
                </a:tc>
                <a:tc>
                  <a:txBody>
                    <a:bodyPr wrap="square"/>
                    <a:lstStyle/>
                    <a:p>
                      <a:pPr algn="ctr">
                        <a:lnSpc>
                          <a:spcPct val="108000"/>
                        </a:lnSpc>
                      </a:pPr>
                      <a:r>
                        <a:rPr sz="1250" i="0" b="0">
                          <a:solidFill>
                            <a:srgbClr val="1A202C"/>
                          </a:solidFill>
                          <a:latin typeface="Segoe UI"/>
                        </a:rPr>
                        <a:t>≈ 1,00</a:t>
                      </a:r>
                    </a:p>
                  </a:txBody>
                  <a:tcPr marL="91440" marR="91440" marT="27432" marB="27432" anchor="ctr">
                    <a:solidFill>
                      <a:srgbClr val="F1F5F9"/>
                    </a:solidFill>
                  </a:tcPr>
                </a:tc>
                <a:tc>
                  <a:txBody>
                    <a:bodyPr wrap="square"/>
                    <a:lstStyle/>
                    <a:p>
                      <a:pPr algn="ctr">
                        <a:lnSpc>
                          <a:spcPct val="108000"/>
                        </a:lnSpc>
                      </a:pPr>
                      <a:r>
                        <a:rPr sz="1250" i="0" b="0">
                          <a:solidFill>
                            <a:srgbClr val="1A202C"/>
                          </a:solidFill>
                          <a:latin typeface="Segoe UI"/>
                        </a:rPr>
                        <a:t>0,303</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Không có tín hiệu</a:t>
                      </a:r>
                    </a:p>
                  </a:txBody>
                  <a:tcPr marL="91440" marR="91440" marT="27432" marB="27432" anchor="ctr">
                    <a:solidFill>
                      <a:srgbClr val="F1F5F9"/>
                    </a:solidFill>
                  </a:tcPr>
                </a:tc>
              </a:tr>
              <a:tr h="384048">
                <a:tc>
                  <a:txBody>
                    <a:bodyPr wrap="square"/>
                    <a:lstStyle/>
                    <a:p>
                      <a:pPr algn="l">
                        <a:lnSpc>
                          <a:spcPct val="108000"/>
                        </a:lnSpc>
                      </a:pPr>
                      <a:r>
                        <a:rPr sz="1150" i="0" b="0">
                          <a:solidFill>
                            <a:srgbClr val="1A365D"/>
                          </a:solidFill>
                          <a:latin typeface="Consolas"/>
                        </a:rPr>
                        <a:t>returned_first</a:t>
                      </a:r>
                      <a:r>
                        <a:rPr sz="1250" i="0" b="0">
                          <a:solidFill>
                            <a:srgbClr val="1A202C"/>
                          </a:solidFill>
                          <a:latin typeface="Segoe UI"/>
                        </a:rPr>
                        <a:t> — trả hàng</a:t>
                      </a:r>
                    </a:p>
                  </a:txBody>
                  <a:tcPr marL="91440" marR="91440" marT="27432" marB="27432" anchor="ctr">
                    <a:solidFill>
                      <a:srgbClr val="FFFFFF"/>
                    </a:solidFill>
                  </a:tcPr>
                </a:tc>
                <a:tc>
                  <a:txBody>
                    <a:bodyPr wrap="square"/>
                    <a:lstStyle/>
                    <a:p>
                      <a:pPr algn="ctr">
                        <a:lnSpc>
                          <a:spcPct val="108000"/>
                        </a:lnSpc>
                      </a:pPr>
                      <a:r>
                        <a:rPr sz="1250" i="0" b="0">
                          <a:solidFill>
                            <a:srgbClr val="1A202C"/>
                          </a:solidFill>
                          <a:latin typeface="Segoe UI"/>
                        </a:rPr>
                        <a:t>≈ 1,00</a:t>
                      </a:r>
                    </a:p>
                  </a:txBody>
                  <a:tcPr marL="91440" marR="91440" marT="27432" marB="27432" anchor="ctr">
                    <a:solidFill>
                      <a:srgbClr val="FFFFFF"/>
                    </a:solidFill>
                  </a:tcPr>
                </a:tc>
                <a:tc>
                  <a:txBody>
                    <a:bodyPr wrap="square"/>
                    <a:lstStyle/>
                    <a:p>
                      <a:pPr algn="ctr">
                        <a:lnSpc>
                          <a:spcPct val="108000"/>
                        </a:lnSpc>
                      </a:pPr>
                      <a:r>
                        <a:rPr sz="1250" i="0" b="0">
                          <a:solidFill>
                            <a:srgbClr val="1A202C"/>
                          </a:solidFill>
                          <a:latin typeface="Segoe UI"/>
                        </a:rPr>
                        <a:t>0,161</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Không có tín hiệu</a:t>
                      </a:r>
                    </a:p>
                  </a:txBody>
                  <a:tcPr marL="91440" marR="91440" marT="27432" marB="27432" anchor="ctr">
                    <a:solidFill>
                      <a:srgbClr val="FFFFFF"/>
                    </a:solidFill>
                  </a:tcPr>
                </a:tc>
              </a:tr>
            </a:tbl>
          </a:graphicData>
        </a:graphic>
      </p:graphicFrame>
      <p:sp>
        <p:nvSpPr>
          <p:cNvPr id="9" name="Rounded Rectangle 8"/>
          <p:cNvSpPr/>
          <p:nvPr/>
        </p:nvSpPr>
        <p:spPr>
          <a:xfrm>
            <a:off x="685800" y="4462272"/>
            <a:ext cx="10817352" cy="1444752"/>
          </a:xfrm>
          <a:prstGeom prst="roundRect">
            <a:avLst>
              <a:gd name="adj" fmla="val 6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4462272"/>
            <a:ext cx="64008" cy="1444752"/>
          </a:xfrm>
          <a:prstGeom prst="rect">
            <a:avLst/>
          </a:prstGeom>
          <a:solidFill>
            <a:srgbClr val="B7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645152"/>
            <a:ext cx="10268712" cy="1078992"/>
          </a:xfrm>
          <a:prstGeom prst="rect">
            <a:avLst/>
          </a:prstGeom>
          <a:noFill/>
        </p:spPr>
        <p:txBody>
          <a:bodyPr wrap="square" lIns="0" rIns="0" tIns="0" bIns="0" anchor="ctr">
            <a:spAutoFit/>
          </a:bodyPr>
          <a:lstStyle/>
          <a:p>
            <a:pPr algn="l">
              <a:lnSpc>
                <a:spcPct val="125000"/>
              </a:lnSpc>
              <a:spcAft>
                <a:spcPts val="500"/>
              </a:spcAft>
            </a:pPr>
            <a:r>
              <a:rPr sz="1350" i="0" b="0">
                <a:solidFill>
                  <a:srgbClr val="1A202C"/>
                </a:solidFill>
                <a:latin typeface="Segoe UI"/>
              </a:rPr>
              <a:t>⚠  Tự phản biện A8 — </a:t>
            </a:r>
            <a:r>
              <a:rPr sz="1350" i="0" b="1">
                <a:solidFill>
                  <a:srgbClr val="B75309"/>
                </a:solidFill>
                <a:latin typeface="Segoe UI"/>
              </a:rPr>
              <a:t>concordance = 0,653</a:t>
            </a:r>
            <a:r>
              <a:rPr sz="1350" i="0" b="0">
                <a:solidFill>
                  <a:srgbClr val="1A202C"/>
                </a:solidFill>
                <a:latin typeface="Segoe UI"/>
              </a:rPr>
              <a:t>.</a:t>
            </a:r>
          </a:p>
          <a:p>
            <a:pPr algn="l">
              <a:lnSpc>
                <a:spcPct val="125000"/>
              </a:lnSpc>
              <a:spcAft>
                <a:spcPts val="500"/>
              </a:spcAft>
            </a:pPr>
            <a:r>
              <a:rPr sz="1350" i="0" b="0">
                <a:solidFill>
                  <a:srgbClr val="1A202C"/>
                </a:solidFill>
                <a:latin typeface="Segoe UI"/>
              </a:rPr>
              <a:t>Đoán mò hoàn toàn cho 0,50. Mô hình chỉ hơn đoán mò </a:t>
            </a:r>
            <a:r>
              <a:rPr sz="1350" i="0" b="1">
                <a:solidFill>
                  <a:srgbClr val="B75309"/>
                </a:solidFill>
                <a:latin typeface="Segoe UI"/>
              </a:rPr>
              <a:t>15 điểm</a:t>
            </a:r>
            <a:r>
              <a:rPr sz="1350" i="0" b="0">
                <a:solidFill>
                  <a:srgbClr val="1A202C"/>
                </a:solidFill>
                <a:latin typeface="Segoe UI"/>
              </a:rPr>
              <a:t> — đủ để nói về </a:t>
            </a:r>
            <a:r>
              <a:rPr sz="1350" i="0" b="1">
                <a:solidFill>
                  <a:srgbClr val="B75309"/>
                </a:solidFill>
                <a:latin typeface="Segoe UI"/>
              </a:rPr>
              <a:t>cơ chế và thứ tự quan trọng</a:t>
            </a:r>
            <a:r>
              <a:rPr sz="1350" i="0" b="0">
                <a:solidFill>
                  <a:srgbClr val="1A202C"/>
                </a:solidFill>
                <a:latin typeface="Segoe UI"/>
              </a:rPr>
              <a:t>, nhưng </a:t>
            </a:r>
            <a:r>
              <a:rPr sz="1350" i="0" b="1">
                <a:solidFill>
                  <a:srgbClr val="B75309"/>
                </a:solidFill>
                <a:latin typeface="Segoe UI"/>
              </a:rPr>
              <a:t>không nên gọi là "mô hình dự đoán"</a:t>
            </a:r>
            <a:r>
              <a:rPr sz="1350" i="0" b="0">
                <a:solidFill>
                  <a:srgbClr val="1A202C"/>
                </a:solidFill>
                <a:latin typeface="Segoe UI"/>
              </a:rPr>
              <a:t>.</a:t>
            </a:r>
          </a:p>
          <a:p>
            <a:pPr algn="l">
              <a:lnSpc>
                <a:spcPct val="125000"/>
              </a:lnSpc>
              <a:spcAft>
                <a:spcPts val="500"/>
              </a:spcAft>
            </a:pPr>
            <a:r>
              <a:rPr sz="1350" i="0" b="0">
                <a:solidFill>
                  <a:srgbClr val="1A202C"/>
                </a:solidFill>
                <a:latin typeface="Segoe UI"/>
              </a:rPr>
              <a:t>Schoenfeld: </a:t>
            </a:r>
            <a:r>
              <a:rPr sz="1242" i="0" b="0">
                <a:solidFill>
                  <a:srgbClr val="1A365D"/>
                </a:solidFill>
                <a:latin typeface="Consolas"/>
              </a:rPr>
              <a:t>log_aov</a:t>
            </a:r>
            <a:r>
              <a:rPr sz="1350" i="0" b="0">
                <a:solidFill>
                  <a:srgbClr val="1A202C"/>
                </a:solidFill>
                <a:latin typeface="Segoe UI"/>
              </a:rPr>
              <a:t> và </a:t>
            </a:r>
            <a:r>
              <a:rPr sz="1242" i="0" b="0">
                <a:solidFill>
                  <a:srgbClr val="1A365D"/>
                </a:solidFill>
                <a:latin typeface="Consolas"/>
              </a:rPr>
              <a:t>category_Outdoor</a:t>
            </a:r>
            <a:r>
              <a:rPr sz="1350" i="0" b="0">
                <a:solidFill>
                  <a:srgbClr val="1A202C"/>
                </a:solidFill>
                <a:latin typeface="Segoe UI"/>
              </a:rPr>
              <a:t> vi phạm giả định. Hai biến mang kết luận chính (</a:t>
            </a:r>
            <a:r>
              <a:rPr sz="1242" i="0" b="0">
                <a:solidFill>
                  <a:srgbClr val="1A365D"/>
                </a:solidFill>
                <a:latin typeface="Consolas"/>
              </a:rPr>
              <a:t>promo_first</a:t>
            </a:r>
            <a:r>
              <a:rPr sz="1350" i="0" b="0">
                <a:solidFill>
                  <a:srgbClr val="1A202C"/>
                </a:solidFill>
                <a:latin typeface="Segoe UI"/>
              </a:rPr>
              <a:t> p = 0,104 · </a:t>
            </a:r>
            <a:r>
              <a:rPr sz="1242" i="0" b="0">
                <a:solidFill>
                  <a:srgbClr val="1A365D"/>
                </a:solidFill>
                <a:latin typeface="Consolas"/>
              </a:rPr>
              <a:t>cohort_year</a:t>
            </a:r>
            <a:r>
              <a:rPr sz="1350" i="0" b="0">
                <a:solidFill>
                  <a:srgbClr val="1A202C"/>
                </a:solidFill>
                <a:latin typeface="Segoe UI"/>
              </a:rPr>
              <a:t> p = 0,269) </a:t>
            </a:r>
            <a:r>
              <a:rPr sz="1350" i="0" b="1">
                <a:solidFill>
                  <a:srgbClr val="B75309"/>
                </a:solidFill>
                <a:latin typeface="Segoe UI"/>
              </a:rPr>
              <a:t>không vi phạm</a:t>
            </a:r>
            <a:r>
              <a:rPr sz="1350" i="0" b="0">
                <a:solidFill>
                  <a:srgbClr val="1A202C"/>
                </a:solidFill>
                <a:latin typeface="Segoe UI"/>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II · BTN4</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Đường sống sót Kaplan–Meier</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Xác suất CHƯA quay lại mua, theo thời gian kể từ đơn đầu</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12</a:t>
            </a:r>
          </a:p>
        </p:txBody>
      </p:sp>
      <p:pic>
        <p:nvPicPr>
          <p:cNvPr id="8" name="Picture 7" descr="12-kaplan-meier-promo.png"/>
          <p:cNvPicPr>
            <a:picLocks noChangeAspect="1"/>
          </p:cNvPicPr>
          <p:nvPr/>
        </p:nvPicPr>
        <p:blipFill>
          <a:blip r:embed="rId2"/>
          <a:stretch>
            <a:fillRect/>
          </a:stretch>
        </p:blipFill>
        <p:spPr>
          <a:xfrm>
            <a:off x="548640" y="2176272"/>
            <a:ext cx="6150808" cy="3566160"/>
          </a:xfrm>
          <a:prstGeom prst="rect">
            <a:avLst/>
          </a:prstGeom>
        </p:spPr>
      </p:pic>
      <p:sp>
        <p:nvSpPr>
          <p:cNvPr id="9" name="TextBox 8"/>
          <p:cNvSpPr txBox="1"/>
          <p:nvPr/>
        </p:nvSpPr>
        <p:spPr>
          <a:xfrm>
            <a:off x="6858000" y="2249424"/>
            <a:ext cx="4645152"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ĐỌC BIỂU ĐỒ NÀY THẾ NÀO</a:t>
            </a:r>
          </a:p>
        </p:txBody>
      </p:sp>
      <p:sp>
        <p:nvSpPr>
          <p:cNvPr id="10" name="TextBox 9"/>
          <p:cNvSpPr txBox="1"/>
          <p:nvPr/>
        </p:nvSpPr>
        <p:spPr>
          <a:xfrm>
            <a:off x="6858000" y="2633472"/>
            <a:ext cx="4645152" cy="2194560"/>
          </a:xfrm>
          <a:prstGeom prst="rect">
            <a:avLst/>
          </a:prstGeom>
          <a:noFill/>
        </p:spPr>
        <p:txBody>
          <a:bodyPr wrap="square" lIns="0" rIns="0" tIns="0" bIns="0" anchor="t">
            <a:spAutoFit/>
          </a:bodyPr>
          <a:lstStyle/>
          <a:p>
            <a:pPr algn="l">
              <a:lnSpc>
                <a:spcPct val="122000"/>
              </a:lnSpc>
              <a:spcAft>
                <a:spcPts val="900"/>
              </a:spcAft>
            </a:pPr>
            <a:r>
              <a:rPr sz="1350" i="0" b="1">
                <a:solidFill>
                  <a:srgbClr val="2B6CB0"/>
                </a:solidFill>
                <a:latin typeface="Segoe UI"/>
              </a:rPr>
              <a:t>• </a:t>
            </a:r>
            <a:r>
              <a:rPr sz="1350" i="0" b="0">
                <a:solidFill>
                  <a:srgbClr val="1A202C"/>
                </a:solidFill>
                <a:latin typeface="Segoe UI"/>
              </a:rPr>
              <a:t>Trục dọc: tỷ lệ khách </a:t>
            </a:r>
            <a:r>
              <a:rPr sz="1350" i="0" b="1">
                <a:solidFill>
                  <a:srgbClr val="1A365D"/>
                </a:solidFill>
                <a:latin typeface="Segoe UI"/>
              </a:rPr>
              <a:t>chưa</a:t>
            </a:r>
            <a:r>
              <a:rPr sz="1350" i="0" b="0">
                <a:solidFill>
                  <a:srgbClr val="1A202C"/>
                </a:solidFill>
                <a:latin typeface="Segoe UI"/>
              </a:rPr>
              <a:t> quay lại. Đường </a:t>
            </a:r>
            <a:r>
              <a:rPr sz="1350" i="0" b="1">
                <a:solidFill>
                  <a:srgbClr val="1A365D"/>
                </a:solidFill>
                <a:latin typeface="Segoe UI"/>
              </a:rPr>
              <a:t>thấp hơn</a:t>
            </a:r>
            <a:r>
              <a:rPr sz="1350" i="0" b="0">
                <a:solidFill>
                  <a:srgbClr val="1A202C"/>
                </a:solidFill>
                <a:latin typeface="Segoe UI"/>
              </a:rPr>
              <a:t> = quay lại </a:t>
            </a:r>
            <a:r>
              <a:rPr sz="1350" i="0" b="1">
                <a:solidFill>
                  <a:srgbClr val="1A365D"/>
                </a:solidFill>
                <a:latin typeface="Segoe UI"/>
              </a:rPr>
              <a:t>nhiều hơn</a:t>
            </a:r>
            <a:r>
              <a:rPr sz="1350" i="0" b="0">
                <a:solidFill>
                  <a:srgbClr val="1A202C"/>
                </a:solidFill>
                <a:latin typeface="Segoe UI"/>
              </a:rPr>
              <a:t>.</a:t>
            </a:r>
          </a:p>
          <a:p>
            <a:pPr algn="l">
              <a:lnSpc>
                <a:spcPct val="122000"/>
              </a:lnSpc>
              <a:spcAft>
                <a:spcPts val="900"/>
              </a:spcAft>
            </a:pPr>
            <a:r>
              <a:rPr sz="1350" i="0" b="1">
                <a:solidFill>
                  <a:srgbClr val="2B6CB0"/>
                </a:solidFill>
                <a:latin typeface="Segoe UI"/>
              </a:rPr>
              <a:t>• </a:t>
            </a:r>
            <a:r>
              <a:rPr sz="1350" i="0" b="0">
                <a:solidFill>
                  <a:srgbClr val="1A202C"/>
                </a:solidFill>
                <a:latin typeface="Segoe UI"/>
              </a:rPr>
              <a:t>Tại mốc 1 năm, hai nhóm chênh </a:t>
            </a:r>
            <a:r>
              <a:rPr sz="1350" i="0" b="1">
                <a:solidFill>
                  <a:srgbClr val="1A365D"/>
                </a:solidFill>
                <a:latin typeface="Segoe UI"/>
              </a:rPr>
              <a:t>10,0 điểm phần trăm</a:t>
            </a:r>
            <a:r>
              <a:rPr sz="1350" i="0" b="0">
                <a:solidFill>
                  <a:srgbClr val="1A202C"/>
                </a:solidFill>
                <a:latin typeface="Segoe UI"/>
              </a:rPr>
              <a:t>.</a:t>
            </a:r>
          </a:p>
          <a:p>
            <a:pPr algn="l">
              <a:lnSpc>
                <a:spcPct val="122000"/>
              </a:lnSpc>
              <a:spcAft>
                <a:spcPts val="900"/>
              </a:spcAft>
            </a:pPr>
            <a:r>
              <a:rPr sz="1350" i="0" b="1">
                <a:solidFill>
                  <a:srgbClr val="2B6CB0"/>
                </a:solidFill>
                <a:latin typeface="Segoe UI"/>
              </a:rPr>
              <a:t>• </a:t>
            </a:r>
            <a:r>
              <a:rPr sz="1350" i="0" b="0">
                <a:solidFill>
                  <a:srgbClr val="1A202C"/>
                </a:solidFill>
                <a:latin typeface="Segoe UI"/>
              </a:rPr>
              <a:t>Log-rank: χ² = 873,8 · p &lt; 0,001 — khác biệt </a:t>
            </a:r>
            <a:r>
              <a:rPr sz="1350" i="0" b="1">
                <a:solidFill>
                  <a:srgbClr val="1A365D"/>
                </a:solidFill>
                <a:latin typeface="Segoe UI"/>
              </a:rPr>
              <a:t>có ý nghĩa thống kê</a:t>
            </a:r>
            <a:r>
              <a:rPr sz="1350" i="0" b="0">
                <a:solidFill>
                  <a:srgbClr val="1A202C"/>
                </a:solidFill>
                <a:latin typeface="Segoe UI"/>
              </a:rPr>
              <a:t>.</a:t>
            </a:r>
          </a:p>
        </p:txBody>
      </p:sp>
      <p:sp>
        <p:nvSpPr>
          <p:cNvPr id="11" name="Rounded Rectangle 10"/>
          <p:cNvSpPr/>
          <p:nvPr/>
        </p:nvSpPr>
        <p:spPr>
          <a:xfrm>
            <a:off x="6858000" y="4773168"/>
            <a:ext cx="4645152" cy="969264"/>
          </a:xfrm>
          <a:prstGeom prst="roundRect">
            <a:avLst>
              <a:gd name="adj" fmla="val 6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0" y="4773168"/>
            <a:ext cx="64008" cy="969264"/>
          </a:xfrm>
          <a:prstGeom prst="rect">
            <a:avLst/>
          </a:prstGeom>
          <a:solidFill>
            <a:srgbClr val="B7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50608" y="4956048"/>
            <a:ext cx="4096512" cy="603504"/>
          </a:xfrm>
          <a:prstGeom prst="rect">
            <a:avLst/>
          </a:prstGeom>
          <a:noFill/>
        </p:spPr>
        <p:txBody>
          <a:bodyPr wrap="square" lIns="0" rIns="0" tIns="0" bIns="0" anchor="ctr">
            <a:spAutoFit/>
          </a:bodyPr>
          <a:lstStyle/>
          <a:p>
            <a:pPr algn="l">
              <a:lnSpc>
                <a:spcPct val="125000"/>
              </a:lnSpc>
              <a:spcAft>
                <a:spcPts val="500"/>
              </a:spcAft>
            </a:pPr>
            <a:r>
              <a:rPr sz="1300" i="0" b="0">
                <a:solidFill>
                  <a:srgbClr val="1A202C"/>
                </a:solidFill>
                <a:latin typeface="Segoe UI"/>
              </a:rPr>
              <a:t>Nhưng khoảng cách thô này </a:t>
            </a:r>
            <a:r>
              <a:rPr sz="1300" i="0" b="1">
                <a:solidFill>
                  <a:srgbClr val="B75309"/>
                </a:solidFill>
                <a:latin typeface="Segoe UI"/>
              </a:rPr>
              <a:t>gồm cả hiệu ứng cohort</a:t>
            </a:r>
            <a:r>
              <a:rPr sz="1300" i="0" b="0">
                <a:solidFill>
                  <a:srgbClr val="1A202C"/>
                </a:solidFill>
                <a:latin typeface="Segoe UI"/>
              </a:rPr>
              <a:t>. Sau khi kiểm soát, HR chỉ còn </a:t>
            </a:r>
            <a:r>
              <a:rPr sz="1300" i="0" b="1">
                <a:solidFill>
                  <a:srgbClr val="B75309"/>
                </a:solidFill>
                <a:latin typeface="Segoe UI"/>
              </a:rPr>
              <a:t>0,948</a:t>
            </a:r>
            <a:r>
              <a:rPr sz="1300" i="0" b="0">
                <a:solidFill>
                  <a:srgbClr val="1A202C"/>
                </a:solidFill>
                <a:latin typeface="Segoe UI"/>
              </a:rPr>
              <a:t> — xem slide 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II · PHÁT HIỆN CHÍNH</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  Không phải khuyến mãi — là hiệu ứng cohort</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Đóng góp riêng của khóa luận: cùng một dữ liệu, hai kết luận ngược nhau</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13</a:t>
            </a:r>
          </a:p>
        </p:txBody>
      </p:sp>
      <p:sp>
        <p:nvSpPr>
          <p:cNvPr id="8" name="Rounded Rectangle 7"/>
          <p:cNvSpPr/>
          <p:nvPr/>
        </p:nvSpPr>
        <p:spPr>
          <a:xfrm>
            <a:off x="685800" y="2176272"/>
            <a:ext cx="5120640" cy="1481328"/>
          </a:xfrm>
          <a:prstGeom prst="roundRect">
            <a:avLst>
              <a:gd name="adj" fmla="val 7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322576"/>
            <a:ext cx="4663440" cy="274320"/>
          </a:xfrm>
          <a:prstGeom prst="rect">
            <a:avLst/>
          </a:prstGeom>
          <a:noFill/>
        </p:spPr>
        <p:txBody>
          <a:bodyPr wrap="square" lIns="0" rIns="0" tIns="0" bIns="0" anchor="t">
            <a:spAutoFit/>
          </a:bodyPr>
          <a:lstStyle/>
          <a:p>
            <a:pPr algn="l">
              <a:lnSpc>
                <a:spcPct val="122000"/>
              </a:lnSpc>
              <a:spcAft>
                <a:spcPts val="0"/>
              </a:spcAft>
            </a:pPr>
            <a:r>
              <a:rPr sz="1150" i="0" b="1">
                <a:solidFill>
                  <a:srgbClr val="C53030"/>
                </a:solidFill>
                <a:latin typeface="Segoe UI"/>
              </a:rPr>
              <a:t>TÍN HIỆU THÔ — chỉ mô tả</a:t>
            </a:r>
          </a:p>
        </p:txBody>
      </p:sp>
      <p:sp>
        <p:nvSpPr>
          <p:cNvPr id="10" name="TextBox 9"/>
          <p:cNvSpPr txBox="1"/>
          <p:nvPr/>
        </p:nvSpPr>
        <p:spPr>
          <a:xfrm>
            <a:off x="914400" y="2633472"/>
            <a:ext cx="4663440" cy="457200"/>
          </a:xfrm>
          <a:prstGeom prst="rect">
            <a:avLst/>
          </a:prstGeom>
          <a:noFill/>
        </p:spPr>
        <p:txBody>
          <a:bodyPr wrap="square" lIns="0" rIns="0" tIns="0" bIns="0" anchor="t">
            <a:spAutoFit/>
          </a:bodyPr>
          <a:lstStyle/>
          <a:p>
            <a:pPr algn="l">
              <a:lnSpc>
                <a:spcPct val="122000"/>
              </a:lnSpc>
              <a:spcAft>
                <a:spcPts val="0"/>
              </a:spcAft>
            </a:pPr>
            <a:r>
              <a:rPr sz="3400" i="0" b="1">
                <a:solidFill>
                  <a:srgbClr val="C53030"/>
                </a:solidFill>
                <a:latin typeface="Segoe UI"/>
              </a:rPr>
              <a:t>−39,2%</a:t>
            </a:r>
          </a:p>
        </p:txBody>
      </p:sp>
      <p:sp>
        <p:nvSpPr>
          <p:cNvPr id="11" name="TextBox 10"/>
          <p:cNvSpPr txBox="1"/>
          <p:nvPr/>
        </p:nvSpPr>
        <p:spPr>
          <a:xfrm>
            <a:off x="914400" y="3182112"/>
            <a:ext cx="4663440" cy="384048"/>
          </a:xfrm>
          <a:prstGeom prst="rect">
            <a:avLst/>
          </a:prstGeom>
          <a:noFill/>
        </p:spPr>
        <p:txBody>
          <a:bodyPr wrap="square" lIns="0" rIns="0" tIns="0" bIns="0" anchor="t">
            <a:spAutoFit/>
          </a:bodyPr>
          <a:lstStyle/>
          <a:p>
            <a:pPr algn="l">
              <a:lnSpc>
                <a:spcPct val="122000"/>
              </a:lnSpc>
              <a:spcAft>
                <a:spcPts val="0"/>
              </a:spcAft>
            </a:pPr>
            <a:r>
              <a:rPr sz="1200" i="0" b="0">
                <a:solidFill>
                  <a:srgbClr val="5A6570"/>
                </a:solidFill>
                <a:latin typeface="Segoe UI"/>
              </a:rPr>
              <a:t>Mua ít hơn: 4,59 vs 7,56 đơn trọn đời</a:t>
            </a:r>
          </a:p>
        </p:txBody>
      </p:sp>
      <p:sp>
        <p:nvSpPr>
          <p:cNvPr id="12" name="TextBox 11"/>
          <p:cNvSpPr txBox="1"/>
          <p:nvPr/>
        </p:nvSpPr>
        <p:spPr>
          <a:xfrm>
            <a:off x="5943600" y="2724912"/>
            <a:ext cx="548640" cy="457200"/>
          </a:xfrm>
          <a:prstGeom prst="rect">
            <a:avLst/>
          </a:prstGeom>
          <a:noFill/>
        </p:spPr>
        <p:txBody>
          <a:bodyPr wrap="square" lIns="0" rIns="0" tIns="0" bIns="0" anchor="t">
            <a:spAutoFit/>
          </a:bodyPr>
          <a:lstStyle/>
          <a:p>
            <a:pPr algn="ctr">
              <a:lnSpc>
                <a:spcPct val="122000"/>
              </a:lnSpc>
              <a:spcAft>
                <a:spcPts val="0"/>
              </a:spcAft>
            </a:pPr>
            <a:r>
              <a:rPr sz="3000" i="0" b="1">
                <a:solidFill>
                  <a:srgbClr val="5A6570"/>
                </a:solidFill>
                <a:latin typeface="Segoe UI"/>
              </a:rPr>
              <a:t>→</a:t>
            </a:r>
          </a:p>
        </p:txBody>
      </p:sp>
      <p:sp>
        <p:nvSpPr>
          <p:cNvPr id="13" name="Rounded Rectangle 12"/>
          <p:cNvSpPr/>
          <p:nvPr/>
        </p:nvSpPr>
        <p:spPr>
          <a:xfrm>
            <a:off x="6611112" y="2176272"/>
            <a:ext cx="5120640" cy="1481328"/>
          </a:xfrm>
          <a:prstGeom prst="roundRect">
            <a:avLst>
              <a:gd name="adj" fmla="val 7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2322576"/>
            <a:ext cx="466344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F855A"/>
                </a:solidFill>
                <a:latin typeface="Segoe UI"/>
              </a:rPr>
              <a:t>SAU KHI KIỂM SOÁT — cơ chế</a:t>
            </a:r>
          </a:p>
        </p:txBody>
      </p:sp>
      <p:sp>
        <p:nvSpPr>
          <p:cNvPr id="15" name="TextBox 14"/>
          <p:cNvSpPr txBox="1"/>
          <p:nvPr/>
        </p:nvSpPr>
        <p:spPr>
          <a:xfrm>
            <a:off x="6839712" y="2633472"/>
            <a:ext cx="4663440" cy="457200"/>
          </a:xfrm>
          <a:prstGeom prst="rect">
            <a:avLst/>
          </a:prstGeom>
          <a:noFill/>
        </p:spPr>
        <p:txBody>
          <a:bodyPr wrap="square" lIns="0" rIns="0" tIns="0" bIns="0" anchor="t">
            <a:spAutoFit/>
          </a:bodyPr>
          <a:lstStyle/>
          <a:p>
            <a:pPr algn="l">
              <a:lnSpc>
                <a:spcPct val="122000"/>
              </a:lnSpc>
              <a:spcAft>
                <a:spcPts val="0"/>
              </a:spcAft>
            </a:pPr>
            <a:r>
              <a:rPr sz="3400" i="0" b="1">
                <a:solidFill>
                  <a:srgbClr val="2F855A"/>
                </a:solidFill>
                <a:latin typeface="Segoe UI"/>
              </a:rPr>
              <a:t>−5,2%</a:t>
            </a:r>
          </a:p>
        </p:txBody>
      </p:sp>
      <p:sp>
        <p:nvSpPr>
          <p:cNvPr id="16" name="TextBox 15"/>
          <p:cNvSpPr txBox="1"/>
          <p:nvPr/>
        </p:nvSpPr>
        <p:spPr>
          <a:xfrm>
            <a:off x="6839712" y="3182112"/>
            <a:ext cx="4663440" cy="384048"/>
          </a:xfrm>
          <a:prstGeom prst="rect">
            <a:avLst/>
          </a:prstGeom>
          <a:noFill/>
        </p:spPr>
        <p:txBody>
          <a:bodyPr wrap="square" lIns="0" rIns="0" tIns="0" bIns="0" anchor="t">
            <a:spAutoFit/>
          </a:bodyPr>
          <a:lstStyle/>
          <a:p>
            <a:pPr algn="l">
              <a:lnSpc>
                <a:spcPct val="122000"/>
              </a:lnSpc>
              <a:spcAft>
                <a:spcPts val="0"/>
              </a:spcAft>
            </a:pPr>
            <a:r>
              <a:rPr sz="1200" i="0" b="0">
                <a:solidFill>
                  <a:srgbClr val="5A6570"/>
                </a:solidFill>
                <a:latin typeface="Segoe UI"/>
              </a:rPr>
              <a:t>Kiểm soát cohort, danh mục, giá trị đơn → HR = 0,948</a:t>
            </a:r>
          </a:p>
        </p:txBody>
      </p:sp>
      <p:sp>
        <p:nvSpPr>
          <p:cNvPr id="17" name="TextBox 16"/>
          <p:cNvSpPr txBox="1"/>
          <p:nvPr/>
        </p:nvSpPr>
        <p:spPr>
          <a:xfrm>
            <a:off x="685800" y="3858768"/>
            <a:ext cx="10817352" cy="457200"/>
          </a:xfrm>
          <a:prstGeom prst="rect">
            <a:avLst/>
          </a:prstGeom>
          <a:noFill/>
        </p:spPr>
        <p:txBody>
          <a:bodyPr wrap="square" lIns="0" rIns="0" tIns="0" bIns="0" anchor="t">
            <a:spAutoFit/>
          </a:bodyPr>
          <a:lstStyle/>
          <a:p>
            <a:pPr algn="l">
              <a:lnSpc>
                <a:spcPct val="122000"/>
              </a:lnSpc>
              <a:spcAft>
                <a:spcPts val="0"/>
              </a:spcAft>
            </a:pPr>
            <a:r>
              <a:rPr sz="1500" i="0" b="0">
                <a:solidFill>
                  <a:srgbClr val="1A202C"/>
                </a:solidFill>
                <a:latin typeface="Segoe UI"/>
              </a:rPr>
              <a:t>Biến </a:t>
            </a:r>
            <a:r>
              <a:rPr sz="1380" i="0" b="0">
                <a:solidFill>
                  <a:srgbClr val="1A365D"/>
                </a:solidFill>
                <a:latin typeface="Consolas"/>
              </a:rPr>
              <a:t>cohort_year</a:t>
            </a:r>
            <a:r>
              <a:rPr sz="1500" i="0" b="0">
                <a:solidFill>
                  <a:srgbClr val="1A202C"/>
                </a:solidFill>
                <a:latin typeface="Segoe UI"/>
              </a:rPr>
              <a:t> có </a:t>
            </a:r>
            <a:r>
              <a:rPr sz="1500" i="0" b="1">
                <a:solidFill>
                  <a:srgbClr val="1A365D"/>
                </a:solidFill>
                <a:latin typeface="Segoe UI"/>
              </a:rPr>
              <a:t>HR = 0,7478</a:t>
            </a:r>
            <a:r>
              <a:rPr sz="1500" i="0" b="0">
                <a:solidFill>
                  <a:srgbClr val="1A202C"/>
                </a:solidFill>
                <a:latin typeface="Segoe UI"/>
              </a:rPr>
              <a:t> — mạnh hơn hẳn mọi biến khác. Thứ tưởng là tác hại của khuyến mãi, phần lớn là </a:t>
            </a:r>
            <a:r>
              <a:rPr sz="1500" i="0" b="1">
                <a:solidFill>
                  <a:srgbClr val="1A365D"/>
                </a:solidFill>
                <a:latin typeface="Segoe UI"/>
              </a:rPr>
              <a:t>khách gia nhập muộn vốn đã kém hơn</a:t>
            </a:r>
            <a:r>
              <a:rPr sz="1500" i="0" b="0">
                <a:solidFill>
                  <a:srgbClr val="1A202C"/>
                </a:solidFill>
                <a:latin typeface="Segoe UI"/>
              </a:rPr>
              <a:t>.</a:t>
            </a:r>
          </a:p>
        </p:txBody>
      </p:sp>
      <p:sp>
        <p:nvSpPr>
          <p:cNvPr id="18" name="Rounded Rectangle 17"/>
          <p:cNvSpPr/>
          <p:nvPr/>
        </p:nvSpPr>
        <p:spPr>
          <a:xfrm>
            <a:off x="685800" y="4462272"/>
            <a:ext cx="10817352" cy="1444752"/>
          </a:xfrm>
          <a:prstGeom prst="roundRect">
            <a:avLst>
              <a:gd name="adj" fmla="val 6000"/>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462272"/>
            <a:ext cx="64008" cy="1444752"/>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645152"/>
            <a:ext cx="10268712" cy="1078992"/>
          </a:xfrm>
          <a:prstGeom prst="rect">
            <a:avLst/>
          </a:prstGeom>
          <a:noFill/>
        </p:spPr>
        <p:txBody>
          <a:bodyPr wrap="square" lIns="0" rIns="0" tIns="0" bIns="0" anchor="ctr">
            <a:spAutoFit/>
          </a:bodyPr>
          <a:lstStyle/>
          <a:p>
            <a:pPr algn="l">
              <a:lnSpc>
                <a:spcPct val="125000"/>
              </a:lnSpc>
              <a:spcAft>
                <a:spcPts val="500"/>
              </a:spcAft>
            </a:pPr>
            <a:r>
              <a:rPr sz="1450" i="0" b="0">
                <a:solidFill>
                  <a:srgbClr val="1A202C"/>
                </a:solidFill>
                <a:latin typeface="Segoe UI"/>
              </a:rPr>
              <a:t>Vì sao điều này quan trọng:</a:t>
            </a:r>
          </a:p>
          <a:p>
            <a:pPr algn="l">
              <a:lnSpc>
                <a:spcPct val="125000"/>
              </a:lnSpc>
              <a:spcAft>
                <a:spcPts val="500"/>
              </a:spcAft>
            </a:pPr>
            <a:r>
              <a:rPr sz="1450" i="0" b="0">
                <a:solidFill>
                  <a:srgbClr val="1A202C"/>
                </a:solidFill>
                <a:latin typeface="Segoe UI"/>
              </a:rPr>
              <a:t>Nếu dừng ở phân tích mô tả, kết luận sẽ là </a:t>
            </a:r>
            <a:r>
              <a:rPr sz="1450" i="0" b="1">
                <a:solidFill>
                  <a:srgbClr val="2B6CB0"/>
                </a:solidFill>
                <a:latin typeface="Segoe UI"/>
              </a:rPr>
              <a:t>"cắt ngân sách khuyến mãi ngay"</a:t>
            </a:r>
            <a:r>
              <a:rPr sz="1450" i="0" b="0">
                <a:solidFill>
                  <a:srgbClr val="1A202C"/>
                </a:solidFill>
                <a:latin typeface="Segoe UI"/>
              </a:rPr>
              <a:t> — một quyết định </a:t>
            </a:r>
            <a:r>
              <a:rPr sz="1450" i="0" b="1">
                <a:solidFill>
                  <a:srgbClr val="2B6CB0"/>
                </a:solidFill>
                <a:latin typeface="Segoe UI"/>
              </a:rPr>
              <a:t>sai</a:t>
            </a:r>
            <a:r>
              <a:rPr sz="1450" i="0" b="0">
                <a:solidFill>
                  <a:srgbClr val="1A202C"/>
                </a:solidFill>
                <a:latin typeface="Segoe UI"/>
              </a:rPr>
              <a:t>, xuất phát từ nhầm tương quan với nhân quả.</a:t>
            </a:r>
          </a:p>
          <a:p>
            <a:pPr algn="l">
              <a:lnSpc>
                <a:spcPct val="125000"/>
              </a:lnSpc>
              <a:spcAft>
                <a:spcPts val="500"/>
              </a:spcAft>
            </a:pPr>
            <a:r>
              <a:rPr sz="1450" i="0" b="0">
                <a:solidFill>
                  <a:srgbClr val="1A202C"/>
                </a:solidFill>
                <a:latin typeface="Segoe UI"/>
              </a:rPr>
              <a:t>Bước đi từ </a:t>
            </a:r>
            <a:r>
              <a:rPr sz="1450" i="0" b="1">
                <a:solidFill>
                  <a:srgbClr val="2B6CB0"/>
                </a:solidFill>
                <a:latin typeface="Segoe UI"/>
              </a:rPr>
              <a:t>mô tả</a:t>
            </a:r>
            <a:r>
              <a:rPr sz="1450" i="0" b="0">
                <a:solidFill>
                  <a:srgbClr val="1A202C"/>
                </a:solidFill>
                <a:latin typeface="Segoe UI"/>
              </a:rPr>
              <a:t> sang </a:t>
            </a:r>
            <a:r>
              <a:rPr sz="1450" i="0" b="1">
                <a:solidFill>
                  <a:srgbClr val="2B6CB0"/>
                </a:solidFill>
                <a:latin typeface="Segoe UI"/>
              </a:rPr>
              <a:t>cơ chế</a:t>
            </a:r>
            <a:r>
              <a:rPr sz="1450" i="0" b="0">
                <a:solidFill>
                  <a:srgbClr val="1A202C"/>
                </a:solidFill>
                <a:latin typeface="Segoe UI"/>
              </a:rPr>
              <a:t> không phải làm cho đẹp bài. Nó </a:t>
            </a:r>
            <a:r>
              <a:rPr sz="1450" i="0" b="1">
                <a:solidFill>
                  <a:srgbClr val="2B6CB0"/>
                </a:solidFill>
                <a:latin typeface="Segoe UI"/>
              </a:rPr>
              <a:t>đổi hẳn khuyến nghị</a:t>
            </a:r>
            <a:r>
              <a:rPr sz="1450" i="0" b="0">
                <a:solidFill>
                  <a:srgbClr val="1A202C"/>
                </a:solidFill>
                <a:latin typeface="Segoe UI"/>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II · TỔNG KẾT</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Chín giả thuyết — ghi cả cái bị bác bỏ</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Giả thuyết bị bác bỏ là KẾT QUẢ, không phải thất bại</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14</a:t>
            </a:r>
          </a:p>
        </p:txBody>
      </p:sp>
      <p:graphicFrame>
        <p:nvGraphicFramePr>
          <p:cNvPr id="8" name="Table 7"/>
          <p:cNvGraphicFramePr>
            <a:graphicFrameLocks noGrp="1"/>
          </p:cNvGraphicFramePr>
          <p:nvPr/>
        </p:nvGraphicFramePr>
        <p:xfrm>
          <a:off x="685800" y="2176272"/>
          <a:ext cx="10817352" cy="3086100"/>
        </p:xfrm>
        <a:graphic>
          <a:graphicData uri="http://schemas.openxmlformats.org/drawingml/2006/table">
            <a:tbl>
              <a:tblPr>
                <a:tableStyleId>{2D5ABB26-0587-4C30-8999-92F81FD0307C}</a:tableStyleId>
              </a:tblPr>
              <a:tblGrid>
                <a:gridCol w="594360"/>
                <a:gridCol w="4114800"/>
                <a:gridCol w="3246120"/>
                <a:gridCol w="2862072"/>
              </a:tblGrid>
              <a:tr h="329184">
                <a:tc>
                  <a:txBody>
                    <a:bodyPr wrap="square"/>
                    <a:lstStyle/>
                    <a:p>
                      <a:pPr algn="ctr">
                        <a:lnSpc>
                          <a:spcPct val="108000"/>
                        </a:lnSpc>
                      </a:pPr>
                      <a:r>
                        <a:rPr sz="1150" i="0" b="1">
                          <a:solidFill>
                            <a:srgbClr val="FFFFFF"/>
                          </a:solidFill>
                          <a:latin typeface="Segoe UI"/>
                        </a:rPr>
                        <a:t>#</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Giả thuyết</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Kết quả</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Sau phản biện</a:t>
                      </a:r>
                    </a:p>
                  </a:txBody>
                  <a:tcPr marL="91440" marR="91440" marT="27432" marB="27432" anchor="ctr">
                    <a:solidFill>
                      <a:srgbClr val="2B6CB0"/>
                    </a:solidFill>
                  </a:tcPr>
                </a:tc>
              </a:tr>
              <a:tr h="306324">
                <a:tc>
                  <a:txBody>
                    <a:bodyPr wrap="square"/>
                    <a:lstStyle/>
                    <a:p>
                      <a:pPr algn="ctr">
                        <a:lnSpc>
                          <a:spcPct val="108000"/>
                        </a:lnSpc>
                      </a:pPr>
                      <a:r>
                        <a:rPr sz="1200" i="0" b="0">
                          <a:solidFill>
                            <a:srgbClr val="1A202C"/>
                          </a:solidFill>
                          <a:latin typeface="Segoe UI"/>
                        </a:rPr>
                        <a:t>H1</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Mất khách lớn hơn giảm tần suất</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 72,2% vs 45,2%</a:t>
                      </a:r>
                    </a:p>
                  </a:txBody>
                  <a:tcPr marL="91440" marR="91440" marT="27432" marB="27432" anchor="ctr">
                    <a:solidFill>
                      <a:srgbClr val="FFFFFF"/>
                    </a:solidFill>
                  </a:tcPr>
                </a:tc>
                <a:tc>
                  <a:txBody>
                    <a:bodyPr wrap="square"/>
                    <a:lstStyle/>
                    <a:p>
                      <a:pPr algn="l">
                        <a:lnSpc>
                          <a:spcPct val="108000"/>
                        </a:lnSpc>
                      </a:pPr>
                      <a:r>
                        <a:rPr sz="1200" i="0" b="0">
                          <a:solidFill>
                            <a:srgbClr val="2F855A"/>
                          </a:solidFill>
                          <a:latin typeface="Segoe UI"/>
                        </a:rPr>
                        <a:t>Giữ</a:t>
                      </a:r>
                    </a:p>
                  </a:txBody>
                  <a:tcPr marL="91440" marR="91440" marT="27432" marB="27432" anchor="ctr">
                    <a:solidFill>
                      <a:srgbClr val="FFFFFF"/>
                    </a:solidFill>
                  </a:tcPr>
                </a:tc>
              </a:tr>
              <a:tr h="306324">
                <a:tc>
                  <a:txBody>
                    <a:bodyPr wrap="square"/>
                    <a:lstStyle/>
                    <a:p>
                      <a:pPr algn="ctr">
                        <a:lnSpc>
                          <a:spcPct val="108000"/>
                        </a:lnSpc>
                      </a:pPr>
                      <a:r>
                        <a:rPr sz="1200" i="0" b="0">
                          <a:solidFill>
                            <a:srgbClr val="1A202C"/>
                          </a:solidFill>
                          <a:latin typeface="Segoe UI"/>
                        </a:rPr>
                        <a:t>H2</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Sau khi trừ rổ cạn, tỷ lệ hút vẫn là chính</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 63,6% vs 36,4%</a:t>
                      </a:r>
                    </a:p>
                  </a:txBody>
                  <a:tcPr marL="91440" marR="91440" marT="27432" marB="27432" anchor="ctr">
                    <a:solidFill>
                      <a:srgbClr val="F1F5F9"/>
                    </a:solidFill>
                  </a:tcPr>
                </a:tc>
                <a:tc>
                  <a:txBody>
                    <a:bodyPr wrap="square"/>
                    <a:lstStyle/>
                    <a:p>
                      <a:pPr algn="l">
                        <a:lnSpc>
                          <a:spcPct val="108000"/>
                        </a:lnSpc>
                      </a:pPr>
                      <a:r>
                        <a:rPr sz="1200" i="0" b="0">
                          <a:solidFill>
                            <a:srgbClr val="B75309"/>
                          </a:solidFill>
                          <a:latin typeface="Segoe UI"/>
                        </a:rPr>
                        <a:t>Sửa số — B1</a:t>
                      </a:r>
                    </a:p>
                  </a:txBody>
                  <a:tcPr marL="91440" marR="91440" marT="27432" marB="27432" anchor="ctr">
                    <a:solidFill>
                      <a:srgbClr val="F1F5F9"/>
                    </a:solidFill>
                  </a:tcPr>
                </a:tc>
              </a:tr>
              <a:tr h="306324">
                <a:tc>
                  <a:txBody>
                    <a:bodyPr wrap="square"/>
                    <a:lstStyle/>
                    <a:p>
                      <a:pPr algn="ctr">
                        <a:lnSpc>
                          <a:spcPct val="108000"/>
                        </a:lnSpc>
                      </a:pPr>
                      <a:r>
                        <a:rPr sz="1200" i="0" b="0">
                          <a:solidFill>
                            <a:srgbClr val="1A202C"/>
                          </a:solidFill>
                          <a:latin typeface="Segoe UI"/>
                        </a:rPr>
                        <a:t>H3</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Chất lượng cohort giảm đơn điệu</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 Giảm liên tục</a:t>
                      </a:r>
                    </a:p>
                  </a:txBody>
                  <a:tcPr marL="91440" marR="91440" marT="27432" marB="27432" anchor="ctr">
                    <a:solidFill>
                      <a:srgbClr val="FFFFFF"/>
                    </a:solidFill>
                  </a:tcPr>
                </a:tc>
                <a:tc>
                  <a:txBody>
                    <a:bodyPr wrap="square"/>
                    <a:lstStyle/>
                    <a:p>
                      <a:pPr algn="l">
                        <a:lnSpc>
                          <a:spcPct val="108000"/>
                        </a:lnSpc>
                      </a:pPr>
                      <a:r>
                        <a:rPr sz="1200" i="0" b="0">
                          <a:solidFill>
                            <a:srgbClr val="2F855A"/>
                          </a:solidFill>
                          <a:latin typeface="Segoe UI"/>
                        </a:rPr>
                        <a:t>Giữ</a:t>
                      </a:r>
                    </a:p>
                  </a:txBody>
                  <a:tcPr marL="91440" marR="91440" marT="27432" marB="27432" anchor="ctr">
                    <a:solidFill>
                      <a:srgbClr val="FFFFFF"/>
                    </a:solidFill>
                  </a:tcPr>
                </a:tc>
              </a:tr>
              <a:tr h="306324">
                <a:tc>
                  <a:txBody>
                    <a:bodyPr wrap="square"/>
                    <a:lstStyle/>
                    <a:p>
                      <a:pPr algn="ctr">
                        <a:lnSpc>
                          <a:spcPct val="108000"/>
                        </a:lnSpc>
                      </a:pPr>
                      <a:r>
                        <a:rPr sz="1200" i="0" b="0">
                          <a:solidFill>
                            <a:srgbClr val="1A202C"/>
                          </a:solidFill>
                          <a:latin typeface="Segoe UI"/>
                        </a:rPr>
                        <a:t>H4</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Gãy 2019 là hệ quả trễ của suy giảm cohort</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 BỊ BÁC BỎ</a:t>
                      </a:r>
                    </a:p>
                  </a:txBody>
                  <a:tcPr marL="91440" marR="91440" marT="27432" marB="27432" anchor="ctr">
                    <a:solidFill>
                      <a:srgbClr val="F1F5F9"/>
                    </a:solidFill>
                  </a:tcPr>
                </a:tc>
                <a:tc>
                  <a:txBody>
                    <a:bodyPr wrap="square"/>
                    <a:lstStyle/>
                    <a:p>
                      <a:pPr algn="l">
                        <a:lnSpc>
                          <a:spcPct val="108000"/>
                        </a:lnSpc>
                      </a:pPr>
                      <a:r>
                        <a:rPr sz="1200" i="0" b="0">
                          <a:solidFill>
                            <a:srgbClr val="C53030"/>
                          </a:solidFill>
                          <a:latin typeface="Segoe UI"/>
                        </a:rPr>
                        <a:t>Đổi: treo → bác bỏ — B9</a:t>
                      </a:r>
                    </a:p>
                  </a:txBody>
                  <a:tcPr marL="91440" marR="91440" marT="27432" marB="27432" anchor="ctr">
                    <a:solidFill>
                      <a:srgbClr val="F1F5F9"/>
                    </a:solidFill>
                  </a:tcPr>
                </a:tc>
              </a:tr>
              <a:tr h="306324">
                <a:tc>
                  <a:txBody>
                    <a:bodyPr wrap="square"/>
                    <a:lstStyle/>
                    <a:p>
                      <a:pPr algn="ctr">
                        <a:lnSpc>
                          <a:spcPct val="108000"/>
                        </a:lnSpc>
                      </a:pPr>
                      <a:r>
                        <a:rPr sz="1200" i="0" b="0">
                          <a:solidFill>
                            <a:srgbClr val="1A202C"/>
                          </a:solidFill>
                          <a:latin typeface="Segoe UI"/>
                        </a:rPr>
                        <a:t>H5</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Kênh thu nạp không phân hóa giá trị</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 F = 0,823 · p = 0,533</a:t>
                      </a:r>
                    </a:p>
                  </a:txBody>
                  <a:tcPr marL="91440" marR="91440" marT="27432" marB="27432" anchor="ctr">
                    <a:solidFill>
                      <a:srgbClr val="FFFFFF"/>
                    </a:solidFill>
                  </a:tcPr>
                </a:tc>
                <a:tc>
                  <a:txBody>
                    <a:bodyPr wrap="square"/>
                    <a:lstStyle/>
                    <a:p>
                      <a:pPr algn="l">
                        <a:lnSpc>
                          <a:spcPct val="108000"/>
                        </a:lnSpc>
                      </a:pPr>
                      <a:r>
                        <a:rPr sz="1200" i="0" b="0">
                          <a:solidFill>
                            <a:srgbClr val="2F855A"/>
                          </a:solidFill>
                          <a:latin typeface="Segoe UI"/>
                        </a:rPr>
                        <a:t>Giữ — đã thận trọng</a:t>
                      </a:r>
                    </a:p>
                  </a:txBody>
                  <a:tcPr marL="91440" marR="91440" marT="27432" marB="27432" anchor="ctr">
                    <a:solidFill>
                      <a:srgbClr val="FFFFFF"/>
                    </a:solidFill>
                  </a:tcPr>
                </a:tc>
              </a:tr>
              <a:tr h="306324">
                <a:tc>
                  <a:txBody>
                    <a:bodyPr wrap="square"/>
                    <a:lstStyle/>
                    <a:p>
                      <a:pPr algn="ctr">
                        <a:lnSpc>
                          <a:spcPct val="108000"/>
                        </a:lnSpc>
                      </a:pPr>
                      <a:r>
                        <a:rPr sz="1200" i="0" b="0">
                          <a:solidFill>
                            <a:srgbClr val="1A202C"/>
                          </a:solidFill>
                          <a:latin typeface="Segoe UI"/>
                        </a:rPr>
                        <a:t>H6</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2020–22 chưa thấy dấu hiệu tiếp tục rơi</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 Ủng hộ yếu, n = 3</a:t>
                      </a:r>
                    </a:p>
                  </a:txBody>
                  <a:tcPr marL="91440" marR="91440" marT="27432" marB="27432" anchor="ctr">
                    <a:solidFill>
                      <a:srgbClr val="F1F5F9"/>
                    </a:solidFill>
                  </a:tcPr>
                </a:tc>
                <a:tc>
                  <a:txBody>
                    <a:bodyPr wrap="square"/>
                    <a:lstStyle/>
                    <a:p>
                      <a:pPr algn="l">
                        <a:lnSpc>
                          <a:spcPct val="108000"/>
                        </a:lnSpc>
                      </a:pPr>
                      <a:r>
                        <a:rPr sz="1200" i="0" b="0">
                          <a:solidFill>
                            <a:srgbClr val="2B6CB0"/>
                          </a:solidFill>
                          <a:latin typeface="Segoe UI"/>
                        </a:rPr>
                        <a:t>Củng cố — B4</a:t>
                      </a:r>
                    </a:p>
                  </a:txBody>
                  <a:tcPr marL="91440" marR="91440" marT="27432" marB="27432" anchor="ctr">
                    <a:solidFill>
                      <a:srgbClr val="F1F5F9"/>
                    </a:solidFill>
                  </a:tcPr>
                </a:tc>
              </a:tr>
              <a:tr h="306324">
                <a:tc>
                  <a:txBody>
                    <a:bodyPr wrap="square"/>
                    <a:lstStyle/>
                    <a:p>
                      <a:pPr algn="ctr">
                        <a:lnSpc>
                          <a:spcPct val="108000"/>
                        </a:lnSpc>
                      </a:pPr>
                      <a:r>
                        <a:rPr sz="1200" i="0" b="0">
                          <a:solidFill>
                            <a:srgbClr val="1A202C"/>
                          </a:solidFill>
                          <a:latin typeface="Segoe UI"/>
                        </a:rPr>
                        <a:t>H7</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Khuyến mãi đơn đầu giảm khả năng quay lại</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 Đúng nhưng nhỏ — HR 0,948</a:t>
                      </a:r>
                    </a:p>
                  </a:txBody>
                  <a:tcPr marL="91440" marR="91440" marT="27432" marB="27432" anchor="ctr">
                    <a:solidFill>
                      <a:srgbClr val="FFFFFF"/>
                    </a:solidFill>
                  </a:tcPr>
                </a:tc>
                <a:tc>
                  <a:txBody>
                    <a:bodyPr wrap="square"/>
                    <a:lstStyle/>
                    <a:p>
                      <a:pPr algn="l">
                        <a:lnSpc>
                          <a:spcPct val="108000"/>
                        </a:lnSpc>
                      </a:pPr>
                      <a:r>
                        <a:rPr sz="1200" i="0" b="0">
                          <a:solidFill>
                            <a:srgbClr val="B75309"/>
                          </a:solidFill>
                          <a:latin typeface="Segoe UI"/>
                        </a:rPr>
                        <a:t>Thu hẹp — B12, B17</a:t>
                      </a:r>
                    </a:p>
                  </a:txBody>
                  <a:tcPr marL="91440" marR="91440" marT="27432" marB="27432" anchor="ctr">
                    <a:solidFill>
                      <a:srgbClr val="FFFFFF"/>
                    </a:solidFill>
                  </a:tcPr>
                </a:tc>
              </a:tr>
              <a:tr h="306324">
                <a:tc>
                  <a:txBody>
                    <a:bodyPr wrap="square"/>
                    <a:lstStyle/>
                    <a:p>
                      <a:pPr algn="ctr">
                        <a:lnSpc>
                          <a:spcPct val="108000"/>
                        </a:lnSpc>
                      </a:pPr>
                      <a:r>
                        <a:rPr sz="1200" i="0" b="0">
                          <a:solidFill>
                            <a:srgbClr val="1A202C"/>
                          </a:solidFill>
                          <a:latin typeface="Segoe UI"/>
                        </a:rPr>
                        <a:t>H8</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Giao hàng chậm giảm khả năng quay lại</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 p = 0,303 — rỗng</a:t>
                      </a:r>
                    </a:p>
                  </a:txBody>
                  <a:tcPr marL="91440" marR="91440" marT="27432" marB="27432" anchor="ctr">
                    <a:solidFill>
                      <a:srgbClr val="F1F5F9"/>
                    </a:solidFill>
                  </a:tcPr>
                </a:tc>
                <a:tc>
                  <a:txBody>
                    <a:bodyPr wrap="square"/>
                    <a:lstStyle/>
                    <a:p>
                      <a:pPr algn="l">
                        <a:lnSpc>
                          <a:spcPct val="108000"/>
                        </a:lnSpc>
                      </a:pPr>
                      <a:r>
                        <a:rPr sz="1200" i="0" b="0">
                          <a:solidFill>
                            <a:srgbClr val="B75309"/>
                          </a:solidFill>
                          <a:latin typeface="Segoe UI"/>
                        </a:rPr>
                        <a:t>Đổi ✖ → ⚠ — B21</a:t>
                      </a:r>
                    </a:p>
                  </a:txBody>
                  <a:tcPr marL="91440" marR="91440" marT="27432" marB="27432" anchor="ctr">
                    <a:solidFill>
                      <a:srgbClr val="F1F5F9"/>
                    </a:solidFill>
                  </a:tcPr>
                </a:tc>
              </a:tr>
              <a:tr h="306324">
                <a:tc>
                  <a:txBody>
                    <a:bodyPr wrap="square"/>
                    <a:lstStyle/>
                    <a:p>
                      <a:pPr algn="ctr">
                        <a:lnSpc>
                          <a:spcPct val="108000"/>
                        </a:lnSpc>
                      </a:pPr>
                      <a:r>
                        <a:rPr sz="1200" i="0" b="0">
                          <a:solidFill>
                            <a:srgbClr val="1A202C"/>
                          </a:solidFill>
                          <a:latin typeface="Segoe UI"/>
                        </a:rPr>
                        <a:t>H9</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Trả hàng là tín hiệu rời bỏ mạnh nhất</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 p = 0,161 — rỗng</a:t>
                      </a:r>
                    </a:p>
                  </a:txBody>
                  <a:tcPr marL="91440" marR="91440" marT="27432" marB="27432" anchor="ctr">
                    <a:solidFill>
                      <a:srgbClr val="FFFFFF"/>
                    </a:solidFill>
                  </a:tcPr>
                </a:tc>
                <a:tc>
                  <a:txBody>
                    <a:bodyPr wrap="square"/>
                    <a:lstStyle/>
                    <a:p>
                      <a:pPr algn="l">
                        <a:lnSpc>
                          <a:spcPct val="108000"/>
                        </a:lnSpc>
                      </a:pPr>
                      <a:r>
                        <a:rPr sz="1200" i="0" b="0">
                          <a:solidFill>
                            <a:srgbClr val="B75309"/>
                          </a:solidFill>
                          <a:latin typeface="Segoe UI"/>
                        </a:rPr>
                        <a:t>Đổi ✖ → ⚠ — B21</a:t>
                      </a:r>
                    </a:p>
                  </a:txBody>
                  <a:tcPr marL="91440" marR="91440" marT="27432" marB="27432" anchor="ctr">
                    <a:solidFill>
                      <a:srgbClr val="FFFFFF"/>
                    </a:solidFill>
                  </a:tcPr>
                </a:tc>
              </a:tr>
            </a:tbl>
          </a:graphicData>
        </a:graphic>
      </p:graphicFrame>
      <p:sp>
        <p:nvSpPr>
          <p:cNvPr id="9" name="Rounded Rectangle 8"/>
          <p:cNvSpPr/>
          <p:nvPr/>
        </p:nvSpPr>
        <p:spPr>
          <a:xfrm>
            <a:off x="685800" y="5468112"/>
            <a:ext cx="10817352" cy="786384"/>
          </a:xfrm>
          <a:prstGeom prst="roundRect">
            <a:avLst>
              <a:gd name="adj" fmla="val 6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5468112"/>
            <a:ext cx="64008" cy="786384"/>
          </a:xfrm>
          <a:prstGeom prst="rect">
            <a:avLst/>
          </a:prstGeom>
          <a:solidFill>
            <a:srgbClr val="B7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5650992"/>
            <a:ext cx="10268712" cy="420623"/>
          </a:xfrm>
          <a:prstGeom prst="rect">
            <a:avLst/>
          </a:prstGeom>
          <a:noFill/>
        </p:spPr>
        <p:txBody>
          <a:bodyPr wrap="square" lIns="0" rIns="0" tIns="0" bIns="0" anchor="ctr">
            <a:spAutoFit/>
          </a:bodyPr>
          <a:lstStyle/>
          <a:p>
            <a:pPr algn="l">
              <a:lnSpc>
                <a:spcPct val="125000"/>
              </a:lnSpc>
              <a:spcAft>
                <a:spcPts val="500"/>
              </a:spcAft>
            </a:pPr>
            <a:r>
              <a:rPr sz="1400" i="0" b="0">
                <a:solidFill>
                  <a:srgbClr val="1A202C"/>
                </a:solidFill>
                <a:latin typeface="Segoe UI"/>
              </a:rPr>
              <a:t>H8 và H9 </a:t>
            </a:r>
            <a:r>
              <a:rPr sz="1400" i="0" b="1">
                <a:solidFill>
                  <a:srgbClr val="B75309"/>
                </a:solidFill>
                <a:latin typeface="Segoe UI"/>
              </a:rPr>
              <a:t>không còn</a:t>
            </a:r>
            <a:r>
              <a:rPr sz="1400" i="0" b="0">
                <a:solidFill>
                  <a:srgbClr val="1A202C"/>
                </a:solidFill>
                <a:latin typeface="Segoe UI"/>
              </a:rPr>
              <a:t> đọc là "giao hàng không ảnh hưởng giữ chân" — xem slide 23: hai trường dữ liệu đó có dấu hiệu </a:t>
            </a:r>
            <a:r>
              <a:rPr sz="1400" i="0" b="1">
                <a:solidFill>
                  <a:srgbClr val="B75309"/>
                </a:solidFill>
                <a:latin typeface="Segoe UI"/>
              </a:rPr>
              <a:t>gán ngẫu nhiên</a:t>
            </a:r>
            <a:r>
              <a:rPr sz="1400" i="0" b="0">
                <a:solidFill>
                  <a:srgbClr val="1A202C"/>
                </a:solidFill>
                <a:latin typeface="Segoe UI"/>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III · TẦNG 1</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Measure — 13 độ đo thô</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Một phép tổng hợp trực tiếp trên một cột, chưa mang ngữ cảnh so sánh</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15</a:t>
            </a:r>
          </a:p>
        </p:txBody>
      </p:sp>
      <p:graphicFrame>
        <p:nvGraphicFramePr>
          <p:cNvPr id="8" name="Table 7"/>
          <p:cNvGraphicFramePr>
            <a:graphicFrameLocks noGrp="1"/>
          </p:cNvGraphicFramePr>
          <p:nvPr/>
        </p:nvGraphicFramePr>
        <p:xfrm>
          <a:off x="685800" y="2176272"/>
          <a:ext cx="10817352" cy="3424428"/>
        </p:xfrm>
        <a:graphic>
          <a:graphicData uri="http://schemas.openxmlformats.org/drawingml/2006/table">
            <a:tbl>
              <a:tblPr>
                <a:tableStyleId>{2D5ABB26-0587-4C30-8999-92F81FD0307C}</a:tableStyleId>
              </a:tblPr>
              <a:tblGrid>
                <a:gridCol w="548640"/>
                <a:gridCol w="2651760"/>
                <a:gridCol w="3566160"/>
                <a:gridCol w="1828800"/>
                <a:gridCol w="1600200"/>
                <a:gridCol w="621792"/>
              </a:tblGrid>
              <a:tr h="274320">
                <a:tc>
                  <a:txBody>
                    <a:bodyPr wrap="square"/>
                    <a:lstStyle/>
                    <a:p>
                      <a:pPr algn="ctr">
                        <a:lnSpc>
                          <a:spcPct val="108000"/>
                        </a:lnSpc>
                      </a:pPr>
                      <a:r>
                        <a:rPr sz="1050" i="0" b="1">
                          <a:solidFill>
                            <a:srgbClr val="FFFFFF"/>
                          </a:solidFill>
                          <a:latin typeface="Segoe UI"/>
                        </a:rPr>
                        <a:t>#</a:t>
                      </a:r>
                    </a:p>
                  </a:txBody>
                  <a:tcPr marL="91440" marR="91440" marT="27432" marB="27432" anchor="ctr">
                    <a:solidFill>
                      <a:srgbClr val="2B6CB0"/>
                    </a:solidFill>
                  </a:tcPr>
                </a:tc>
                <a:tc>
                  <a:txBody>
                    <a:bodyPr wrap="square"/>
                    <a:lstStyle/>
                    <a:p>
                      <a:pPr algn="l">
                        <a:lnSpc>
                          <a:spcPct val="108000"/>
                        </a:lnSpc>
                      </a:pPr>
                      <a:r>
                        <a:rPr sz="1050" i="0" b="1">
                          <a:solidFill>
                            <a:srgbClr val="FFFFFF"/>
                          </a:solidFill>
                          <a:latin typeface="Segoe UI"/>
                        </a:rPr>
                        <a:t>Measure</a:t>
                      </a:r>
                    </a:p>
                  </a:txBody>
                  <a:tcPr marL="91440" marR="91440" marT="27432" marB="27432" anchor="ctr">
                    <a:solidFill>
                      <a:srgbClr val="2B6CB0"/>
                    </a:solidFill>
                  </a:tcPr>
                </a:tc>
                <a:tc>
                  <a:txBody>
                    <a:bodyPr wrap="square"/>
                    <a:lstStyle/>
                    <a:p>
                      <a:pPr algn="l">
                        <a:lnSpc>
                          <a:spcPct val="108000"/>
                        </a:lnSpc>
                      </a:pPr>
                      <a:r>
                        <a:rPr sz="1050" i="0" b="1">
                          <a:solidFill>
                            <a:srgbClr val="FFFFFF"/>
                          </a:solidFill>
                          <a:latin typeface="Segoe UI"/>
                        </a:rPr>
                        <a:t>Công thức</a:t>
                      </a:r>
                    </a:p>
                  </a:txBody>
                  <a:tcPr marL="91440" marR="91440" marT="27432" marB="27432" anchor="ctr">
                    <a:solidFill>
                      <a:srgbClr val="2B6CB0"/>
                    </a:solidFill>
                  </a:tcPr>
                </a:tc>
                <a:tc>
                  <a:txBody>
                    <a:bodyPr wrap="square"/>
                    <a:lstStyle/>
                    <a:p>
                      <a:pPr algn="l">
                        <a:lnSpc>
                          <a:spcPct val="108000"/>
                        </a:lnSpc>
                      </a:pPr>
                      <a:r>
                        <a:rPr sz="1050" i="0" b="1">
                          <a:solidFill>
                            <a:srgbClr val="FFFFFF"/>
                          </a:solidFill>
                          <a:latin typeface="Segoe UI"/>
                        </a:rPr>
                        <a:t>Nguồn</a:t>
                      </a:r>
                    </a:p>
                  </a:txBody>
                  <a:tcPr marL="91440" marR="91440" marT="27432" marB="27432" anchor="ctr">
                    <a:solidFill>
                      <a:srgbClr val="2B6CB0"/>
                    </a:solidFill>
                  </a:tcPr>
                </a:tc>
                <a:tc>
                  <a:txBody>
                    <a:bodyPr wrap="square"/>
                    <a:lstStyle/>
                    <a:p>
                      <a:pPr algn="l">
                        <a:lnSpc>
                          <a:spcPct val="108000"/>
                        </a:lnSpc>
                      </a:pPr>
                      <a:r>
                        <a:rPr sz="1050" i="0" b="1">
                          <a:solidFill>
                            <a:srgbClr val="FFFFFF"/>
                          </a:solidFill>
                          <a:latin typeface="Segoe UI"/>
                        </a:rPr>
                        <a:t>Grain</a:t>
                      </a:r>
                    </a:p>
                  </a:txBody>
                  <a:tcPr marL="91440" marR="91440" marT="27432" marB="27432" anchor="ctr">
                    <a:solidFill>
                      <a:srgbClr val="2B6CB0"/>
                    </a:solidFill>
                  </a:tcPr>
                </a:tc>
                <a:tc>
                  <a:txBody>
                    <a:bodyPr wrap="square"/>
                    <a:lstStyle/>
                    <a:p>
                      <a:pPr algn="ctr">
                        <a:lnSpc>
                          <a:spcPct val="108000"/>
                        </a:lnSpc>
                      </a:pPr>
                      <a:r>
                        <a:rPr sz="1050" i="0" b="1">
                          <a:solidFill>
                            <a:srgbClr val="FFFFFF"/>
                          </a:solidFill>
                          <a:latin typeface="Segoe UI"/>
                        </a:rPr>
                        <a:t>Lọc</a:t>
                      </a:r>
                    </a:p>
                  </a:txBody>
                  <a:tcPr marL="91440" marR="91440" marT="27432" marB="27432" anchor="ctr">
                    <a:solidFill>
                      <a:srgbClr val="2B6CB0"/>
                    </a:solidFill>
                  </a:tcPr>
                </a:tc>
              </a:tr>
              <a:tr h="242316">
                <a:tc>
                  <a:txBody>
                    <a:bodyPr wrap="square"/>
                    <a:lstStyle/>
                    <a:p>
                      <a:pPr algn="ctr">
                        <a:lnSpc>
                          <a:spcPct val="108000"/>
                        </a:lnSpc>
                      </a:pPr>
                      <a:r>
                        <a:rPr sz="1050" i="0" b="0">
                          <a:solidFill>
                            <a:srgbClr val="1A202C"/>
                          </a:solidFill>
                          <a:latin typeface="Segoe UI"/>
                        </a:rPr>
                        <a:t>M1</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Số khách đăng ký</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COUNT(customer_id)</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customers</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Toàn tập</a:t>
                      </a:r>
                    </a:p>
                  </a:txBody>
                  <a:tcPr marL="91440" marR="91440" marT="27432" marB="27432" anchor="ctr">
                    <a:solidFill>
                      <a:srgbClr val="FFFFFF"/>
                    </a:solidFill>
                  </a:tcPr>
                </a:tc>
                <a:tc>
                  <a:txBody>
                    <a:bodyPr wrap="square"/>
                    <a:lstStyle/>
                    <a:p>
                      <a:pPr algn="ctr">
                        <a:lnSpc>
                          <a:spcPct val="108000"/>
                        </a:lnSpc>
                      </a:pPr>
                      <a:r>
                        <a:rPr sz="1050" i="0" b="0">
                          <a:solidFill>
                            <a:srgbClr val="1A202C"/>
                          </a:solidFill>
                          <a:latin typeface="Segoe UI"/>
                        </a:rPr>
                        <a:t>—</a:t>
                      </a:r>
                    </a:p>
                  </a:txBody>
                  <a:tcPr marL="91440" marR="91440" marT="27432" marB="27432" anchor="ctr">
                    <a:solidFill>
                      <a:srgbClr val="FFFFFF"/>
                    </a:solidFill>
                  </a:tcPr>
                </a:tc>
              </a:tr>
              <a:tr h="242316">
                <a:tc>
                  <a:txBody>
                    <a:bodyPr wrap="square"/>
                    <a:lstStyle/>
                    <a:p>
                      <a:pPr algn="ctr">
                        <a:lnSpc>
                          <a:spcPct val="108000"/>
                        </a:lnSpc>
                      </a:pPr>
                      <a:r>
                        <a:rPr sz="1050" i="0" b="0">
                          <a:solidFill>
                            <a:srgbClr val="1A202C"/>
                          </a:solidFill>
                          <a:latin typeface="Segoe UI"/>
                        </a:rPr>
                        <a:t>M2</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Số khách có giao dịch</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COUNTD(customer_id)</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orders</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Toàn tập / năm</a:t>
                      </a:r>
                    </a:p>
                  </a:txBody>
                  <a:tcPr marL="91440" marR="91440" marT="27432" marB="27432" anchor="ctr">
                    <a:solidFill>
                      <a:srgbClr val="F1F5F9"/>
                    </a:solidFill>
                  </a:tcPr>
                </a:tc>
                <a:tc>
                  <a:txBody>
                    <a:bodyPr wrap="square"/>
                    <a:lstStyle/>
                    <a:p>
                      <a:pPr algn="ctr">
                        <a:lnSpc>
                          <a:spcPct val="108000"/>
                        </a:lnSpc>
                      </a:pPr>
                      <a:r>
                        <a:rPr sz="1050" i="0" b="0">
                          <a:solidFill>
                            <a:srgbClr val="1A202C"/>
                          </a:solidFill>
                          <a:latin typeface="Segoe UI"/>
                        </a:rPr>
                        <a:t>live</a:t>
                      </a:r>
                    </a:p>
                  </a:txBody>
                  <a:tcPr marL="91440" marR="91440" marT="27432" marB="27432" anchor="ctr">
                    <a:solidFill>
                      <a:srgbClr val="F1F5F9"/>
                    </a:solidFill>
                  </a:tcPr>
                </a:tc>
              </a:tr>
              <a:tr h="242316">
                <a:tc>
                  <a:txBody>
                    <a:bodyPr wrap="square"/>
                    <a:lstStyle/>
                    <a:p>
                      <a:pPr algn="ctr">
                        <a:lnSpc>
                          <a:spcPct val="108000"/>
                        </a:lnSpc>
                      </a:pPr>
                      <a:r>
                        <a:rPr sz="1050" i="0" b="0">
                          <a:solidFill>
                            <a:srgbClr val="1A202C"/>
                          </a:solidFill>
                          <a:latin typeface="Segoe UI"/>
                        </a:rPr>
                        <a:t>M3</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Số đơn hàng</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COUNT(order_id)</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orders</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Ngày / năm</a:t>
                      </a:r>
                    </a:p>
                  </a:txBody>
                  <a:tcPr marL="91440" marR="91440" marT="27432" marB="27432" anchor="ctr">
                    <a:solidFill>
                      <a:srgbClr val="FFFFFF"/>
                    </a:solidFill>
                  </a:tcPr>
                </a:tc>
                <a:tc>
                  <a:txBody>
                    <a:bodyPr wrap="square"/>
                    <a:lstStyle/>
                    <a:p>
                      <a:pPr algn="ctr">
                        <a:lnSpc>
                          <a:spcPct val="108000"/>
                        </a:lnSpc>
                      </a:pPr>
                      <a:r>
                        <a:rPr sz="1050" i="0" b="0">
                          <a:solidFill>
                            <a:srgbClr val="1A202C"/>
                          </a:solidFill>
                          <a:latin typeface="Segoe UI"/>
                        </a:rPr>
                        <a:t>live</a:t>
                      </a:r>
                    </a:p>
                  </a:txBody>
                  <a:tcPr marL="91440" marR="91440" marT="27432" marB="27432" anchor="ctr">
                    <a:solidFill>
                      <a:srgbClr val="FFFFFF"/>
                    </a:solidFill>
                  </a:tcPr>
                </a:tc>
              </a:tr>
              <a:tr h="242316">
                <a:tc>
                  <a:txBody>
                    <a:bodyPr wrap="square"/>
                    <a:lstStyle/>
                    <a:p>
                      <a:pPr algn="ctr">
                        <a:lnSpc>
                          <a:spcPct val="108000"/>
                        </a:lnSpc>
                      </a:pPr>
                      <a:r>
                        <a:rPr sz="1050" i="0" b="0">
                          <a:solidFill>
                            <a:srgbClr val="1A202C"/>
                          </a:solidFill>
                          <a:latin typeface="Segoe UI"/>
                        </a:rPr>
                        <a:t>M4</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Doanh thu gross</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SUM(quantity × unit_price)</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order_items</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Dòng hàng</a:t>
                      </a:r>
                    </a:p>
                  </a:txBody>
                  <a:tcPr marL="91440" marR="91440" marT="27432" marB="27432" anchor="ctr">
                    <a:solidFill>
                      <a:srgbClr val="F1F5F9"/>
                    </a:solidFill>
                  </a:tcPr>
                </a:tc>
                <a:tc>
                  <a:txBody>
                    <a:bodyPr wrap="square"/>
                    <a:lstStyle/>
                    <a:p>
                      <a:pPr algn="ctr">
                        <a:lnSpc>
                          <a:spcPct val="108000"/>
                        </a:lnSpc>
                      </a:pPr>
                      <a:r>
                        <a:rPr sz="1050" i="0" b="0">
                          <a:solidFill>
                            <a:srgbClr val="1A202C"/>
                          </a:solidFill>
                          <a:latin typeface="Segoe UI"/>
                        </a:rPr>
                        <a:t>live</a:t>
                      </a:r>
                    </a:p>
                  </a:txBody>
                  <a:tcPr marL="91440" marR="91440" marT="27432" marB="27432" anchor="ctr">
                    <a:solidFill>
                      <a:srgbClr val="F1F5F9"/>
                    </a:solidFill>
                  </a:tcPr>
                </a:tc>
              </a:tr>
              <a:tr h="242316">
                <a:tc>
                  <a:txBody>
                    <a:bodyPr wrap="square"/>
                    <a:lstStyle/>
                    <a:p>
                      <a:pPr algn="ctr">
                        <a:lnSpc>
                          <a:spcPct val="108000"/>
                        </a:lnSpc>
                      </a:pPr>
                      <a:r>
                        <a:rPr sz="1050" i="0" b="0">
                          <a:solidFill>
                            <a:srgbClr val="1A202C"/>
                          </a:solidFill>
                          <a:latin typeface="Segoe UI"/>
                        </a:rPr>
                        <a:t>M5</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Ngày mua đầu tiên</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MIN(order_date) theo khách</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orders</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Mỗi khách</a:t>
                      </a:r>
                    </a:p>
                  </a:txBody>
                  <a:tcPr marL="91440" marR="91440" marT="27432" marB="27432" anchor="ctr">
                    <a:solidFill>
                      <a:srgbClr val="FFFFFF"/>
                    </a:solidFill>
                  </a:tcPr>
                </a:tc>
                <a:tc>
                  <a:txBody>
                    <a:bodyPr wrap="square"/>
                    <a:lstStyle/>
                    <a:p>
                      <a:pPr algn="ctr">
                        <a:lnSpc>
                          <a:spcPct val="108000"/>
                        </a:lnSpc>
                      </a:pPr>
                      <a:r>
                        <a:rPr sz="1050" i="0" b="0">
                          <a:solidFill>
                            <a:srgbClr val="1A202C"/>
                          </a:solidFill>
                          <a:latin typeface="Segoe UI"/>
                        </a:rPr>
                        <a:t>live</a:t>
                      </a:r>
                    </a:p>
                  </a:txBody>
                  <a:tcPr marL="91440" marR="91440" marT="27432" marB="27432" anchor="ctr">
                    <a:solidFill>
                      <a:srgbClr val="FFFFFF"/>
                    </a:solidFill>
                  </a:tcPr>
                </a:tc>
              </a:tr>
              <a:tr h="242316">
                <a:tc>
                  <a:txBody>
                    <a:bodyPr wrap="square"/>
                    <a:lstStyle/>
                    <a:p>
                      <a:pPr algn="ctr">
                        <a:lnSpc>
                          <a:spcPct val="108000"/>
                        </a:lnSpc>
                      </a:pPr>
                      <a:r>
                        <a:rPr sz="1050" i="0" b="0">
                          <a:solidFill>
                            <a:srgbClr val="1A202C"/>
                          </a:solidFill>
                          <a:latin typeface="Segoe UI"/>
                        </a:rPr>
                        <a:t>M6</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Ngày mua gần nhất</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MAX(order_date) theo khách</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orders</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Mỗi khách</a:t>
                      </a:r>
                    </a:p>
                  </a:txBody>
                  <a:tcPr marL="91440" marR="91440" marT="27432" marB="27432" anchor="ctr">
                    <a:solidFill>
                      <a:srgbClr val="F1F5F9"/>
                    </a:solidFill>
                  </a:tcPr>
                </a:tc>
                <a:tc>
                  <a:txBody>
                    <a:bodyPr wrap="square"/>
                    <a:lstStyle/>
                    <a:p>
                      <a:pPr algn="ctr">
                        <a:lnSpc>
                          <a:spcPct val="108000"/>
                        </a:lnSpc>
                      </a:pPr>
                      <a:r>
                        <a:rPr sz="1050" i="0" b="0">
                          <a:solidFill>
                            <a:srgbClr val="1A202C"/>
                          </a:solidFill>
                          <a:latin typeface="Segoe UI"/>
                        </a:rPr>
                        <a:t>ALL</a:t>
                      </a:r>
                    </a:p>
                  </a:txBody>
                  <a:tcPr marL="91440" marR="91440" marT="27432" marB="27432" anchor="ctr">
                    <a:solidFill>
                      <a:srgbClr val="F1F5F9"/>
                    </a:solidFill>
                  </a:tcPr>
                </a:tc>
              </a:tr>
              <a:tr h="242316">
                <a:tc>
                  <a:txBody>
                    <a:bodyPr wrap="square"/>
                    <a:lstStyle/>
                    <a:p>
                      <a:pPr algn="ctr">
                        <a:lnSpc>
                          <a:spcPct val="108000"/>
                        </a:lnSpc>
                      </a:pPr>
                      <a:r>
                        <a:rPr sz="1050" i="0" b="0">
                          <a:solidFill>
                            <a:srgbClr val="1A202C"/>
                          </a:solidFill>
                          <a:latin typeface="Segoe UI"/>
                        </a:rPr>
                        <a:t>M7</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Số đơn trọn đời</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COUNT(order_id) theo khách</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orders</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Mỗi khách</a:t>
                      </a:r>
                    </a:p>
                  </a:txBody>
                  <a:tcPr marL="91440" marR="91440" marT="27432" marB="27432" anchor="ctr">
                    <a:solidFill>
                      <a:srgbClr val="FFFFFF"/>
                    </a:solidFill>
                  </a:tcPr>
                </a:tc>
                <a:tc>
                  <a:txBody>
                    <a:bodyPr wrap="square"/>
                    <a:lstStyle/>
                    <a:p>
                      <a:pPr algn="ctr">
                        <a:lnSpc>
                          <a:spcPct val="108000"/>
                        </a:lnSpc>
                      </a:pPr>
                      <a:r>
                        <a:rPr sz="1050" i="0" b="0">
                          <a:solidFill>
                            <a:srgbClr val="1A202C"/>
                          </a:solidFill>
                          <a:latin typeface="Segoe UI"/>
                        </a:rPr>
                        <a:t>live</a:t>
                      </a:r>
                    </a:p>
                  </a:txBody>
                  <a:tcPr marL="91440" marR="91440" marT="27432" marB="27432" anchor="ctr">
                    <a:solidFill>
                      <a:srgbClr val="FFFFFF"/>
                    </a:solidFill>
                  </a:tcPr>
                </a:tc>
              </a:tr>
              <a:tr h="242316">
                <a:tc>
                  <a:txBody>
                    <a:bodyPr wrap="square"/>
                    <a:lstStyle/>
                    <a:p>
                      <a:pPr algn="ctr">
                        <a:lnSpc>
                          <a:spcPct val="108000"/>
                        </a:lnSpc>
                      </a:pPr>
                      <a:r>
                        <a:rPr sz="1050" i="0" b="0">
                          <a:solidFill>
                            <a:srgbClr val="1A202C"/>
                          </a:solidFill>
                          <a:latin typeface="Segoe UI"/>
                        </a:rPr>
                        <a:t>M8</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Doanh thu trọn đời</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SUM(M4) theo khách</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orders ⋈ items</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Mỗi khách</a:t>
                      </a:r>
                    </a:p>
                  </a:txBody>
                  <a:tcPr marL="91440" marR="91440" marT="27432" marB="27432" anchor="ctr">
                    <a:solidFill>
                      <a:srgbClr val="F1F5F9"/>
                    </a:solidFill>
                  </a:tcPr>
                </a:tc>
                <a:tc>
                  <a:txBody>
                    <a:bodyPr wrap="square"/>
                    <a:lstStyle/>
                    <a:p>
                      <a:pPr algn="ctr">
                        <a:lnSpc>
                          <a:spcPct val="108000"/>
                        </a:lnSpc>
                      </a:pPr>
                      <a:r>
                        <a:rPr sz="1050" i="0" b="0">
                          <a:solidFill>
                            <a:srgbClr val="1A202C"/>
                          </a:solidFill>
                          <a:latin typeface="Segoe UI"/>
                        </a:rPr>
                        <a:t>live</a:t>
                      </a:r>
                    </a:p>
                  </a:txBody>
                  <a:tcPr marL="91440" marR="91440" marT="27432" marB="27432" anchor="ctr">
                    <a:solidFill>
                      <a:srgbClr val="F1F5F9"/>
                    </a:solidFill>
                  </a:tcPr>
                </a:tc>
              </a:tr>
              <a:tr h="242316">
                <a:tc>
                  <a:txBody>
                    <a:bodyPr wrap="square"/>
                    <a:lstStyle/>
                    <a:p>
                      <a:pPr algn="ctr">
                        <a:lnSpc>
                          <a:spcPct val="108000"/>
                        </a:lnSpc>
                      </a:pPr>
                      <a:r>
                        <a:rPr sz="1050" i="0" b="0">
                          <a:solidFill>
                            <a:srgbClr val="1A202C"/>
                          </a:solidFill>
                          <a:latin typeface="Segoe UI"/>
                        </a:rPr>
                        <a:t>M9</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Số ngày giao đơn đầu</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delivery_date − ship_date</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shipments</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Mỗi khách</a:t>
                      </a:r>
                    </a:p>
                  </a:txBody>
                  <a:tcPr marL="91440" marR="91440" marT="27432" marB="27432" anchor="ctr">
                    <a:solidFill>
                      <a:srgbClr val="FFFFFF"/>
                    </a:solidFill>
                  </a:tcPr>
                </a:tc>
                <a:tc>
                  <a:txBody>
                    <a:bodyPr wrap="square"/>
                    <a:lstStyle/>
                    <a:p>
                      <a:pPr algn="ctr">
                        <a:lnSpc>
                          <a:spcPct val="108000"/>
                        </a:lnSpc>
                      </a:pPr>
                      <a:r>
                        <a:rPr sz="1050" i="0" b="0">
                          <a:solidFill>
                            <a:srgbClr val="1A202C"/>
                          </a:solidFill>
                          <a:latin typeface="Segoe UI"/>
                        </a:rPr>
                        <a:t>live</a:t>
                      </a:r>
                    </a:p>
                  </a:txBody>
                  <a:tcPr marL="91440" marR="91440" marT="27432" marB="27432" anchor="ctr">
                    <a:solidFill>
                      <a:srgbClr val="FFFFFF"/>
                    </a:solidFill>
                  </a:tcPr>
                </a:tc>
              </a:tr>
              <a:tr h="242316">
                <a:tc>
                  <a:txBody>
                    <a:bodyPr wrap="square"/>
                    <a:lstStyle/>
                    <a:p>
                      <a:pPr algn="ctr">
                        <a:lnSpc>
                          <a:spcPct val="108000"/>
                        </a:lnSpc>
                      </a:pPr>
                      <a:r>
                        <a:rPr sz="1050" i="0" b="0">
                          <a:solidFill>
                            <a:srgbClr val="1A202C"/>
                          </a:solidFill>
                          <a:latin typeface="Segoe UI"/>
                        </a:rPr>
                        <a:t>M10</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Cờ trả hàng đơn đầu</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order_id ∈ returns</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returns</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Mỗi khách</a:t>
                      </a:r>
                    </a:p>
                  </a:txBody>
                  <a:tcPr marL="91440" marR="91440" marT="27432" marB="27432" anchor="ctr">
                    <a:solidFill>
                      <a:srgbClr val="F1F5F9"/>
                    </a:solidFill>
                  </a:tcPr>
                </a:tc>
                <a:tc>
                  <a:txBody>
                    <a:bodyPr wrap="square"/>
                    <a:lstStyle/>
                    <a:p>
                      <a:pPr algn="ctr">
                        <a:lnSpc>
                          <a:spcPct val="108000"/>
                        </a:lnSpc>
                      </a:pPr>
                      <a:r>
                        <a:rPr sz="1050" i="0" b="0">
                          <a:solidFill>
                            <a:srgbClr val="1A202C"/>
                          </a:solidFill>
                          <a:latin typeface="Segoe UI"/>
                        </a:rPr>
                        <a:t>live</a:t>
                      </a:r>
                    </a:p>
                  </a:txBody>
                  <a:tcPr marL="91440" marR="91440" marT="27432" marB="27432" anchor="ctr">
                    <a:solidFill>
                      <a:srgbClr val="F1F5F9"/>
                    </a:solidFill>
                  </a:tcPr>
                </a:tc>
              </a:tr>
              <a:tr h="242316">
                <a:tc>
                  <a:txBody>
                    <a:bodyPr wrap="square"/>
                    <a:lstStyle/>
                    <a:p>
                      <a:pPr algn="ctr">
                        <a:lnSpc>
                          <a:spcPct val="108000"/>
                        </a:lnSpc>
                      </a:pPr>
                      <a:r>
                        <a:rPr sz="1050" i="0" b="0">
                          <a:solidFill>
                            <a:srgbClr val="1A202C"/>
                          </a:solidFill>
                          <a:latin typeface="Segoe UI"/>
                        </a:rPr>
                        <a:t>M11</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Điểm đánh giá đơn đầu</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AVG(rating) theo order_id</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reviews</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Mỗi khách</a:t>
                      </a:r>
                    </a:p>
                  </a:txBody>
                  <a:tcPr marL="91440" marR="91440" marT="27432" marB="27432" anchor="ctr">
                    <a:solidFill>
                      <a:srgbClr val="FFFFFF"/>
                    </a:solidFill>
                  </a:tcPr>
                </a:tc>
                <a:tc>
                  <a:txBody>
                    <a:bodyPr wrap="square"/>
                    <a:lstStyle/>
                    <a:p>
                      <a:pPr algn="ctr">
                        <a:lnSpc>
                          <a:spcPct val="108000"/>
                        </a:lnSpc>
                      </a:pPr>
                      <a:r>
                        <a:rPr sz="1050" i="0" b="0">
                          <a:solidFill>
                            <a:srgbClr val="1A202C"/>
                          </a:solidFill>
                          <a:latin typeface="Segoe UI"/>
                        </a:rPr>
                        <a:t>live</a:t>
                      </a:r>
                    </a:p>
                  </a:txBody>
                  <a:tcPr marL="91440" marR="91440" marT="27432" marB="27432" anchor="ctr">
                    <a:solidFill>
                      <a:srgbClr val="FFFFFF"/>
                    </a:solidFill>
                  </a:tcPr>
                </a:tc>
              </a:tr>
              <a:tr h="242316">
                <a:tc>
                  <a:txBody>
                    <a:bodyPr wrap="square"/>
                    <a:lstStyle/>
                    <a:p>
                      <a:pPr algn="ctr">
                        <a:lnSpc>
                          <a:spcPct val="108000"/>
                        </a:lnSpc>
                      </a:pPr>
                      <a:r>
                        <a:rPr sz="1050" i="0" b="0">
                          <a:solidFill>
                            <a:srgbClr val="1A202C"/>
                          </a:solidFill>
                          <a:latin typeface="Segoe UI"/>
                        </a:rPr>
                        <a:t>M12</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Cờ khuyến mãi đơn đầu</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ANY(promo_id NOT NULL)</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order_items</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Mỗi khách</a:t>
                      </a:r>
                    </a:p>
                  </a:txBody>
                  <a:tcPr marL="91440" marR="91440" marT="27432" marB="27432" anchor="ctr">
                    <a:solidFill>
                      <a:srgbClr val="F1F5F9"/>
                    </a:solidFill>
                  </a:tcPr>
                </a:tc>
                <a:tc>
                  <a:txBody>
                    <a:bodyPr wrap="square"/>
                    <a:lstStyle/>
                    <a:p>
                      <a:pPr algn="ctr">
                        <a:lnSpc>
                          <a:spcPct val="108000"/>
                        </a:lnSpc>
                      </a:pPr>
                      <a:r>
                        <a:rPr sz="1050" i="0" b="0">
                          <a:solidFill>
                            <a:srgbClr val="1A202C"/>
                          </a:solidFill>
                          <a:latin typeface="Segoe UI"/>
                        </a:rPr>
                        <a:t>live</a:t>
                      </a:r>
                    </a:p>
                  </a:txBody>
                  <a:tcPr marL="91440" marR="91440" marT="27432" marB="27432" anchor="ctr">
                    <a:solidFill>
                      <a:srgbClr val="F1F5F9"/>
                    </a:solidFill>
                  </a:tcPr>
                </a:tc>
              </a:tr>
              <a:tr h="242316">
                <a:tc>
                  <a:txBody>
                    <a:bodyPr wrap="square"/>
                    <a:lstStyle/>
                    <a:p>
                      <a:pPr algn="ctr">
                        <a:lnSpc>
                          <a:spcPct val="108000"/>
                        </a:lnSpc>
                      </a:pPr>
                      <a:r>
                        <a:rPr sz="1050" i="0" b="0">
                          <a:solidFill>
                            <a:srgbClr val="1A202C"/>
                          </a:solidFill>
                          <a:latin typeface="Segoe UI"/>
                        </a:rPr>
                        <a:t>M13</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Pool chưa mua đầu năm</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M1 − Σ khách mới năm trước</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customers+orders</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Mỗi năm</a:t>
                      </a:r>
                    </a:p>
                  </a:txBody>
                  <a:tcPr marL="91440" marR="91440" marT="27432" marB="27432" anchor="ctr">
                    <a:solidFill>
                      <a:srgbClr val="FFFFFF"/>
                    </a:solidFill>
                  </a:tcPr>
                </a:tc>
                <a:tc>
                  <a:txBody>
                    <a:bodyPr wrap="square"/>
                    <a:lstStyle/>
                    <a:p>
                      <a:pPr algn="ctr">
                        <a:lnSpc>
                          <a:spcPct val="108000"/>
                        </a:lnSpc>
                      </a:pPr>
                      <a:r>
                        <a:rPr sz="1050" i="0" b="0">
                          <a:solidFill>
                            <a:srgbClr val="1A202C"/>
                          </a:solidFill>
                          <a:latin typeface="Segoe UI"/>
                        </a:rPr>
                        <a:t>live</a:t>
                      </a:r>
                    </a:p>
                  </a:txBody>
                  <a:tcPr marL="91440" marR="91440" marT="27432" marB="27432" anchor="ctr">
                    <a:solidFill>
                      <a:srgbClr val="FFFFFF"/>
                    </a:solidFill>
                  </a:tcPr>
                </a:tc>
              </a:tr>
            </a:tbl>
          </a:graphicData>
        </a:graphic>
      </p:graphicFrame>
      <p:sp>
        <p:nvSpPr>
          <p:cNvPr id="9" name="TextBox 8"/>
          <p:cNvSpPr txBox="1"/>
          <p:nvPr/>
        </p:nvSpPr>
        <p:spPr>
          <a:xfrm>
            <a:off x="685800" y="5650992"/>
            <a:ext cx="10817352" cy="566928"/>
          </a:xfrm>
          <a:prstGeom prst="rect">
            <a:avLst/>
          </a:prstGeom>
          <a:noFill/>
        </p:spPr>
        <p:txBody>
          <a:bodyPr wrap="square" lIns="0" rIns="0" tIns="0" bIns="0" anchor="t">
            <a:spAutoFit/>
          </a:bodyPr>
          <a:lstStyle/>
          <a:p>
            <a:pPr algn="l">
              <a:lnSpc>
                <a:spcPct val="122000"/>
              </a:lnSpc>
              <a:spcAft>
                <a:spcPts val="500"/>
              </a:spcAft>
            </a:pPr>
            <a:r>
              <a:rPr sz="1150" i="0" b="0">
                <a:solidFill>
                  <a:srgbClr val="1A202C"/>
                </a:solidFill>
                <a:latin typeface="Segoe UI"/>
              </a:rPr>
              <a:t>Độ phủ bốn measure mới: M9 </a:t>
            </a:r>
            <a:r>
              <a:rPr sz="1150" i="0" b="1">
                <a:solidFill>
                  <a:srgbClr val="1A365D"/>
                </a:solidFill>
                <a:latin typeface="Segoe UI"/>
              </a:rPr>
              <a:t>96,5%</a:t>
            </a:r>
            <a:r>
              <a:rPr sz="1150" i="0" b="0">
                <a:solidFill>
                  <a:srgbClr val="1A202C"/>
                </a:solidFill>
                <a:latin typeface="Segoe UI"/>
              </a:rPr>
              <a:t> · M10 </a:t>
            </a:r>
            <a:r>
              <a:rPr sz="1150" i="0" b="1">
                <a:solidFill>
                  <a:srgbClr val="1A365D"/>
                </a:solidFill>
                <a:latin typeface="Segoe UI"/>
              </a:rPr>
              <a:t>6,14%</a:t>
            </a:r>
            <a:r>
              <a:rPr sz="1150" i="0" b="0">
                <a:solidFill>
                  <a:srgbClr val="1A202C"/>
                </a:solidFill>
                <a:latin typeface="Segoe UI"/>
              </a:rPr>
              <a:t> · M11 </a:t>
            </a:r>
            <a:r>
              <a:rPr sz="1150" i="0" b="1">
                <a:solidFill>
                  <a:srgbClr val="1A365D"/>
                </a:solidFill>
                <a:latin typeface="Segoe UI"/>
              </a:rPr>
              <a:t>19,4%</a:t>
            </a:r>
            <a:r>
              <a:rPr sz="1150" i="0" b="0">
                <a:solidFill>
                  <a:srgbClr val="1A202C"/>
                </a:solidFill>
                <a:latin typeface="Segoe UI"/>
              </a:rPr>
              <a:t> · M12 </a:t>
            </a:r>
            <a:r>
              <a:rPr sz="1150" i="0" b="1">
                <a:solidFill>
                  <a:srgbClr val="1A365D"/>
                </a:solidFill>
                <a:latin typeface="Segoe UI"/>
              </a:rPr>
              <a:t>30,57%</a:t>
            </a:r>
            <a:r>
              <a:rPr sz="1150" i="0" b="0">
                <a:solidFill>
                  <a:srgbClr val="1A202C"/>
                </a:solidFill>
                <a:latin typeface="Segoe UI"/>
              </a:rPr>
              <a:t>. M13 giảm đơn điệu 121.930 → 55.738, đúng như kỳ vọng với một rổ đóng.</a:t>
            </a:r>
          </a:p>
          <a:p>
            <a:pPr algn="l">
              <a:lnSpc>
                <a:spcPct val="122000"/>
              </a:lnSpc>
              <a:spcAft>
                <a:spcPts val="500"/>
              </a:spcAft>
            </a:pPr>
            <a:r>
              <a:rPr sz="1150" i="0" b="1">
                <a:solidFill>
                  <a:srgbClr val="1A365D"/>
                </a:solidFill>
                <a:latin typeface="Segoe UI"/>
              </a:rPr>
              <a:t>M11 đã bị loại khỏi mô hình Cox</a:t>
            </a:r>
            <a:r>
              <a:rPr sz="1150" i="0" b="0">
                <a:solidFill>
                  <a:srgbClr val="1A202C"/>
                </a:solidFill>
                <a:latin typeface="Segoe UI"/>
              </a:rPr>
              <a:t> — độ phủ chỉ 19,4%, lọc theo nó sẽ tạo thiên lệch chọn mẫu nghiêm trọng.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III · TẦNG 2</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Metric — 13 chỉ số dẫn xuất</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Cái phân biệt metric với measure là NGỮ CẢNH — mẫu số, cửa sổ thời gian, bộ lọc</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16</a:t>
            </a:r>
          </a:p>
        </p:txBody>
      </p:sp>
      <p:graphicFrame>
        <p:nvGraphicFramePr>
          <p:cNvPr id="8" name="Table 7"/>
          <p:cNvGraphicFramePr>
            <a:graphicFrameLocks noGrp="1"/>
          </p:cNvGraphicFramePr>
          <p:nvPr/>
        </p:nvGraphicFramePr>
        <p:xfrm>
          <a:off x="685800" y="2176272"/>
          <a:ext cx="10817352" cy="3410712"/>
        </p:xfrm>
        <a:graphic>
          <a:graphicData uri="http://schemas.openxmlformats.org/drawingml/2006/table">
            <a:tbl>
              <a:tblPr>
                <a:tableStyleId>{2D5ABB26-0587-4C30-8999-92F81FD0307C}</a:tableStyleId>
              </a:tblPr>
              <a:tblGrid>
                <a:gridCol w="658368"/>
                <a:gridCol w="3017520"/>
                <a:gridCol w="3566160"/>
                <a:gridCol w="2148840"/>
                <a:gridCol w="1426464"/>
              </a:tblGrid>
              <a:tr h="274320">
                <a:tc>
                  <a:txBody>
                    <a:bodyPr wrap="square"/>
                    <a:lstStyle/>
                    <a:p>
                      <a:pPr algn="ctr">
                        <a:lnSpc>
                          <a:spcPct val="108000"/>
                        </a:lnSpc>
                      </a:pPr>
                      <a:r>
                        <a:rPr sz="1050" i="0" b="1">
                          <a:solidFill>
                            <a:srgbClr val="FFFFFF"/>
                          </a:solidFill>
                          <a:latin typeface="Segoe UI"/>
                        </a:rPr>
                        <a:t>#</a:t>
                      </a:r>
                    </a:p>
                  </a:txBody>
                  <a:tcPr marL="91440" marR="91440" marT="27432" marB="27432" anchor="ctr">
                    <a:solidFill>
                      <a:srgbClr val="2B6CB0"/>
                    </a:solidFill>
                  </a:tcPr>
                </a:tc>
                <a:tc>
                  <a:txBody>
                    <a:bodyPr wrap="square"/>
                    <a:lstStyle/>
                    <a:p>
                      <a:pPr algn="l">
                        <a:lnSpc>
                          <a:spcPct val="108000"/>
                        </a:lnSpc>
                      </a:pPr>
                      <a:r>
                        <a:rPr sz="1050" i="0" b="1">
                          <a:solidFill>
                            <a:srgbClr val="FFFFFF"/>
                          </a:solidFill>
                          <a:latin typeface="Segoe UI"/>
                        </a:rPr>
                        <a:t>Metric</a:t>
                      </a:r>
                    </a:p>
                  </a:txBody>
                  <a:tcPr marL="91440" marR="91440" marT="27432" marB="27432" anchor="ctr">
                    <a:solidFill>
                      <a:srgbClr val="2B6CB0"/>
                    </a:solidFill>
                  </a:tcPr>
                </a:tc>
                <a:tc>
                  <a:txBody>
                    <a:bodyPr wrap="square"/>
                    <a:lstStyle/>
                    <a:p>
                      <a:pPr algn="l">
                        <a:lnSpc>
                          <a:spcPct val="108000"/>
                        </a:lnSpc>
                      </a:pPr>
                      <a:r>
                        <a:rPr sz="1050" i="0" b="1">
                          <a:solidFill>
                            <a:srgbClr val="FFFFFF"/>
                          </a:solidFill>
                          <a:latin typeface="Segoe UI"/>
                        </a:rPr>
                        <a:t>Công thức</a:t>
                      </a:r>
                    </a:p>
                  </a:txBody>
                  <a:tcPr marL="91440" marR="91440" marT="27432" marB="27432" anchor="ctr">
                    <a:solidFill>
                      <a:srgbClr val="2B6CB0"/>
                    </a:solidFill>
                  </a:tcPr>
                </a:tc>
                <a:tc>
                  <a:txBody>
                    <a:bodyPr wrap="square"/>
                    <a:lstStyle/>
                    <a:p>
                      <a:pPr algn="l">
                        <a:lnSpc>
                          <a:spcPct val="108000"/>
                        </a:lnSpc>
                      </a:pPr>
                      <a:r>
                        <a:rPr sz="1050" i="0" b="1">
                          <a:solidFill>
                            <a:srgbClr val="FFFFFF"/>
                          </a:solidFill>
                          <a:latin typeface="Segoe UI"/>
                        </a:rPr>
                        <a:t>Giá trị đo được</a:t>
                      </a:r>
                    </a:p>
                  </a:txBody>
                  <a:tcPr marL="91440" marR="91440" marT="27432" marB="27432" anchor="ctr">
                    <a:solidFill>
                      <a:srgbClr val="2B6CB0"/>
                    </a:solidFill>
                  </a:tcPr>
                </a:tc>
                <a:tc>
                  <a:txBody>
                    <a:bodyPr wrap="square"/>
                    <a:lstStyle/>
                    <a:p>
                      <a:pPr algn="l">
                        <a:lnSpc>
                          <a:spcPct val="108000"/>
                        </a:lnSpc>
                      </a:pPr>
                      <a:r>
                        <a:rPr sz="1050" i="0" b="1">
                          <a:solidFill>
                            <a:srgbClr val="FFFFFF"/>
                          </a:solidFill>
                          <a:latin typeface="Segoe UI"/>
                        </a:rPr>
                        <a:t>Phục vụ</a:t>
                      </a:r>
                    </a:p>
                  </a:txBody>
                  <a:tcPr marL="91440" marR="91440" marT="27432" marB="27432" anchor="ctr">
                    <a:solidFill>
                      <a:srgbClr val="2B6CB0"/>
                    </a:solidFill>
                  </a:tcPr>
                </a:tc>
              </a:tr>
              <a:tr h="224028">
                <a:tc>
                  <a:txBody>
                    <a:bodyPr wrap="square"/>
                    <a:lstStyle/>
                    <a:p>
                      <a:pPr algn="ctr">
                        <a:lnSpc>
                          <a:spcPct val="108000"/>
                        </a:lnSpc>
                      </a:pPr>
                      <a:r>
                        <a:rPr sz="1050" i="0" b="0">
                          <a:solidFill>
                            <a:srgbClr val="1A202C"/>
                          </a:solidFill>
                          <a:latin typeface="Segoe UI"/>
                        </a:rPr>
                        <a:t>Me1</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Tỷ lệ kích hoạt tích lũy</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M2 / M1</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72,3%</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RQ1</a:t>
                      </a:r>
                    </a:p>
                  </a:txBody>
                  <a:tcPr marL="91440" marR="91440" marT="27432" marB="27432" anchor="ctr">
                    <a:solidFill>
                      <a:srgbClr val="FFFFFF"/>
                    </a:solidFill>
                  </a:tcPr>
                </a:tc>
              </a:tr>
              <a:tr h="224028">
                <a:tc>
                  <a:txBody>
                    <a:bodyPr wrap="square"/>
                    <a:lstStyle/>
                    <a:p>
                      <a:pPr algn="ctr">
                        <a:lnSpc>
                          <a:spcPct val="108000"/>
                        </a:lnSpc>
                      </a:pPr>
                      <a:r>
                        <a:rPr sz="1050" i="0" b="0">
                          <a:solidFill>
                            <a:srgbClr val="1A202C"/>
                          </a:solidFill>
                          <a:latin typeface="Segoe UI"/>
                        </a:rPr>
                        <a:t>Me2</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Tỷ lệ mua lại</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#(M7 ≥ 2) / M2</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74,3%</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RQ1</a:t>
                      </a:r>
                    </a:p>
                  </a:txBody>
                  <a:tcPr marL="91440" marR="91440" marT="27432" marB="27432" anchor="ctr">
                    <a:solidFill>
                      <a:srgbClr val="F1F5F9"/>
                    </a:solidFill>
                  </a:tcPr>
                </a:tc>
              </a:tr>
              <a:tr h="224028">
                <a:tc>
                  <a:txBody>
                    <a:bodyPr wrap="square"/>
                    <a:lstStyle/>
                    <a:p>
                      <a:pPr algn="ctr">
                        <a:lnSpc>
                          <a:spcPct val="108000"/>
                        </a:lnSpc>
                      </a:pPr>
                      <a:r>
                        <a:rPr sz="1050" i="0" b="0">
                          <a:solidFill>
                            <a:srgbClr val="1A202C"/>
                          </a:solidFill>
                          <a:latin typeface="Segoe UI"/>
                        </a:rPr>
                        <a:t>Me3</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Tần suất mua / năm</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M3(năm) / M2(năm)</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1,87 → 1,42</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RQ3, H1</a:t>
                      </a:r>
                    </a:p>
                  </a:txBody>
                  <a:tcPr marL="91440" marR="91440" marT="27432" marB="27432" anchor="ctr">
                    <a:solidFill>
                      <a:srgbClr val="FFFFFF"/>
                    </a:solidFill>
                  </a:tcPr>
                </a:tc>
              </a:tr>
              <a:tr h="224028">
                <a:tc>
                  <a:txBody>
                    <a:bodyPr wrap="square"/>
                    <a:lstStyle/>
                    <a:p>
                      <a:pPr algn="ctr">
                        <a:lnSpc>
                          <a:spcPct val="108000"/>
                        </a:lnSpc>
                      </a:pPr>
                      <a:r>
                        <a:rPr sz="1050" i="0" b="0">
                          <a:solidFill>
                            <a:srgbClr val="1A202C"/>
                          </a:solidFill>
                          <a:latin typeface="Segoe UI"/>
                        </a:rPr>
                        <a:t>Me4</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Khách mua lần đầu mỗi năm</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#(year(M5) = Y)</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24.407 → 1.328</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RQ2, H2</a:t>
                      </a:r>
                    </a:p>
                  </a:txBody>
                  <a:tcPr marL="91440" marR="91440" marT="27432" marB="27432" anchor="ctr">
                    <a:solidFill>
                      <a:srgbClr val="F1F5F9"/>
                    </a:solidFill>
                  </a:tcPr>
                </a:tc>
              </a:tr>
              <a:tr h="224028">
                <a:tc>
                  <a:txBody>
                    <a:bodyPr wrap="square"/>
                    <a:lstStyle/>
                    <a:p>
                      <a:pPr algn="ctr">
                        <a:lnSpc>
                          <a:spcPct val="108000"/>
                        </a:lnSpc>
                      </a:pPr>
                      <a:r>
                        <a:rPr sz="1050" i="0" b="0">
                          <a:solidFill>
                            <a:srgbClr val="1A202C"/>
                          </a:solidFill>
                          <a:latin typeface="Segoe UI"/>
                        </a:rPr>
                        <a:t>Me5</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Giữ chân năm +N</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cohort C mua ở C+N / cỡ C</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49,5% → 7,0%</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RQ2, H3</a:t>
                      </a:r>
                    </a:p>
                  </a:txBody>
                  <a:tcPr marL="91440" marR="91440" marT="27432" marB="27432" anchor="ctr">
                    <a:solidFill>
                      <a:srgbClr val="FFFFFF"/>
                    </a:solidFill>
                  </a:tcPr>
                </a:tc>
              </a:tr>
              <a:tr h="224028">
                <a:tc>
                  <a:txBody>
                    <a:bodyPr wrap="square"/>
                    <a:lstStyle/>
                    <a:p>
                      <a:pPr algn="ctr">
                        <a:lnSpc>
                          <a:spcPct val="108000"/>
                        </a:lnSpc>
                      </a:pPr>
                      <a:r>
                        <a:rPr sz="1050" i="0" b="0">
                          <a:solidFill>
                            <a:srgbClr val="1A202C"/>
                          </a:solidFill>
                          <a:latin typeface="Segoe UI"/>
                        </a:rPr>
                        <a:t>Me6</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Giá trị cohort 3 năm</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Σ rev 3 năm đầu / cỡ cohort</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78.589 → 35.378</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RQ4, H3</a:t>
                      </a:r>
                    </a:p>
                  </a:txBody>
                  <a:tcPr marL="91440" marR="91440" marT="27432" marB="27432" anchor="ctr">
                    <a:solidFill>
                      <a:srgbClr val="F1F5F9"/>
                    </a:solidFill>
                  </a:tcPr>
                </a:tc>
              </a:tr>
              <a:tr h="224028">
                <a:tc>
                  <a:txBody>
                    <a:bodyPr wrap="square"/>
                    <a:lstStyle/>
                    <a:p>
                      <a:pPr algn="ctr">
                        <a:lnSpc>
                          <a:spcPct val="108000"/>
                        </a:lnSpc>
                      </a:pPr>
                      <a:r>
                        <a:rPr sz="1050" i="0" b="0">
                          <a:solidFill>
                            <a:srgbClr val="1A202C"/>
                          </a:solidFill>
                          <a:latin typeface="Segoe UI"/>
                        </a:rPr>
                        <a:t>Me7</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Tỷ trọng doanh thu khách mới</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rev khách mới / tổng rev</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55,4% → 4,2%</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RQ6</a:t>
                      </a:r>
                    </a:p>
                  </a:txBody>
                  <a:tcPr marL="91440" marR="91440" marT="27432" marB="27432" anchor="ctr">
                    <a:solidFill>
                      <a:srgbClr val="FFFFFF"/>
                    </a:solidFill>
                  </a:tcPr>
                </a:tc>
              </a:tr>
              <a:tr h="224028">
                <a:tc>
                  <a:txBody>
                    <a:bodyPr wrap="square"/>
                    <a:lstStyle/>
                    <a:p>
                      <a:pPr algn="ctr">
                        <a:lnSpc>
                          <a:spcPct val="108000"/>
                        </a:lnSpc>
                      </a:pPr>
                      <a:r>
                        <a:rPr sz="1050" i="0" b="0">
                          <a:solidFill>
                            <a:srgbClr val="1A202C"/>
                          </a:solidFill>
                          <a:latin typeface="Segoe UI"/>
                        </a:rPr>
                        <a:t>Me8a</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Tỷ lệ chưa kích hoạt</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(M1 − M2) / M1</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26,0%</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K4, BTN1</a:t>
                      </a:r>
                    </a:p>
                  </a:txBody>
                  <a:tcPr marL="91440" marR="91440" marT="27432" marB="27432" anchor="ctr">
                    <a:solidFill>
                      <a:srgbClr val="F1F5F9"/>
                    </a:solidFill>
                  </a:tcPr>
                </a:tc>
              </a:tr>
              <a:tr h="224028">
                <a:tc>
                  <a:txBody>
                    <a:bodyPr wrap="square"/>
                    <a:lstStyle/>
                    <a:p>
                      <a:pPr algn="ctr">
                        <a:lnSpc>
                          <a:spcPct val="108000"/>
                        </a:lnSpc>
                      </a:pPr>
                      <a:r>
                        <a:rPr sz="1050" i="0" b="0">
                          <a:solidFill>
                            <a:srgbClr val="1A202C"/>
                          </a:solidFill>
                          <a:latin typeface="Segoe UI"/>
                        </a:rPr>
                        <a:t>Me8b</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Tỷ lệ ngủ đông</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#(recency &gt; 365) / M2</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72,6%</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K3′, BTN1</a:t>
                      </a:r>
                    </a:p>
                  </a:txBody>
                  <a:tcPr marL="91440" marR="91440" marT="27432" marB="27432" anchor="ctr">
                    <a:solidFill>
                      <a:srgbClr val="FFFFFF"/>
                    </a:solidFill>
                  </a:tcPr>
                </a:tc>
              </a:tr>
              <a:tr h="224028">
                <a:tc>
                  <a:txBody>
                    <a:bodyPr wrap="square"/>
                    <a:lstStyle/>
                    <a:p>
                      <a:pPr algn="ctr">
                        <a:lnSpc>
                          <a:spcPct val="108000"/>
                        </a:lnSpc>
                      </a:pPr>
                      <a:r>
                        <a:rPr sz="1050" i="0" b="0">
                          <a:solidFill>
                            <a:srgbClr val="1A202C"/>
                          </a:solidFill>
                          <a:latin typeface="Segoe UI"/>
                        </a:rPr>
                        <a:t>Me9</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LTV theo kênh</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AVG(M8) nhóm theo kênh</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chênh 2,45%</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RQ5, H5</a:t>
                      </a:r>
                    </a:p>
                  </a:txBody>
                  <a:tcPr marL="91440" marR="91440" marT="27432" marB="27432" anchor="ctr">
                    <a:solidFill>
                      <a:srgbClr val="F1F5F9"/>
                    </a:solidFill>
                  </a:tcPr>
                </a:tc>
              </a:tr>
              <a:tr h="224028">
                <a:tc>
                  <a:txBody>
                    <a:bodyPr wrap="square"/>
                    <a:lstStyle/>
                    <a:p>
                      <a:pPr algn="ctr">
                        <a:lnSpc>
                          <a:spcPct val="108000"/>
                        </a:lnSpc>
                      </a:pPr>
                      <a:r>
                        <a:rPr sz="1050" i="0" b="0">
                          <a:solidFill>
                            <a:srgbClr val="1A202C"/>
                          </a:solidFill>
                          <a:latin typeface="Segoe UI"/>
                        </a:rPr>
                        <a:t>Me10</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Đóng góp khách vs tần suất</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ΔKhách×TS₀ và Khách₀×ΔTS</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72,2% / 45,2%</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RQ3, H1</a:t>
                      </a:r>
                    </a:p>
                  </a:txBody>
                  <a:tcPr marL="91440" marR="91440" marT="27432" marB="27432" anchor="ctr">
                    <a:solidFill>
                      <a:srgbClr val="FFFFFF"/>
                    </a:solidFill>
                  </a:tcPr>
                </a:tc>
              </a:tr>
              <a:tr h="224028">
                <a:tc>
                  <a:txBody>
                    <a:bodyPr wrap="square"/>
                    <a:lstStyle/>
                    <a:p>
                      <a:pPr algn="ctr">
                        <a:lnSpc>
                          <a:spcPct val="108000"/>
                        </a:lnSpc>
                      </a:pPr>
                      <a:r>
                        <a:rPr sz="1050" i="0" b="0">
                          <a:solidFill>
                            <a:srgbClr val="1A202C"/>
                          </a:solidFill>
                          <a:latin typeface="Segoe UI"/>
                        </a:rPr>
                        <a:t>Me11</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Tỷ lệ hút từ pool</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Me4(Y) / M13(Y)</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20,02% → 2,38%</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K2′, BTN3</a:t>
                      </a:r>
                    </a:p>
                  </a:txBody>
                  <a:tcPr marL="91440" marR="91440" marT="27432" marB="27432" anchor="ctr">
                    <a:solidFill>
                      <a:srgbClr val="F1F5F9"/>
                    </a:solidFill>
                  </a:tcPr>
                </a:tc>
              </a:tr>
              <a:tr h="224028">
                <a:tc>
                  <a:txBody>
                    <a:bodyPr wrap="square"/>
                    <a:lstStyle/>
                    <a:p>
                      <a:pPr algn="ctr">
                        <a:lnSpc>
                          <a:spcPct val="108000"/>
                        </a:lnSpc>
                      </a:pPr>
                      <a:r>
                        <a:rPr sz="1050" i="0" b="0">
                          <a:solidFill>
                            <a:srgbClr val="1A202C"/>
                          </a:solidFill>
                          <a:latin typeface="Segoe UI"/>
                        </a:rPr>
                        <a:t>Me12</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Trung vị ngày tới đơn 2</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median(M5₂ − M5₁)</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308 ngày</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BTN4</a:t>
                      </a:r>
                    </a:p>
                  </a:txBody>
                  <a:tcPr marL="91440" marR="91440" marT="27432" marB="27432" anchor="ctr">
                    <a:solidFill>
                      <a:srgbClr val="FFFFFF"/>
                    </a:solidFill>
                  </a:tcPr>
                </a:tc>
              </a:tr>
              <a:tr h="224028">
                <a:tc>
                  <a:txBody>
                    <a:bodyPr wrap="square"/>
                    <a:lstStyle/>
                    <a:p>
                      <a:pPr algn="ctr">
                        <a:lnSpc>
                          <a:spcPct val="108000"/>
                        </a:lnSpc>
                      </a:pPr>
                      <a:r>
                        <a:rPr sz="1050" i="0" b="0">
                          <a:solidFill>
                            <a:srgbClr val="1A202C"/>
                          </a:solidFill>
                          <a:latin typeface="Segoe UI"/>
                        </a:rPr>
                        <a:t>Me13</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Hazard ratio biến đơn đầu</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exp(β) từ Cox PH</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xem slide 11</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BTN4</a:t>
                      </a:r>
                    </a:p>
                  </a:txBody>
                  <a:tcPr marL="91440" marR="91440" marT="27432" marB="27432" anchor="ctr">
                    <a:solidFill>
                      <a:srgbClr val="F1F5F9"/>
                    </a:solidFill>
                  </a:tcPr>
                </a:tc>
              </a:tr>
            </a:tbl>
          </a:graphicData>
        </a:graphic>
      </p:graphicFrame>
      <p:sp>
        <p:nvSpPr>
          <p:cNvPr id="9" name="Rounded Rectangle 8"/>
          <p:cNvSpPr/>
          <p:nvPr/>
        </p:nvSpPr>
        <p:spPr>
          <a:xfrm>
            <a:off x="685800" y="5650992"/>
            <a:ext cx="10817352" cy="658368"/>
          </a:xfrm>
          <a:prstGeom prst="roundRect">
            <a:avLst>
              <a:gd name="adj" fmla="val 6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5650992"/>
            <a:ext cx="64008" cy="658368"/>
          </a:xfrm>
          <a:prstGeom prst="rect">
            <a:avLst/>
          </a:prstGeom>
          <a:solidFill>
            <a:srgbClr val="B7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5833872"/>
            <a:ext cx="10268712" cy="292607"/>
          </a:xfrm>
          <a:prstGeom prst="rect">
            <a:avLst/>
          </a:prstGeom>
          <a:noFill/>
        </p:spPr>
        <p:txBody>
          <a:bodyPr wrap="square" lIns="0" rIns="0" tIns="0" bIns="0" anchor="ctr">
            <a:spAutoFit/>
          </a:bodyPr>
          <a:lstStyle/>
          <a:p>
            <a:pPr algn="l">
              <a:lnSpc>
                <a:spcPct val="125000"/>
              </a:lnSpc>
              <a:spcAft>
                <a:spcPts val="500"/>
              </a:spcAft>
            </a:pPr>
            <a:r>
              <a:rPr sz="1200" i="0" b="1">
                <a:solidFill>
                  <a:srgbClr val="B75309"/>
                </a:solidFill>
                <a:latin typeface="Segoe UI"/>
              </a:rPr>
              <a:t>Me8 cũ đã bị tách đôi.</a:t>
            </a:r>
            <a:r>
              <a:rPr sz="1200" i="0" b="0">
                <a:solidFill>
                  <a:srgbClr val="1A202C"/>
                </a:solidFill>
                <a:latin typeface="Segoe UI"/>
              </a:rPr>
              <a:t> Công thức cũ trộn khách chưa từng mua (không có recency) vào tử số — lỗi grain. Hệ quả nặng hơn tên gọi: </a:t>
            </a:r>
            <a:r>
              <a:rPr sz="1200" i="0" b="1">
                <a:solidFill>
                  <a:srgbClr val="B75309"/>
                </a:solidFill>
                <a:latin typeface="Segoe UI"/>
              </a:rPr>
              <a:t>K3 và K4 cũ chồng lấn tử số</a:t>
            </a:r>
            <a:r>
              <a:rPr sz="1200" i="0" b="0">
                <a:solidFill>
                  <a:srgbClr val="1A202C"/>
                </a:solidFill>
                <a:latin typeface="Segoe UI"/>
              </a:rPr>
              <a:t>, hai KPI cùng một phần tử số nhưng hai hành động khác nhau.</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III · TẦNG 3</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KPI — 7 chỉ số có ngưỡng và hành động</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KPI là Metric được chọn ra vì gắn mục tiêu, CÓ ngưỡng và CÓ hành động khi lệch ngưỡng</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17</a:t>
            </a:r>
          </a:p>
        </p:txBody>
      </p:sp>
      <p:graphicFrame>
        <p:nvGraphicFramePr>
          <p:cNvPr id="8" name="Table 7"/>
          <p:cNvGraphicFramePr>
            <a:graphicFrameLocks noGrp="1"/>
          </p:cNvGraphicFramePr>
          <p:nvPr/>
        </p:nvGraphicFramePr>
        <p:xfrm>
          <a:off x="685800" y="2176272"/>
          <a:ext cx="10817352" cy="2980944"/>
        </p:xfrm>
        <a:graphic>
          <a:graphicData uri="http://schemas.openxmlformats.org/drawingml/2006/table">
            <a:tbl>
              <a:tblPr>
                <a:tableStyleId>{2D5ABB26-0587-4C30-8999-92F81FD0307C}</a:tableStyleId>
              </a:tblPr>
              <a:tblGrid>
                <a:gridCol w="548640"/>
                <a:gridCol w="2240280"/>
                <a:gridCol w="1051560"/>
                <a:gridCol w="914400"/>
                <a:gridCol w="1554480"/>
                <a:gridCol w="1051560"/>
                <a:gridCol w="3456432"/>
              </a:tblGrid>
              <a:tr h="292608">
                <a:tc>
                  <a:txBody>
                    <a:bodyPr wrap="square"/>
                    <a:lstStyle/>
                    <a:p>
                      <a:pPr algn="ctr">
                        <a:lnSpc>
                          <a:spcPct val="108000"/>
                        </a:lnSpc>
                      </a:pPr>
                      <a:r>
                        <a:rPr sz="1050" i="0" b="1">
                          <a:solidFill>
                            <a:srgbClr val="FFFFFF"/>
                          </a:solidFill>
                          <a:latin typeface="Segoe UI"/>
                        </a:rPr>
                        <a:t>#</a:t>
                      </a:r>
                    </a:p>
                  </a:txBody>
                  <a:tcPr marL="91440" marR="91440" marT="27432" marB="27432" anchor="ctr">
                    <a:solidFill>
                      <a:srgbClr val="2B6CB0"/>
                    </a:solidFill>
                  </a:tcPr>
                </a:tc>
                <a:tc>
                  <a:txBody>
                    <a:bodyPr wrap="square"/>
                    <a:lstStyle/>
                    <a:p>
                      <a:pPr algn="l">
                        <a:lnSpc>
                          <a:spcPct val="108000"/>
                        </a:lnSpc>
                      </a:pPr>
                      <a:r>
                        <a:rPr sz="1050" i="0" b="1">
                          <a:solidFill>
                            <a:srgbClr val="FFFFFF"/>
                          </a:solidFill>
                          <a:latin typeface="Segoe UI"/>
                        </a:rPr>
                        <a:t>KPI</a:t>
                      </a:r>
                    </a:p>
                  </a:txBody>
                  <a:tcPr marL="91440" marR="91440" marT="27432" marB="27432" anchor="ctr">
                    <a:solidFill>
                      <a:srgbClr val="2B6CB0"/>
                    </a:solidFill>
                  </a:tcPr>
                </a:tc>
                <a:tc>
                  <a:txBody>
                    <a:bodyPr wrap="square"/>
                    <a:lstStyle/>
                    <a:p>
                      <a:pPr algn="l">
                        <a:lnSpc>
                          <a:spcPct val="108000"/>
                        </a:lnSpc>
                      </a:pPr>
                      <a:r>
                        <a:rPr sz="1050" i="0" b="1">
                          <a:solidFill>
                            <a:srgbClr val="FFFFFF"/>
                          </a:solidFill>
                          <a:latin typeface="Segoe UI"/>
                        </a:rPr>
                        <a:t>Nguồn</a:t>
                      </a:r>
                    </a:p>
                  </a:txBody>
                  <a:tcPr marL="91440" marR="91440" marT="27432" marB="27432" anchor="ctr">
                    <a:solidFill>
                      <a:srgbClr val="2B6CB0"/>
                    </a:solidFill>
                  </a:tcPr>
                </a:tc>
                <a:tc>
                  <a:txBody>
                    <a:bodyPr wrap="square"/>
                    <a:lstStyle/>
                    <a:p>
                      <a:pPr algn="r">
                        <a:lnSpc>
                          <a:spcPct val="108000"/>
                        </a:lnSpc>
                      </a:pPr>
                      <a:r>
                        <a:rPr sz="1050" i="0" b="1">
                          <a:solidFill>
                            <a:srgbClr val="FFFFFF"/>
                          </a:solidFill>
                          <a:latin typeface="Segoe UI"/>
                        </a:rPr>
                        <a:t>Hiện tại</a:t>
                      </a:r>
                    </a:p>
                  </a:txBody>
                  <a:tcPr marL="91440" marR="91440" marT="27432" marB="27432" anchor="ctr">
                    <a:solidFill>
                      <a:srgbClr val="2B6CB0"/>
                    </a:solidFill>
                  </a:tcPr>
                </a:tc>
                <a:tc>
                  <a:txBody>
                    <a:bodyPr wrap="square"/>
                    <a:lstStyle/>
                    <a:p>
                      <a:pPr algn="r">
                        <a:lnSpc>
                          <a:spcPct val="108000"/>
                        </a:lnSpc>
                      </a:pPr>
                      <a:r>
                        <a:rPr sz="1050" i="0" b="1">
                          <a:solidFill>
                            <a:srgbClr val="FFFFFF"/>
                          </a:solidFill>
                          <a:latin typeface="Segoe UI"/>
                        </a:rPr>
                        <a:t>Ngưỡng</a:t>
                      </a:r>
                    </a:p>
                  </a:txBody>
                  <a:tcPr marL="91440" marR="91440" marT="27432" marB="27432" anchor="ctr">
                    <a:solidFill>
                      <a:srgbClr val="2B6CB0"/>
                    </a:solidFill>
                  </a:tcPr>
                </a:tc>
                <a:tc>
                  <a:txBody>
                    <a:bodyPr wrap="square"/>
                    <a:lstStyle/>
                    <a:p>
                      <a:pPr algn="ctr">
                        <a:lnSpc>
                          <a:spcPct val="108000"/>
                        </a:lnSpc>
                      </a:pPr>
                      <a:r>
                        <a:rPr sz="1050" i="0" b="1">
                          <a:solidFill>
                            <a:srgbClr val="FFFFFF"/>
                          </a:solidFill>
                          <a:latin typeface="Segoe UI"/>
                        </a:rPr>
                        <a:t>Loại</a:t>
                      </a:r>
                    </a:p>
                  </a:txBody>
                  <a:tcPr marL="91440" marR="91440" marT="27432" marB="27432" anchor="ctr">
                    <a:solidFill>
                      <a:srgbClr val="2B6CB0"/>
                    </a:solidFill>
                  </a:tcPr>
                </a:tc>
                <a:tc>
                  <a:txBody>
                    <a:bodyPr wrap="square"/>
                    <a:lstStyle/>
                    <a:p>
                      <a:pPr algn="l">
                        <a:lnSpc>
                          <a:spcPct val="108000"/>
                        </a:lnSpc>
                      </a:pPr>
                      <a:r>
                        <a:rPr sz="1050" i="0" b="1">
                          <a:solidFill>
                            <a:srgbClr val="FFFFFF"/>
                          </a:solidFill>
                          <a:latin typeface="Segoe UI"/>
                        </a:rPr>
                        <a:t>Hành động khi lệch</a:t>
                      </a:r>
                    </a:p>
                  </a:txBody>
                  <a:tcPr marL="91440" marR="91440" marT="27432" marB="27432" anchor="ctr">
                    <a:solidFill>
                      <a:srgbClr val="2B6CB0"/>
                    </a:solidFill>
                  </a:tcPr>
                </a:tc>
              </a:tr>
              <a:tr h="384048">
                <a:tc>
                  <a:txBody>
                    <a:bodyPr wrap="square"/>
                    <a:lstStyle/>
                    <a:p>
                      <a:pPr algn="ctr">
                        <a:lnSpc>
                          <a:spcPct val="108000"/>
                        </a:lnSpc>
                      </a:pPr>
                      <a:r>
                        <a:rPr sz="1100" i="0" b="0">
                          <a:solidFill>
                            <a:srgbClr val="1A202C"/>
                          </a:solidFill>
                          <a:latin typeface="Segoe UI"/>
                        </a:rPr>
                        <a:t>K1</a:t>
                      </a:r>
                    </a:p>
                  </a:txBody>
                  <a:tcPr marL="91440" marR="91440" marT="27432" marB="27432" anchor="ctr">
                    <a:solidFill>
                      <a:srgbClr val="FFFFFF"/>
                    </a:solidFill>
                  </a:tcPr>
                </a:tc>
                <a:tc>
                  <a:txBody>
                    <a:bodyPr wrap="square"/>
                    <a:lstStyle/>
                    <a:p>
                      <a:pPr algn="l">
                        <a:lnSpc>
                          <a:spcPct val="108000"/>
                        </a:lnSpc>
                      </a:pPr>
                      <a:r>
                        <a:rPr sz="1100" i="0" b="0">
                          <a:solidFill>
                            <a:srgbClr val="1A202C"/>
                          </a:solidFill>
                          <a:latin typeface="Segoe UI"/>
                        </a:rPr>
                        <a:t>Giữ chân năm +1</a:t>
                      </a:r>
                    </a:p>
                  </a:txBody>
                  <a:tcPr marL="91440" marR="91440" marT="27432" marB="27432" anchor="ctr">
                    <a:solidFill>
                      <a:srgbClr val="FFFFFF"/>
                    </a:solidFill>
                  </a:tcPr>
                </a:tc>
                <a:tc>
                  <a:txBody>
                    <a:bodyPr wrap="square"/>
                    <a:lstStyle/>
                    <a:p>
                      <a:pPr algn="l">
                        <a:lnSpc>
                          <a:spcPct val="108000"/>
                        </a:lnSpc>
                      </a:pPr>
                      <a:r>
                        <a:rPr sz="1100" i="0" b="0">
                          <a:solidFill>
                            <a:srgbClr val="1A202C"/>
                          </a:solidFill>
                          <a:latin typeface="Segoe UI"/>
                        </a:rPr>
                        <a:t>Me5 (N=1)</a:t>
                      </a:r>
                    </a:p>
                  </a:txBody>
                  <a:tcPr marL="91440" marR="91440" marT="27432" marB="27432" anchor="ctr">
                    <a:solidFill>
                      <a:srgbClr val="FFFFFF"/>
                    </a:solidFill>
                  </a:tcPr>
                </a:tc>
                <a:tc>
                  <a:txBody>
                    <a:bodyPr wrap="square"/>
                    <a:lstStyle/>
                    <a:p>
                      <a:pPr algn="r">
                        <a:lnSpc>
                          <a:spcPct val="108000"/>
                        </a:lnSpc>
                      </a:pPr>
                      <a:r>
                        <a:rPr sz="1100" i="0" b="0">
                          <a:solidFill>
                            <a:srgbClr val="1A202C"/>
                          </a:solidFill>
                          <a:latin typeface="Segoe UI"/>
                        </a:rPr>
                        <a:t>7,0%</a:t>
                      </a:r>
                    </a:p>
                  </a:txBody>
                  <a:tcPr marL="91440" marR="91440" marT="27432" marB="27432" anchor="ctr">
                    <a:solidFill>
                      <a:srgbClr val="FFFFFF"/>
                    </a:solidFill>
                  </a:tcPr>
                </a:tc>
                <a:tc>
                  <a:txBody>
                    <a:bodyPr wrap="square"/>
                    <a:lstStyle/>
                    <a:p>
                      <a:pPr algn="r">
                        <a:lnSpc>
                          <a:spcPct val="108000"/>
                        </a:lnSpc>
                      </a:pPr>
                      <a:r>
                        <a:rPr sz="1100" i="0" b="0">
                          <a:solidFill>
                            <a:srgbClr val="1A202C"/>
                          </a:solidFill>
                          <a:latin typeface="Segoe UI"/>
                        </a:rPr>
                        <a:t>≥ 20%</a:t>
                      </a:r>
                    </a:p>
                  </a:txBody>
                  <a:tcPr marL="91440" marR="91440" marT="27432" marB="27432" anchor="ctr">
                    <a:solidFill>
                      <a:srgbClr val="FFFFFF"/>
                    </a:solidFill>
                  </a:tcPr>
                </a:tc>
                <a:tc>
                  <a:txBody>
                    <a:bodyPr wrap="square"/>
                    <a:lstStyle/>
                    <a:p>
                      <a:pPr algn="ctr">
                        <a:lnSpc>
                          <a:spcPct val="108000"/>
                        </a:lnSpc>
                      </a:pPr>
                      <a:r>
                        <a:rPr sz="1100" i="0" b="0">
                          <a:solidFill>
                            <a:srgbClr val="1A202C"/>
                          </a:solidFill>
                          <a:latin typeface="Segoe UI"/>
                        </a:rPr>
                        <a:t>dẫn báo</a:t>
                      </a:r>
                    </a:p>
                  </a:txBody>
                  <a:tcPr marL="91440" marR="91440" marT="27432" marB="27432" anchor="ctr">
                    <a:solidFill>
                      <a:srgbClr val="FFFFFF"/>
                    </a:solidFill>
                  </a:tcPr>
                </a:tc>
                <a:tc>
                  <a:txBody>
                    <a:bodyPr wrap="square"/>
                    <a:lstStyle/>
                    <a:p>
                      <a:pPr algn="l">
                        <a:lnSpc>
                          <a:spcPct val="108000"/>
                        </a:lnSpc>
                      </a:pPr>
                      <a:r>
                        <a:rPr sz="1100" i="0" b="0">
                          <a:solidFill>
                            <a:srgbClr val="1A202C"/>
                          </a:solidFill>
                          <a:latin typeface="Segoe UI"/>
                        </a:rPr>
                        <a:t>Chuỗi nuôi dưỡng sau đơn đầu</a:t>
                      </a:r>
                    </a:p>
                  </a:txBody>
                  <a:tcPr marL="91440" marR="91440" marT="27432" marB="27432" anchor="ctr">
                    <a:solidFill>
                      <a:srgbClr val="FFFFFF"/>
                    </a:solidFill>
                  </a:tcPr>
                </a:tc>
              </a:tr>
              <a:tr h="384048">
                <a:tc>
                  <a:txBody>
                    <a:bodyPr wrap="square"/>
                    <a:lstStyle/>
                    <a:p>
                      <a:pPr algn="ctr">
                        <a:lnSpc>
                          <a:spcPct val="108000"/>
                        </a:lnSpc>
                      </a:pPr>
                      <a:r>
                        <a:rPr sz="1100" i="0" b="0">
                          <a:solidFill>
                            <a:srgbClr val="1A202C"/>
                          </a:solidFill>
                          <a:latin typeface="Segoe UI"/>
                        </a:rPr>
                        <a:t>K2′</a:t>
                      </a:r>
                    </a:p>
                  </a:txBody>
                  <a:tcPr marL="91440" marR="91440" marT="27432" marB="27432" anchor="ctr">
                    <a:solidFill>
                      <a:srgbClr val="F1F5F9"/>
                    </a:solidFill>
                  </a:tcPr>
                </a:tc>
                <a:tc>
                  <a:txBody>
                    <a:bodyPr wrap="square"/>
                    <a:lstStyle/>
                    <a:p>
                      <a:pPr algn="l">
                        <a:lnSpc>
                          <a:spcPct val="108000"/>
                        </a:lnSpc>
                      </a:pPr>
                      <a:r>
                        <a:rPr sz="1100" i="0" b="0">
                          <a:solidFill>
                            <a:srgbClr val="1A202C"/>
                          </a:solidFill>
                          <a:latin typeface="Segoe UI"/>
                        </a:rPr>
                        <a:t>Tỷ lệ hút từ pool</a:t>
                      </a:r>
                    </a:p>
                  </a:txBody>
                  <a:tcPr marL="91440" marR="91440" marT="27432" marB="27432" anchor="ctr">
                    <a:solidFill>
                      <a:srgbClr val="F1F5F9"/>
                    </a:solidFill>
                  </a:tcPr>
                </a:tc>
                <a:tc>
                  <a:txBody>
                    <a:bodyPr wrap="square"/>
                    <a:lstStyle/>
                    <a:p>
                      <a:pPr algn="l">
                        <a:lnSpc>
                          <a:spcPct val="108000"/>
                        </a:lnSpc>
                      </a:pPr>
                      <a:r>
                        <a:rPr sz="1100" i="0" b="0">
                          <a:solidFill>
                            <a:srgbClr val="1A202C"/>
                          </a:solidFill>
                          <a:latin typeface="Segoe UI"/>
                        </a:rPr>
                        <a:t>Me11</a:t>
                      </a:r>
                    </a:p>
                  </a:txBody>
                  <a:tcPr marL="91440" marR="91440" marT="27432" marB="27432" anchor="ctr">
                    <a:solidFill>
                      <a:srgbClr val="F1F5F9"/>
                    </a:solidFill>
                  </a:tcPr>
                </a:tc>
                <a:tc>
                  <a:txBody>
                    <a:bodyPr wrap="square"/>
                    <a:lstStyle/>
                    <a:p>
                      <a:pPr algn="r">
                        <a:lnSpc>
                          <a:spcPct val="108000"/>
                        </a:lnSpc>
                      </a:pPr>
                      <a:r>
                        <a:rPr sz="1100" i="0" b="0">
                          <a:solidFill>
                            <a:srgbClr val="1A202C"/>
                          </a:solidFill>
                          <a:latin typeface="Segoe UI"/>
                        </a:rPr>
                        <a:t>2,38%</a:t>
                      </a:r>
                    </a:p>
                  </a:txBody>
                  <a:tcPr marL="91440" marR="91440" marT="27432" marB="27432" anchor="ctr">
                    <a:solidFill>
                      <a:srgbClr val="F1F5F9"/>
                    </a:solidFill>
                  </a:tcPr>
                </a:tc>
                <a:tc>
                  <a:txBody>
                    <a:bodyPr wrap="square"/>
                    <a:lstStyle/>
                    <a:p>
                      <a:pPr algn="r">
                        <a:lnSpc>
                          <a:spcPct val="108000"/>
                        </a:lnSpc>
                      </a:pPr>
                      <a:r>
                        <a:rPr sz="1100" i="0" b="0">
                          <a:solidFill>
                            <a:srgbClr val="1A202C"/>
                          </a:solidFill>
                          <a:latin typeface="Segoe UI"/>
                        </a:rPr>
                        <a:t>không giảm YoY</a:t>
                      </a:r>
                    </a:p>
                  </a:txBody>
                  <a:tcPr marL="91440" marR="91440" marT="27432" marB="27432" anchor="ctr">
                    <a:solidFill>
                      <a:srgbClr val="F1F5F9"/>
                    </a:solidFill>
                  </a:tcPr>
                </a:tc>
                <a:tc>
                  <a:txBody>
                    <a:bodyPr wrap="square"/>
                    <a:lstStyle/>
                    <a:p>
                      <a:pPr algn="ctr">
                        <a:lnSpc>
                          <a:spcPct val="108000"/>
                        </a:lnSpc>
                      </a:pPr>
                      <a:r>
                        <a:rPr sz="1100" i="0" b="0">
                          <a:solidFill>
                            <a:srgbClr val="1A202C"/>
                          </a:solidFill>
                          <a:latin typeface="Segoe UI"/>
                        </a:rPr>
                        <a:t>dẫn báo</a:t>
                      </a:r>
                    </a:p>
                  </a:txBody>
                  <a:tcPr marL="91440" marR="91440" marT="27432" marB="27432" anchor="ctr">
                    <a:solidFill>
                      <a:srgbClr val="F1F5F9"/>
                    </a:solidFill>
                  </a:tcPr>
                </a:tc>
                <a:tc>
                  <a:txBody>
                    <a:bodyPr wrap="square"/>
                    <a:lstStyle/>
                    <a:p>
                      <a:pPr algn="l">
                        <a:lnSpc>
                          <a:spcPct val="108000"/>
                        </a:lnSpc>
                      </a:pPr>
                      <a:r>
                        <a:rPr sz="1100" i="0" b="0">
                          <a:solidFill>
                            <a:srgbClr val="1A202C"/>
                          </a:solidFill>
                          <a:latin typeface="Segoe UI"/>
                        </a:rPr>
                        <a:t>Xem lại chương trình kích hoạt</a:t>
                      </a:r>
                    </a:p>
                  </a:txBody>
                  <a:tcPr marL="91440" marR="91440" marT="27432" marB="27432" anchor="ctr">
                    <a:solidFill>
                      <a:srgbClr val="F1F5F9"/>
                    </a:solidFill>
                  </a:tcPr>
                </a:tc>
              </a:tr>
              <a:tr h="384048">
                <a:tc>
                  <a:txBody>
                    <a:bodyPr wrap="square"/>
                    <a:lstStyle/>
                    <a:p>
                      <a:pPr algn="ctr">
                        <a:lnSpc>
                          <a:spcPct val="108000"/>
                        </a:lnSpc>
                      </a:pPr>
                      <a:r>
                        <a:rPr sz="1100" i="0" b="0">
                          <a:solidFill>
                            <a:srgbClr val="1A202C"/>
                          </a:solidFill>
                          <a:latin typeface="Segoe UI"/>
                        </a:rPr>
                        <a:t>K3′</a:t>
                      </a:r>
                    </a:p>
                  </a:txBody>
                  <a:tcPr marL="91440" marR="91440" marT="27432" marB="27432" anchor="ctr">
                    <a:solidFill>
                      <a:srgbClr val="FFFFFF"/>
                    </a:solidFill>
                  </a:tcPr>
                </a:tc>
                <a:tc>
                  <a:txBody>
                    <a:bodyPr wrap="square"/>
                    <a:lstStyle/>
                    <a:p>
                      <a:pPr algn="l">
                        <a:lnSpc>
                          <a:spcPct val="108000"/>
                        </a:lnSpc>
                      </a:pPr>
                      <a:r>
                        <a:rPr sz="1100" i="0" b="0">
                          <a:solidFill>
                            <a:srgbClr val="1A202C"/>
                          </a:solidFill>
                          <a:latin typeface="Segoe UI"/>
                        </a:rPr>
                        <a:t>Tỷ lệ ngủ đông</a:t>
                      </a:r>
                    </a:p>
                  </a:txBody>
                  <a:tcPr marL="91440" marR="91440" marT="27432" marB="27432" anchor="ctr">
                    <a:solidFill>
                      <a:srgbClr val="FFFFFF"/>
                    </a:solidFill>
                  </a:tcPr>
                </a:tc>
                <a:tc>
                  <a:txBody>
                    <a:bodyPr wrap="square"/>
                    <a:lstStyle/>
                    <a:p>
                      <a:pPr algn="l">
                        <a:lnSpc>
                          <a:spcPct val="108000"/>
                        </a:lnSpc>
                      </a:pPr>
                      <a:r>
                        <a:rPr sz="1100" i="0" b="0">
                          <a:solidFill>
                            <a:srgbClr val="1A202C"/>
                          </a:solidFill>
                          <a:latin typeface="Segoe UI"/>
                        </a:rPr>
                        <a:t>Me8b</a:t>
                      </a:r>
                    </a:p>
                  </a:txBody>
                  <a:tcPr marL="91440" marR="91440" marT="27432" marB="27432" anchor="ctr">
                    <a:solidFill>
                      <a:srgbClr val="FFFFFF"/>
                    </a:solidFill>
                  </a:tcPr>
                </a:tc>
                <a:tc>
                  <a:txBody>
                    <a:bodyPr wrap="square"/>
                    <a:lstStyle/>
                    <a:p>
                      <a:pPr algn="r">
                        <a:lnSpc>
                          <a:spcPct val="108000"/>
                        </a:lnSpc>
                      </a:pPr>
                      <a:r>
                        <a:rPr sz="1100" i="0" b="0">
                          <a:solidFill>
                            <a:srgbClr val="1A202C"/>
                          </a:solidFill>
                          <a:latin typeface="Segoe UI"/>
                        </a:rPr>
                        <a:t>72,6%</a:t>
                      </a:r>
                    </a:p>
                  </a:txBody>
                  <a:tcPr marL="91440" marR="91440" marT="27432" marB="27432" anchor="ctr">
                    <a:solidFill>
                      <a:srgbClr val="FFFFFF"/>
                    </a:solidFill>
                  </a:tcPr>
                </a:tc>
                <a:tc>
                  <a:txBody>
                    <a:bodyPr wrap="square"/>
                    <a:lstStyle/>
                    <a:p>
                      <a:pPr algn="r">
                        <a:lnSpc>
                          <a:spcPct val="108000"/>
                        </a:lnSpc>
                      </a:pPr>
                      <a:r>
                        <a:rPr sz="1100" i="0" b="0">
                          <a:solidFill>
                            <a:srgbClr val="1A202C"/>
                          </a:solidFill>
                          <a:latin typeface="Segoe UI"/>
                        </a:rPr>
                        <a:t>≤ 60%</a:t>
                      </a:r>
                    </a:p>
                  </a:txBody>
                  <a:tcPr marL="91440" marR="91440" marT="27432" marB="27432" anchor="ctr">
                    <a:solidFill>
                      <a:srgbClr val="FFFFFF"/>
                    </a:solidFill>
                  </a:tcPr>
                </a:tc>
                <a:tc>
                  <a:txBody>
                    <a:bodyPr wrap="square"/>
                    <a:lstStyle/>
                    <a:p>
                      <a:pPr algn="ctr">
                        <a:lnSpc>
                          <a:spcPct val="108000"/>
                        </a:lnSpc>
                      </a:pPr>
                      <a:r>
                        <a:rPr sz="1100" i="0" b="0">
                          <a:solidFill>
                            <a:srgbClr val="1A202C"/>
                          </a:solidFill>
                          <a:latin typeface="Segoe UI"/>
                        </a:rPr>
                        <a:t>dẫn báo</a:t>
                      </a:r>
                    </a:p>
                  </a:txBody>
                  <a:tcPr marL="91440" marR="91440" marT="27432" marB="27432" anchor="ctr">
                    <a:solidFill>
                      <a:srgbClr val="FFFFFF"/>
                    </a:solidFill>
                  </a:tcPr>
                </a:tc>
                <a:tc>
                  <a:txBody>
                    <a:bodyPr wrap="square"/>
                    <a:lstStyle/>
                    <a:p>
                      <a:pPr algn="l">
                        <a:lnSpc>
                          <a:spcPct val="108000"/>
                        </a:lnSpc>
                      </a:pPr>
                      <a:r>
                        <a:rPr sz="1100" i="0" b="0">
                          <a:solidFill>
                            <a:srgbClr val="1A202C"/>
                          </a:solidFill>
                          <a:latin typeface="Segoe UI"/>
                        </a:rPr>
                        <a:t>Giành lại nhóm recency 1–2 năm</a:t>
                      </a:r>
                    </a:p>
                  </a:txBody>
                  <a:tcPr marL="91440" marR="91440" marT="27432" marB="27432" anchor="ctr">
                    <a:solidFill>
                      <a:srgbClr val="FFFFFF"/>
                    </a:solidFill>
                  </a:tcPr>
                </a:tc>
              </a:tr>
              <a:tr h="384048">
                <a:tc>
                  <a:txBody>
                    <a:bodyPr wrap="square"/>
                    <a:lstStyle/>
                    <a:p>
                      <a:pPr algn="ctr">
                        <a:lnSpc>
                          <a:spcPct val="108000"/>
                        </a:lnSpc>
                      </a:pPr>
                      <a:r>
                        <a:rPr sz="1100" i="0" b="0">
                          <a:solidFill>
                            <a:srgbClr val="1A202C"/>
                          </a:solidFill>
                          <a:latin typeface="Segoe UI"/>
                        </a:rPr>
                        <a:t>K4</a:t>
                      </a:r>
                    </a:p>
                  </a:txBody>
                  <a:tcPr marL="91440" marR="91440" marT="27432" marB="27432" anchor="ctr">
                    <a:solidFill>
                      <a:srgbClr val="F1F5F9"/>
                    </a:solidFill>
                  </a:tcPr>
                </a:tc>
                <a:tc>
                  <a:txBody>
                    <a:bodyPr wrap="square"/>
                    <a:lstStyle/>
                    <a:p>
                      <a:pPr algn="l">
                        <a:lnSpc>
                          <a:spcPct val="108000"/>
                        </a:lnSpc>
                      </a:pPr>
                      <a:r>
                        <a:rPr sz="1100" i="0" b="0">
                          <a:solidFill>
                            <a:srgbClr val="1A202C"/>
                          </a:solidFill>
                          <a:latin typeface="Segoe UI"/>
                        </a:rPr>
                        <a:t>Tỷ lệ kích hoạt tích lũy</a:t>
                      </a:r>
                    </a:p>
                  </a:txBody>
                  <a:tcPr marL="91440" marR="91440" marT="27432" marB="27432" anchor="ctr">
                    <a:solidFill>
                      <a:srgbClr val="F1F5F9"/>
                    </a:solidFill>
                  </a:tcPr>
                </a:tc>
                <a:tc>
                  <a:txBody>
                    <a:bodyPr wrap="square"/>
                    <a:lstStyle/>
                    <a:p>
                      <a:pPr algn="l">
                        <a:lnSpc>
                          <a:spcPct val="108000"/>
                        </a:lnSpc>
                      </a:pPr>
                      <a:r>
                        <a:rPr sz="1100" i="0" b="0">
                          <a:solidFill>
                            <a:srgbClr val="1A202C"/>
                          </a:solidFill>
                          <a:latin typeface="Segoe UI"/>
                        </a:rPr>
                        <a:t>Me1</a:t>
                      </a:r>
                    </a:p>
                  </a:txBody>
                  <a:tcPr marL="91440" marR="91440" marT="27432" marB="27432" anchor="ctr">
                    <a:solidFill>
                      <a:srgbClr val="F1F5F9"/>
                    </a:solidFill>
                  </a:tcPr>
                </a:tc>
                <a:tc>
                  <a:txBody>
                    <a:bodyPr wrap="square"/>
                    <a:lstStyle/>
                    <a:p>
                      <a:pPr algn="r">
                        <a:lnSpc>
                          <a:spcPct val="108000"/>
                        </a:lnSpc>
                      </a:pPr>
                      <a:r>
                        <a:rPr sz="1100" i="0" b="0">
                          <a:solidFill>
                            <a:srgbClr val="1A202C"/>
                          </a:solidFill>
                          <a:latin typeface="Segoe UI"/>
                        </a:rPr>
                        <a:t>72,3%</a:t>
                      </a:r>
                    </a:p>
                  </a:txBody>
                  <a:tcPr marL="91440" marR="91440" marT="27432" marB="27432" anchor="ctr">
                    <a:solidFill>
                      <a:srgbClr val="F1F5F9"/>
                    </a:solidFill>
                  </a:tcPr>
                </a:tc>
                <a:tc>
                  <a:txBody>
                    <a:bodyPr wrap="square"/>
                    <a:lstStyle/>
                    <a:p>
                      <a:pPr algn="r">
                        <a:lnSpc>
                          <a:spcPct val="108000"/>
                        </a:lnSpc>
                      </a:pPr>
                      <a:r>
                        <a:rPr sz="1100" i="0" b="0">
                          <a:solidFill>
                            <a:srgbClr val="1A202C"/>
                          </a:solidFill>
                          <a:latin typeface="Segoe UI"/>
                        </a:rPr>
                        <a:t>bỏ ngưỡng</a:t>
                      </a:r>
                    </a:p>
                  </a:txBody>
                  <a:tcPr marL="91440" marR="91440" marT="27432" marB="27432" anchor="ctr">
                    <a:solidFill>
                      <a:srgbClr val="F1F5F9"/>
                    </a:solidFill>
                  </a:tcPr>
                </a:tc>
                <a:tc>
                  <a:txBody>
                    <a:bodyPr wrap="square"/>
                    <a:lstStyle/>
                    <a:p>
                      <a:pPr algn="ctr">
                        <a:lnSpc>
                          <a:spcPct val="108000"/>
                        </a:lnSpc>
                      </a:pPr>
                      <a:r>
                        <a:rPr sz="1100" i="0" b="0">
                          <a:solidFill>
                            <a:srgbClr val="1A202C"/>
                          </a:solidFill>
                          <a:latin typeface="Segoe UI"/>
                        </a:rPr>
                        <a:t>theo dõi</a:t>
                      </a:r>
                    </a:p>
                  </a:txBody>
                  <a:tcPr marL="91440" marR="91440" marT="27432" marB="27432" anchor="ctr">
                    <a:solidFill>
                      <a:srgbClr val="F1F5F9"/>
                    </a:solidFill>
                  </a:tcPr>
                </a:tc>
                <a:tc>
                  <a:txBody>
                    <a:bodyPr wrap="square"/>
                    <a:lstStyle/>
                    <a:p>
                      <a:pPr algn="l">
                        <a:lnSpc>
                          <a:spcPct val="108000"/>
                        </a:lnSpc>
                      </a:pPr>
                      <a:r>
                        <a:rPr sz="1100" i="0" b="0">
                          <a:solidFill>
                            <a:srgbClr val="1A202C"/>
                          </a:solidFill>
                          <a:latin typeface="Segoe UI"/>
                        </a:rPr>
                        <a:t>— đã hạ cấp</a:t>
                      </a:r>
                    </a:p>
                  </a:txBody>
                  <a:tcPr marL="91440" marR="91440" marT="27432" marB="27432" anchor="ctr">
                    <a:solidFill>
                      <a:srgbClr val="F1F5F9"/>
                    </a:solidFill>
                  </a:tcPr>
                </a:tc>
              </a:tr>
              <a:tr h="384048">
                <a:tc>
                  <a:txBody>
                    <a:bodyPr wrap="square"/>
                    <a:lstStyle/>
                    <a:p>
                      <a:pPr algn="ctr">
                        <a:lnSpc>
                          <a:spcPct val="108000"/>
                        </a:lnSpc>
                      </a:pPr>
                      <a:r>
                        <a:rPr sz="1100" i="0" b="0">
                          <a:solidFill>
                            <a:srgbClr val="1A202C"/>
                          </a:solidFill>
                          <a:latin typeface="Segoe UI"/>
                        </a:rPr>
                        <a:t>K5</a:t>
                      </a:r>
                    </a:p>
                  </a:txBody>
                  <a:tcPr marL="91440" marR="91440" marT="27432" marB="27432" anchor="ctr">
                    <a:solidFill>
                      <a:srgbClr val="FFFFFF"/>
                    </a:solidFill>
                  </a:tcPr>
                </a:tc>
                <a:tc>
                  <a:txBody>
                    <a:bodyPr wrap="square"/>
                    <a:lstStyle/>
                    <a:p>
                      <a:pPr algn="l">
                        <a:lnSpc>
                          <a:spcPct val="108000"/>
                        </a:lnSpc>
                      </a:pPr>
                      <a:r>
                        <a:rPr sz="1100" i="0" b="0">
                          <a:solidFill>
                            <a:srgbClr val="1A202C"/>
                          </a:solidFill>
                          <a:latin typeface="Segoe UI"/>
                        </a:rPr>
                        <a:t>Giá trị cohort 3 năm</a:t>
                      </a:r>
                    </a:p>
                  </a:txBody>
                  <a:tcPr marL="91440" marR="91440" marT="27432" marB="27432" anchor="ctr">
                    <a:solidFill>
                      <a:srgbClr val="FFFFFF"/>
                    </a:solidFill>
                  </a:tcPr>
                </a:tc>
                <a:tc>
                  <a:txBody>
                    <a:bodyPr wrap="square"/>
                    <a:lstStyle/>
                    <a:p>
                      <a:pPr algn="l">
                        <a:lnSpc>
                          <a:spcPct val="108000"/>
                        </a:lnSpc>
                      </a:pPr>
                      <a:r>
                        <a:rPr sz="1100" i="0" b="0">
                          <a:solidFill>
                            <a:srgbClr val="1A202C"/>
                          </a:solidFill>
                          <a:latin typeface="Segoe UI"/>
                        </a:rPr>
                        <a:t>Me6</a:t>
                      </a:r>
                    </a:p>
                  </a:txBody>
                  <a:tcPr marL="91440" marR="91440" marT="27432" marB="27432" anchor="ctr">
                    <a:solidFill>
                      <a:srgbClr val="FFFFFF"/>
                    </a:solidFill>
                  </a:tcPr>
                </a:tc>
                <a:tc>
                  <a:txBody>
                    <a:bodyPr wrap="square"/>
                    <a:lstStyle/>
                    <a:p>
                      <a:pPr algn="r">
                        <a:lnSpc>
                          <a:spcPct val="108000"/>
                        </a:lnSpc>
                      </a:pPr>
                      <a:r>
                        <a:rPr sz="1100" i="0" b="0">
                          <a:solidFill>
                            <a:srgbClr val="1A202C"/>
                          </a:solidFill>
                          <a:latin typeface="Segoe UI"/>
                        </a:rPr>
                        <a:t>35.378</a:t>
                      </a:r>
                    </a:p>
                  </a:txBody>
                  <a:tcPr marL="91440" marR="91440" marT="27432" marB="27432" anchor="ctr">
                    <a:solidFill>
                      <a:srgbClr val="FFFFFF"/>
                    </a:solidFill>
                  </a:tcPr>
                </a:tc>
                <a:tc>
                  <a:txBody>
                    <a:bodyPr wrap="square"/>
                    <a:lstStyle/>
                    <a:p>
                      <a:pPr algn="r">
                        <a:lnSpc>
                          <a:spcPct val="108000"/>
                        </a:lnSpc>
                      </a:pPr>
                      <a:r>
                        <a:rPr sz="1100" i="0" b="0">
                          <a:solidFill>
                            <a:srgbClr val="1A202C"/>
                          </a:solidFill>
                          <a:latin typeface="Segoe UI"/>
                        </a:rPr>
                        <a:t>không giảm YoY</a:t>
                      </a:r>
                    </a:p>
                  </a:txBody>
                  <a:tcPr marL="91440" marR="91440" marT="27432" marB="27432" anchor="ctr">
                    <a:solidFill>
                      <a:srgbClr val="FFFFFF"/>
                    </a:solidFill>
                  </a:tcPr>
                </a:tc>
                <a:tc>
                  <a:txBody>
                    <a:bodyPr wrap="square"/>
                    <a:lstStyle/>
                    <a:p>
                      <a:pPr algn="ctr">
                        <a:lnSpc>
                          <a:spcPct val="108000"/>
                        </a:lnSpc>
                      </a:pPr>
                      <a:r>
                        <a:rPr sz="1100" i="0" b="0">
                          <a:solidFill>
                            <a:srgbClr val="1A202C"/>
                          </a:solidFill>
                          <a:latin typeface="Segoe UI"/>
                        </a:rPr>
                        <a:t>TRỄ</a:t>
                      </a:r>
                    </a:p>
                  </a:txBody>
                  <a:tcPr marL="91440" marR="91440" marT="27432" marB="27432" anchor="ctr">
                    <a:solidFill>
                      <a:srgbClr val="FFFFFF"/>
                    </a:solidFill>
                  </a:tcPr>
                </a:tc>
                <a:tc>
                  <a:txBody>
                    <a:bodyPr wrap="square"/>
                    <a:lstStyle/>
                    <a:p>
                      <a:pPr algn="l">
                        <a:lnSpc>
                          <a:spcPct val="108000"/>
                        </a:lnSpc>
                      </a:pPr>
                      <a:r>
                        <a:rPr sz="1100" i="0" b="0">
                          <a:solidFill>
                            <a:srgbClr val="1A202C"/>
                          </a:solidFill>
                          <a:latin typeface="Segoe UI"/>
                        </a:rPr>
                        <a:t>Kiểm chất lượng nguồn kích hoạt</a:t>
                      </a:r>
                    </a:p>
                  </a:txBody>
                  <a:tcPr marL="91440" marR="91440" marT="27432" marB="27432" anchor="ctr">
                    <a:solidFill>
                      <a:srgbClr val="FFFFFF"/>
                    </a:solidFill>
                  </a:tcPr>
                </a:tc>
              </a:tr>
              <a:tr h="384048">
                <a:tc>
                  <a:txBody>
                    <a:bodyPr wrap="square"/>
                    <a:lstStyle/>
                    <a:p>
                      <a:pPr algn="ctr">
                        <a:lnSpc>
                          <a:spcPct val="108000"/>
                        </a:lnSpc>
                      </a:pPr>
                      <a:r>
                        <a:rPr sz="1100" i="0" b="0">
                          <a:solidFill>
                            <a:srgbClr val="1A202C"/>
                          </a:solidFill>
                          <a:latin typeface="Segoe UI"/>
                        </a:rPr>
                        <a:t>K6</a:t>
                      </a:r>
                    </a:p>
                  </a:txBody>
                  <a:tcPr marL="91440" marR="91440" marT="27432" marB="27432" anchor="ctr">
                    <a:solidFill>
                      <a:srgbClr val="F1F5F9"/>
                    </a:solidFill>
                  </a:tcPr>
                </a:tc>
                <a:tc>
                  <a:txBody>
                    <a:bodyPr wrap="square"/>
                    <a:lstStyle/>
                    <a:p>
                      <a:pPr algn="l">
                        <a:lnSpc>
                          <a:spcPct val="108000"/>
                        </a:lnSpc>
                      </a:pPr>
                      <a:r>
                        <a:rPr sz="1100" i="0" b="0">
                          <a:solidFill>
                            <a:srgbClr val="1A202C"/>
                          </a:solidFill>
                          <a:latin typeface="Segoe UI"/>
                        </a:rPr>
                        <a:t>Độ phụ thuộc khách cũ</a:t>
                      </a:r>
                    </a:p>
                  </a:txBody>
                  <a:tcPr marL="91440" marR="91440" marT="27432" marB="27432" anchor="ctr">
                    <a:solidFill>
                      <a:srgbClr val="F1F5F9"/>
                    </a:solidFill>
                  </a:tcPr>
                </a:tc>
                <a:tc>
                  <a:txBody>
                    <a:bodyPr wrap="square"/>
                    <a:lstStyle/>
                    <a:p>
                      <a:pPr algn="l">
                        <a:lnSpc>
                          <a:spcPct val="108000"/>
                        </a:lnSpc>
                      </a:pPr>
                      <a:r>
                        <a:rPr sz="1100" i="0" b="0">
                          <a:solidFill>
                            <a:srgbClr val="1A202C"/>
                          </a:solidFill>
                          <a:latin typeface="Segoe UI"/>
                        </a:rPr>
                        <a:t>1 − Me7</a:t>
                      </a:r>
                    </a:p>
                  </a:txBody>
                  <a:tcPr marL="91440" marR="91440" marT="27432" marB="27432" anchor="ctr">
                    <a:solidFill>
                      <a:srgbClr val="F1F5F9"/>
                    </a:solidFill>
                  </a:tcPr>
                </a:tc>
                <a:tc>
                  <a:txBody>
                    <a:bodyPr wrap="square"/>
                    <a:lstStyle/>
                    <a:p>
                      <a:pPr algn="r">
                        <a:lnSpc>
                          <a:spcPct val="108000"/>
                        </a:lnSpc>
                      </a:pPr>
                      <a:r>
                        <a:rPr sz="1100" i="0" b="0">
                          <a:solidFill>
                            <a:srgbClr val="1A202C"/>
                          </a:solidFill>
                          <a:latin typeface="Segoe UI"/>
                        </a:rPr>
                        <a:t>95,8%</a:t>
                      </a:r>
                    </a:p>
                  </a:txBody>
                  <a:tcPr marL="91440" marR="91440" marT="27432" marB="27432" anchor="ctr">
                    <a:solidFill>
                      <a:srgbClr val="F1F5F9"/>
                    </a:solidFill>
                  </a:tcPr>
                </a:tc>
                <a:tc>
                  <a:txBody>
                    <a:bodyPr wrap="square"/>
                    <a:lstStyle/>
                    <a:p>
                      <a:pPr algn="r">
                        <a:lnSpc>
                          <a:spcPct val="108000"/>
                        </a:lnSpc>
                      </a:pPr>
                      <a:r>
                        <a:rPr sz="1100" i="0" b="0">
                          <a:solidFill>
                            <a:srgbClr val="1A202C"/>
                          </a:solidFill>
                          <a:latin typeface="Segoe UI"/>
                        </a:rPr>
                        <a:t>≤ 85%</a:t>
                      </a:r>
                    </a:p>
                  </a:txBody>
                  <a:tcPr marL="91440" marR="91440" marT="27432" marB="27432" anchor="ctr">
                    <a:solidFill>
                      <a:srgbClr val="F1F5F9"/>
                    </a:solidFill>
                  </a:tcPr>
                </a:tc>
                <a:tc>
                  <a:txBody>
                    <a:bodyPr wrap="square"/>
                    <a:lstStyle/>
                    <a:p>
                      <a:pPr algn="ctr">
                        <a:lnSpc>
                          <a:spcPct val="108000"/>
                        </a:lnSpc>
                      </a:pPr>
                      <a:r>
                        <a:rPr sz="1100" i="0" b="0">
                          <a:solidFill>
                            <a:srgbClr val="1A202C"/>
                          </a:solidFill>
                          <a:latin typeface="Segoe UI"/>
                        </a:rPr>
                        <a:t>TRỄ</a:t>
                      </a:r>
                    </a:p>
                  </a:txBody>
                  <a:tcPr marL="91440" marR="91440" marT="27432" marB="27432" anchor="ctr">
                    <a:solidFill>
                      <a:srgbClr val="F1F5F9"/>
                    </a:solidFill>
                  </a:tcPr>
                </a:tc>
                <a:tc>
                  <a:txBody>
                    <a:bodyPr wrap="square"/>
                    <a:lstStyle/>
                    <a:p>
                      <a:pPr algn="l">
                        <a:lnSpc>
                          <a:spcPct val="108000"/>
                        </a:lnSpc>
                      </a:pPr>
                      <a:r>
                        <a:rPr sz="1100" i="0" b="0">
                          <a:solidFill>
                            <a:srgbClr val="1A202C"/>
                          </a:solidFill>
                          <a:latin typeface="Segoe UI"/>
                        </a:rPr>
                        <a:t>Rủi ro tập trung vào nền khách già</a:t>
                      </a:r>
                    </a:p>
                  </a:txBody>
                  <a:tcPr marL="91440" marR="91440" marT="27432" marB="27432" anchor="ctr">
                    <a:solidFill>
                      <a:srgbClr val="F1F5F9"/>
                    </a:solidFill>
                  </a:tcPr>
                </a:tc>
              </a:tr>
              <a:tr h="384048">
                <a:tc>
                  <a:txBody>
                    <a:bodyPr wrap="square"/>
                    <a:lstStyle/>
                    <a:p>
                      <a:pPr algn="ctr">
                        <a:lnSpc>
                          <a:spcPct val="108000"/>
                        </a:lnSpc>
                      </a:pPr>
                      <a:r>
                        <a:rPr sz="1100" i="0" b="0">
                          <a:solidFill>
                            <a:srgbClr val="1A202C"/>
                          </a:solidFill>
                          <a:latin typeface="Segoe UI"/>
                        </a:rPr>
                        <a:t>K7</a:t>
                      </a:r>
                    </a:p>
                  </a:txBody>
                  <a:tcPr marL="91440" marR="91440" marT="27432" marB="27432" anchor="ctr">
                    <a:solidFill>
                      <a:srgbClr val="FFFFFF"/>
                    </a:solidFill>
                  </a:tcPr>
                </a:tc>
                <a:tc>
                  <a:txBody>
                    <a:bodyPr wrap="square"/>
                    <a:lstStyle/>
                    <a:p>
                      <a:pPr algn="l">
                        <a:lnSpc>
                          <a:spcPct val="108000"/>
                        </a:lnSpc>
                      </a:pPr>
                      <a:r>
                        <a:rPr sz="1100" i="0" b="0">
                          <a:solidFill>
                            <a:srgbClr val="1A202C"/>
                          </a:solidFill>
                          <a:latin typeface="Segoe UI"/>
                        </a:rPr>
                        <a:t>Đơn đầu có khuyến mãi</a:t>
                      </a:r>
                    </a:p>
                  </a:txBody>
                  <a:tcPr marL="91440" marR="91440" marT="27432" marB="27432" anchor="ctr">
                    <a:solidFill>
                      <a:srgbClr val="FFFFFF"/>
                    </a:solidFill>
                  </a:tcPr>
                </a:tc>
                <a:tc>
                  <a:txBody>
                    <a:bodyPr wrap="square"/>
                    <a:lstStyle/>
                    <a:p>
                      <a:pPr algn="l">
                        <a:lnSpc>
                          <a:spcPct val="108000"/>
                        </a:lnSpc>
                      </a:pPr>
                      <a:r>
                        <a:rPr sz="1100" i="0" b="0">
                          <a:solidFill>
                            <a:srgbClr val="1A202C"/>
                          </a:solidFill>
                          <a:latin typeface="Segoe UI"/>
                        </a:rPr>
                        <a:t>mean(M12)</a:t>
                      </a:r>
                    </a:p>
                  </a:txBody>
                  <a:tcPr marL="91440" marR="91440" marT="27432" marB="27432" anchor="ctr">
                    <a:solidFill>
                      <a:srgbClr val="FFFFFF"/>
                    </a:solidFill>
                  </a:tcPr>
                </a:tc>
                <a:tc>
                  <a:txBody>
                    <a:bodyPr wrap="square"/>
                    <a:lstStyle/>
                    <a:p>
                      <a:pPr algn="r">
                        <a:lnSpc>
                          <a:spcPct val="108000"/>
                        </a:lnSpc>
                      </a:pPr>
                      <a:r>
                        <a:rPr sz="1100" i="0" b="0">
                          <a:solidFill>
                            <a:srgbClr val="1A202C"/>
                          </a:solidFill>
                          <a:latin typeface="Segoe UI"/>
                        </a:rPr>
                        <a:t>30,6%</a:t>
                      </a:r>
                    </a:p>
                  </a:txBody>
                  <a:tcPr marL="91440" marR="91440" marT="27432" marB="27432" anchor="ctr">
                    <a:solidFill>
                      <a:srgbClr val="FFFFFF"/>
                    </a:solidFill>
                  </a:tcPr>
                </a:tc>
                <a:tc>
                  <a:txBody>
                    <a:bodyPr wrap="square"/>
                    <a:lstStyle/>
                    <a:p>
                      <a:pPr algn="r">
                        <a:lnSpc>
                          <a:spcPct val="108000"/>
                        </a:lnSpc>
                      </a:pPr>
                      <a:r>
                        <a:rPr sz="1100" i="0" b="0">
                          <a:solidFill>
                            <a:srgbClr val="1A202C"/>
                          </a:solidFill>
                          <a:latin typeface="Segoe UI"/>
                        </a:rPr>
                        <a:t>≤ 30%</a:t>
                      </a:r>
                    </a:p>
                  </a:txBody>
                  <a:tcPr marL="91440" marR="91440" marT="27432" marB="27432" anchor="ctr">
                    <a:solidFill>
                      <a:srgbClr val="FFFFFF"/>
                    </a:solidFill>
                  </a:tcPr>
                </a:tc>
                <a:tc>
                  <a:txBody>
                    <a:bodyPr wrap="square"/>
                    <a:lstStyle/>
                    <a:p>
                      <a:pPr algn="ctr">
                        <a:lnSpc>
                          <a:spcPct val="108000"/>
                        </a:lnSpc>
                      </a:pPr>
                      <a:r>
                        <a:rPr sz="1100" i="0" b="0">
                          <a:solidFill>
                            <a:srgbClr val="1A202C"/>
                          </a:solidFill>
                          <a:latin typeface="Segoe UI"/>
                        </a:rPr>
                        <a:t>GUARDRAIL</a:t>
                      </a:r>
                    </a:p>
                  </a:txBody>
                  <a:tcPr marL="91440" marR="91440" marT="27432" marB="27432" anchor="ctr">
                    <a:solidFill>
                      <a:srgbClr val="FFFFFF"/>
                    </a:solidFill>
                  </a:tcPr>
                </a:tc>
                <a:tc>
                  <a:txBody>
                    <a:bodyPr wrap="square"/>
                    <a:lstStyle/>
                    <a:p>
                      <a:pPr algn="l">
                        <a:lnSpc>
                          <a:spcPct val="108000"/>
                        </a:lnSpc>
                      </a:pPr>
                      <a:r>
                        <a:rPr sz="1100" i="0" b="0">
                          <a:solidFill>
                            <a:srgbClr val="1A202C"/>
                          </a:solidFill>
                          <a:latin typeface="Segoe UI"/>
                        </a:rPr>
                        <a:t>Vượt trần → dừng mở rộng khuyến mãi</a:t>
                      </a:r>
                    </a:p>
                  </a:txBody>
                  <a:tcPr marL="91440" marR="91440" marT="27432" marB="27432" anchor="ctr">
                    <a:solidFill>
                      <a:srgbClr val="FFFFFF"/>
                    </a:solidFill>
                  </a:tcPr>
                </a:tc>
              </a:tr>
            </a:tbl>
          </a:graphicData>
        </a:graphic>
      </p:graphicFrame>
      <p:sp>
        <p:nvSpPr>
          <p:cNvPr id="9" name="Rounded Rectangle 8"/>
          <p:cNvSpPr/>
          <p:nvPr/>
        </p:nvSpPr>
        <p:spPr>
          <a:xfrm>
            <a:off x="685800" y="5358383"/>
            <a:ext cx="10817352" cy="548640"/>
          </a:xfrm>
          <a:prstGeom prst="roundRect">
            <a:avLst>
              <a:gd name="adj" fmla="val 6000"/>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5358383"/>
            <a:ext cx="64008" cy="54864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5541264"/>
            <a:ext cx="10268712" cy="182879"/>
          </a:xfrm>
          <a:prstGeom prst="rect">
            <a:avLst/>
          </a:prstGeom>
          <a:noFill/>
        </p:spPr>
        <p:txBody>
          <a:bodyPr wrap="square" lIns="0" rIns="0" tIns="0" bIns="0" anchor="ctr">
            <a:spAutoFit/>
          </a:bodyPr>
          <a:lstStyle/>
          <a:p>
            <a:pPr algn="l">
              <a:lnSpc>
                <a:spcPct val="125000"/>
              </a:lnSpc>
              <a:spcAft>
                <a:spcPts val="500"/>
              </a:spcAft>
            </a:pPr>
            <a:r>
              <a:rPr sz="1300" i="0" b="0">
                <a:solidFill>
                  <a:srgbClr val="1A202C"/>
                </a:solidFill>
                <a:latin typeface="Segoe UI"/>
              </a:rPr>
              <a:t>Sáu KPI đầu </a:t>
            </a:r>
            <a:r>
              <a:rPr sz="1300" i="0" b="1">
                <a:solidFill>
                  <a:srgbClr val="2B6CB0"/>
                </a:solidFill>
                <a:latin typeface="Segoe UI"/>
              </a:rPr>
              <a:t>đều một hướng</a:t>
            </a:r>
            <a:r>
              <a:rPr sz="1300" i="0" b="0">
                <a:solidFill>
                  <a:srgbClr val="1A202C"/>
                </a:solidFill>
                <a:latin typeface="Segoe UI"/>
              </a:rPr>
              <a:t> — nhiều khách hơn, giữ chân tốt hơn. </a:t>
            </a:r>
            <a:r>
              <a:rPr sz="1300" i="0" b="1">
                <a:solidFill>
                  <a:srgbClr val="2B6CB0"/>
                </a:solidFill>
                <a:latin typeface="Segoe UI"/>
              </a:rPr>
              <a:t>K7 là guardrail duy nhất</a:t>
            </a:r>
            <a:r>
              <a:rPr sz="1300" i="0" b="0">
                <a:solidFill>
                  <a:srgbClr val="1A202C"/>
                </a:solidFill>
                <a:latin typeface="Segoe UI"/>
              </a:rPr>
              <a:t>, nó tồn tại để chặn việc mua tăng trưởng bằng giảm giá.</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III · NỐI CHUỖI</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Ma trận truy vết — chuỗi thiết kế nối liền</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Đọc theo hàng ngang: mỗi bài toán nhỏ truy được xuống tới một KPI có hành động</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18</a:t>
            </a:r>
          </a:p>
        </p:txBody>
      </p:sp>
      <p:graphicFrame>
        <p:nvGraphicFramePr>
          <p:cNvPr id="8" name="Table 7"/>
          <p:cNvGraphicFramePr>
            <a:graphicFrameLocks noGrp="1"/>
          </p:cNvGraphicFramePr>
          <p:nvPr/>
        </p:nvGraphicFramePr>
        <p:xfrm>
          <a:off x="685800" y="2176272"/>
          <a:ext cx="10817351" cy="2596896"/>
        </p:xfrm>
        <a:graphic>
          <a:graphicData uri="http://schemas.openxmlformats.org/drawingml/2006/table">
            <a:tbl>
              <a:tblPr>
                <a:tableStyleId>{2D5ABB26-0587-4C30-8999-92F81FD0307C}</a:tableStyleId>
              </a:tblPr>
              <a:tblGrid>
                <a:gridCol w="731520"/>
                <a:gridCol w="3063239"/>
                <a:gridCol w="1417320"/>
                <a:gridCol w="2606040"/>
                <a:gridCol w="2057400"/>
                <a:gridCol w="941832"/>
              </a:tblGrid>
              <a:tr h="292608">
                <a:tc>
                  <a:txBody>
                    <a:bodyPr wrap="square"/>
                    <a:lstStyle/>
                    <a:p>
                      <a:pPr algn="ctr">
                        <a:lnSpc>
                          <a:spcPct val="108000"/>
                        </a:lnSpc>
                      </a:pPr>
                      <a:r>
                        <a:rPr sz="1050" i="0" b="1">
                          <a:solidFill>
                            <a:srgbClr val="FFFFFF"/>
                          </a:solidFill>
                          <a:latin typeface="Segoe UI"/>
                        </a:rPr>
                        <a:t>BTN</a:t>
                      </a:r>
                    </a:p>
                  </a:txBody>
                  <a:tcPr marL="91440" marR="91440" marT="27432" marB="27432" anchor="ctr">
                    <a:solidFill>
                      <a:srgbClr val="2B6CB0"/>
                    </a:solidFill>
                  </a:tcPr>
                </a:tc>
                <a:tc>
                  <a:txBody>
                    <a:bodyPr wrap="square"/>
                    <a:lstStyle/>
                    <a:p>
                      <a:pPr algn="l">
                        <a:lnSpc>
                          <a:spcPct val="108000"/>
                        </a:lnSpc>
                      </a:pPr>
                      <a:r>
                        <a:rPr sz="1050" i="0" b="1">
                          <a:solidFill>
                            <a:srgbClr val="FFFFFF"/>
                          </a:solidFill>
                          <a:latin typeface="Segoe UI"/>
                        </a:rPr>
                        <a:t>Câu hỏi nghiên cứu</a:t>
                      </a:r>
                    </a:p>
                  </a:txBody>
                  <a:tcPr marL="91440" marR="91440" marT="27432" marB="27432" anchor="ctr">
                    <a:solidFill>
                      <a:srgbClr val="2B6CB0"/>
                    </a:solidFill>
                  </a:tcPr>
                </a:tc>
                <a:tc>
                  <a:txBody>
                    <a:bodyPr wrap="square"/>
                    <a:lstStyle/>
                    <a:p>
                      <a:pPr algn="l">
                        <a:lnSpc>
                          <a:spcPct val="108000"/>
                        </a:lnSpc>
                      </a:pPr>
                      <a:r>
                        <a:rPr sz="1050" i="0" b="1">
                          <a:solidFill>
                            <a:srgbClr val="FFFFFF"/>
                          </a:solidFill>
                          <a:latin typeface="Segoe UI"/>
                        </a:rPr>
                        <a:t>Giả thuyết</a:t>
                      </a:r>
                    </a:p>
                  </a:txBody>
                  <a:tcPr marL="91440" marR="91440" marT="27432" marB="27432" anchor="ctr">
                    <a:solidFill>
                      <a:srgbClr val="2B6CB0"/>
                    </a:solidFill>
                  </a:tcPr>
                </a:tc>
                <a:tc>
                  <a:txBody>
                    <a:bodyPr wrap="square"/>
                    <a:lstStyle/>
                    <a:p>
                      <a:pPr algn="l">
                        <a:lnSpc>
                          <a:spcPct val="108000"/>
                        </a:lnSpc>
                      </a:pPr>
                      <a:r>
                        <a:rPr sz="1050" i="0" b="1">
                          <a:solidFill>
                            <a:srgbClr val="FFFFFF"/>
                          </a:solidFill>
                          <a:latin typeface="Segoe UI"/>
                        </a:rPr>
                        <a:t>Measure</a:t>
                      </a:r>
                    </a:p>
                  </a:txBody>
                  <a:tcPr marL="91440" marR="91440" marT="27432" marB="27432" anchor="ctr">
                    <a:solidFill>
                      <a:srgbClr val="2B6CB0"/>
                    </a:solidFill>
                  </a:tcPr>
                </a:tc>
                <a:tc>
                  <a:txBody>
                    <a:bodyPr wrap="square"/>
                    <a:lstStyle/>
                    <a:p>
                      <a:pPr algn="l">
                        <a:lnSpc>
                          <a:spcPct val="108000"/>
                        </a:lnSpc>
                      </a:pPr>
                      <a:r>
                        <a:rPr sz="1050" i="0" b="1">
                          <a:solidFill>
                            <a:srgbClr val="FFFFFF"/>
                          </a:solidFill>
                          <a:latin typeface="Segoe UI"/>
                        </a:rPr>
                        <a:t>Metric</a:t>
                      </a:r>
                    </a:p>
                  </a:txBody>
                  <a:tcPr marL="91440" marR="91440" marT="27432" marB="27432" anchor="ctr">
                    <a:solidFill>
                      <a:srgbClr val="2B6CB0"/>
                    </a:solidFill>
                  </a:tcPr>
                </a:tc>
                <a:tc>
                  <a:txBody>
                    <a:bodyPr wrap="square"/>
                    <a:lstStyle/>
                    <a:p>
                      <a:pPr algn="l">
                        <a:lnSpc>
                          <a:spcPct val="108000"/>
                        </a:lnSpc>
                      </a:pPr>
                      <a:r>
                        <a:rPr sz="1050" i="0" b="1">
                          <a:solidFill>
                            <a:srgbClr val="FFFFFF"/>
                          </a:solidFill>
                          <a:latin typeface="Segoe UI"/>
                        </a:rPr>
                        <a:t>KPI</a:t>
                      </a:r>
                    </a:p>
                  </a:txBody>
                  <a:tcPr marL="91440" marR="91440" marT="27432" marB="27432" anchor="ctr">
                    <a:solidFill>
                      <a:srgbClr val="2B6CB0"/>
                    </a:solidFill>
                  </a:tcPr>
                </a:tc>
              </a:tr>
              <a:tr h="329184">
                <a:tc>
                  <a:txBody>
                    <a:bodyPr wrap="square"/>
                    <a:lstStyle/>
                    <a:p>
                      <a:pPr algn="ctr">
                        <a:lnSpc>
                          <a:spcPct val="108000"/>
                        </a:lnSpc>
                      </a:pPr>
                      <a:r>
                        <a:rPr sz="1050" i="0" b="0">
                          <a:solidFill>
                            <a:srgbClr val="1A202C"/>
                          </a:solidFill>
                          <a:latin typeface="Segoe UI"/>
                        </a:rPr>
                        <a:t>BTN1</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RQ1 · Cấu trúc tập khách</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M1, M2, M6</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Me1, Me2, Me8a, Me8b</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K3′, K4</a:t>
                      </a:r>
                    </a:p>
                  </a:txBody>
                  <a:tcPr marL="91440" marR="91440" marT="27432" marB="27432" anchor="ctr">
                    <a:solidFill>
                      <a:srgbClr val="FFFFFF"/>
                    </a:solidFill>
                  </a:tcPr>
                </a:tc>
              </a:tr>
              <a:tr h="329184">
                <a:tc>
                  <a:txBody>
                    <a:bodyPr wrap="square"/>
                    <a:lstStyle/>
                    <a:p>
                      <a:pPr algn="ctr">
                        <a:lnSpc>
                          <a:spcPct val="108000"/>
                        </a:lnSpc>
                      </a:pPr>
                      <a:r>
                        <a:rPr sz="1050" i="0" b="0">
                          <a:solidFill>
                            <a:srgbClr val="1A202C"/>
                          </a:solidFill>
                          <a:latin typeface="Segoe UI"/>
                        </a:rPr>
                        <a:t>BTN3</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RQ2 · Kích hoạt &amp; giữ chân</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H2</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M2, M5, M13</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Me4, Me5, Me11</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K1, K2′</a:t>
                      </a:r>
                    </a:p>
                  </a:txBody>
                  <a:tcPr marL="91440" marR="91440" marT="27432" marB="27432" anchor="ctr">
                    <a:solidFill>
                      <a:srgbClr val="F1F5F9"/>
                    </a:solidFill>
                  </a:tcPr>
                </a:tc>
              </a:tr>
              <a:tr h="329184">
                <a:tc>
                  <a:txBody>
                    <a:bodyPr wrap="square"/>
                    <a:lstStyle/>
                    <a:p>
                      <a:pPr algn="ctr">
                        <a:lnSpc>
                          <a:spcPct val="108000"/>
                        </a:lnSpc>
                      </a:pPr>
                      <a:r>
                        <a:rPr sz="1050" i="0" b="0">
                          <a:solidFill>
                            <a:srgbClr val="1A202C"/>
                          </a:solidFill>
                          <a:latin typeface="Segoe UI"/>
                        </a:rPr>
                        <a:t>BTN2</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RQ3 · Mất khách hay giảm tần suất</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H1</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M2, M3</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Me3, Me10</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K1, K2′</a:t>
                      </a:r>
                    </a:p>
                  </a:txBody>
                  <a:tcPr marL="91440" marR="91440" marT="27432" marB="27432" anchor="ctr">
                    <a:solidFill>
                      <a:srgbClr val="FFFFFF"/>
                    </a:solidFill>
                  </a:tcPr>
                </a:tc>
              </a:tr>
              <a:tr h="329184">
                <a:tc>
                  <a:txBody>
                    <a:bodyPr wrap="square"/>
                    <a:lstStyle/>
                    <a:p>
                      <a:pPr algn="ctr">
                        <a:lnSpc>
                          <a:spcPct val="108000"/>
                        </a:lnSpc>
                      </a:pPr>
                      <a:r>
                        <a:rPr sz="1050" i="0" b="0">
                          <a:solidFill>
                            <a:srgbClr val="1A202C"/>
                          </a:solidFill>
                          <a:latin typeface="Segoe UI"/>
                        </a:rPr>
                        <a:t>BTN4</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RQ4 · Cơ chế khách không quay lại</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H3, H4, H7–H9</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M4, M5, M7, M9, M10, M12</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Me6, Me12, Me13</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K5, K7</a:t>
                      </a:r>
                    </a:p>
                  </a:txBody>
                  <a:tcPr marL="91440" marR="91440" marT="27432" marB="27432" anchor="ctr">
                    <a:solidFill>
                      <a:srgbClr val="F1F5F9"/>
                    </a:solidFill>
                  </a:tcPr>
                </a:tc>
              </a:tr>
              <a:tr h="329184">
                <a:tc>
                  <a:txBody>
                    <a:bodyPr wrap="square"/>
                    <a:lstStyle/>
                    <a:p>
                      <a:pPr algn="ctr">
                        <a:lnSpc>
                          <a:spcPct val="108000"/>
                        </a:lnSpc>
                      </a:pPr>
                      <a:r>
                        <a:rPr sz="1050" i="0" b="0">
                          <a:solidFill>
                            <a:srgbClr val="1A202C"/>
                          </a:solidFill>
                          <a:latin typeface="Segoe UI"/>
                        </a:rPr>
                        <a:t>BTN6</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RQ5 · Kênh có phân hóa giá trị</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H5</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M8</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Me9</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 (rỗng)</a:t>
                      </a:r>
                    </a:p>
                  </a:txBody>
                  <a:tcPr marL="91440" marR="91440" marT="27432" marB="27432" anchor="ctr">
                    <a:solidFill>
                      <a:srgbClr val="FFFFFF"/>
                    </a:solidFill>
                  </a:tcPr>
                </a:tc>
              </a:tr>
              <a:tr h="329184">
                <a:tc>
                  <a:txBody>
                    <a:bodyPr wrap="square"/>
                    <a:lstStyle/>
                    <a:p>
                      <a:pPr algn="ctr">
                        <a:lnSpc>
                          <a:spcPct val="108000"/>
                        </a:lnSpc>
                      </a:pPr>
                      <a:r>
                        <a:rPr sz="1050" i="0" b="0">
                          <a:solidFill>
                            <a:srgbClr val="1A202C"/>
                          </a:solidFill>
                          <a:latin typeface="Segoe UI"/>
                        </a:rPr>
                        <a:t>BTN5</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RQ6 · Nền khách đỡ nổi 2023–24</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H6</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M2, M4</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Me7</a:t>
                      </a:r>
                    </a:p>
                  </a:txBody>
                  <a:tcPr marL="91440" marR="91440" marT="27432" marB="27432" anchor="ctr">
                    <a:solidFill>
                      <a:srgbClr val="F1F5F9"/>
                    </a:solidFill>
                  </a:tcPr>
                </a:tc>
                <a:tc>
                  <a:txBody>
                    <a:bodyPr wrap="square"/>
                    <a:lstStyle/>
                    <a:p>
                      <a:pPr algn="l">
                        <a:lnSpc>
                          <a:spcPct val="108000"/>
                        </a:lnSpc>
                      </a:pPr>
                      <a:r>
                        <a:rPr sz="1050" i="0" b="0">
                          <a:solidFill>
                            <a:srgbClr val="1A202C"/>
                          </a:solidFill>
                          <a:latin typeface="Segoe UI"/>
                        </a:rPr>
                        <a:t>K6</a:t>
                      </a:r>
                    </a:p>
                  </a:txBody>
                  <a:tcPr marL="91440" marR="91440" marT="27432" marB="27432" anchor="ctr">
                    <a:solidFill>
                      <a:srgbClr val="F1F5F9"/>
                    </a:solidFill>
                  </a:tcPr>
                </a:tc>
              </a:tr>
              <a:tr h="329184">
                <a:tc>
                  <a:txBody>
                    <a:bodyPr wrap="square"/>
                    <a:lstStyle/>
                    <a:p>
                      <a:pPr algn="ctr">
                        <a:lnSpc>
                          <a:spcPct val="108000"/>
                        </a:lnSpc>
                      </a:pPr>
                      <a:r>
                        <a:rPr sz="1050" i="0" b="0">
                          <a:solidFill>
                            <a:srgbClr val="1A202C"/>
                          </a:solidFill>
                          <a:latin typeface="Segoe UI"/>
                        </a:rPr>
                        <a:t>BTN6</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RQ7 · Ưu tiên ngân sách</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H1, H2, H5</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M1, M6, M8</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Me1, Me8a, Me8b, Me9</a:t>
                      </a:r>
                    </a:p>
                  </a:txBody>
                  <a:tcPr marL="91440" marR="91440" marT="27432" marB="27432" anchor="ctr">
                    <a:solidFill>
                      <a:srgbClr val="FFFFFF"/>
                    </a:solidFill>
                  </a:tcPr>
                </a:tc>
                <a:tc>
                  <a:txBody>
                    <a:bodyPr wrap="square"/>
                    <a:lstStyle/>
                    <a:p>
                      <a:pPr algn="l">
                        <a:lnSpc>
                          <a:spcPct val="108000"/>
                        </a:lnSpc>
                      </a:pPr>
                      <a:r>
                        <a:rPr sz="1050" i="0" b="0">
                          <a:solidFill>
                            <a:srgbClr val="1A202C"/>
                          </a:solidFill>
                          <a:latin typeface="Segoe UI"/>
                        </a:rPr>
                        <a:t>K3′, K7</a:t>
                      </a:r>
                    </a:p>
                  </a:txBody>
                  <a:tcPr marL="91440" marR="91440" marT="27432" marB="27432" anchor="ctr">
                    <a:solidFill>
                      <a:srgbClr val="FFFFFF"/>
                    </a:solidFill>
                  </a:tcPr>
                </a:tc>
              </a:tr>
            </a:tbl>
          </a:graphicData>
        </a:graphic>
      </p:graphicFrame>
      <p:sp>
        <p:nvSpPr>
          <p:cNvPr id="9" name="TextBox 8"/>
          <p:cNvSpPr txBox="1"/>
          <p:nvPr/>
        </p:nvSpPr>
        <p:spPr>
          <a:xfrm>
            <a:off x="685800" y="5010912"/>
            <a:ext cx="10817352" cy="896112"/>
          </a:xfrm>
          <a:prstGeom prst="rect">
            <a:avLst/>
          </a:prstGeom>
          <a:noFill/>
        </p:spPr>
        <p:txBody>
          <a:bodyPr wrap="square" lIns="0" rIns="0" tIns="0" bIns="0" anchor="t">
            <a:spAutoFit/>
          </a:bodyPr>
          <a:lstStyle/>
          <a:p>
            <a:pPr algn="l">
              <a:lnSpc>
                <a:spcPct val="122000"/>
              </a:lnSpc>
              <a:spcAft>
                <a:spcPts val="700"/>
              </a:spcAft>
            </a:pPr>
            <a:r>
              <a:rPr sz="1250" i="0" b="1">
                <a:solidFill>
                  <a:srgbClr val="2B6CB0"/>
                </a:solidFill>
                <a:latin typeface="Segoe UI"/>
              </a:rPr>
              <a:t>• </a:t>
            </a:r>
            <a:r>
              <a:rPr sz="1250" i="0" b="1">
                <a:solidFill>
                  <a:srgbClr val="1A365D"/>
                </a:solidFill>
                <a:latin typeface="Segoe UI"/>
              </a:rPr>
              <a:t>Không có Measure thừa</a:t>
            </a:r>
            <a:r>
              <a:rPr sz="1250" i="0" b="0">
                <a:solidFill>
                  <a:srgbClr val="1A202C"/>
                </a:solidFill>
                <a:latin typeface="Segoe UI"/>
              </a:rPr>
              <a:t> — 12 trong 13 measure được dùng ít nhất một lần. M11 bị loại có chủ đích vì độ phủ 19,4%.</a:t>
            </a:r>
          </a:p>
          <a:p>
            <a:pPr algn="l">
              <a:lnSpc>
                <a:spcPct val="122000"/>
              </a:lnSpc>
              <a:spcAft>
                <a:spcPts val="700"/>
              </a:spcAft>
            </a:pPr>
            <a:r>
              <a:rPr sz="1250" i="0" b="1">
                <a:solidFill>
                  <a:srgbClr val="2B6CB0"/>
                </a:solidFill>
                <a:latin typeface="Segoe UI"/>
              </a:rPr>
              <a:t>• </a:t>
            </a:r>
            <a:r>
              <a:rPr sz="1250" i="0" b="1">
                <a:solidFill>
                  <a:srgbClr val="1A365D"/>
                </a:solidFill>
                <a:latin typeface="Segoe UI"/>
              </a:rPr>
              <a:t>Không có bài toán cụt</a:t>
            </a:r>
            <a:r>
              <a:rPr sz="1250" i="0" b="0">
                <a:solidFill>
                  <a:srgbClr val="1A202C"/>
                </a:solidFill>
                <a:latin typeface="Segoe UI"/>
              </a:rPr>
              <a:t> — mỗi BTN đều dẫn tới một KPI, trừ nhánh RQ5 vốn cho kết quả rỗng nên đúng ra không được đẻ ra KPI nào. RQ5 về đúng vai: nó là </a:t>
            </a:r>
            <a:r>
              <a:rPr sz="1250" i="0" b="1">
                <a:solidFill>
                  <a:srgbClr val="1A365D"/>
                </a:solidFill>
                <a:latin typeface="Segoe UI"/>
              </a:rPr>
              <a:t>đầu vào loại trừ</a:t>
            </a:r>
            <a:r>
              <a:rPr sz="1250" i="0" b="0">
                <a:solidFill>
                  <a:srgbClr val="1A202C"/>
                </a:solidFill>
                <a:latin typeface="Segoe UI"/>
              </a:rPr>
              <a:t> cho BTN6.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III · CHẤT LƯỢNG BỘ CHỈ SỐ</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Ba chỗ đã sửa, ba chỗ còn hỏng</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Một bộ chỉ số cũng phải chịu kiểm như số liệu — và nó đã trượt vài chỗ</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19</a:t>
            </a:r>
          </a:p>
        </p:txBody>
      </p:sp>
      <p:graphicFrame>
        <p:nvGraphicFramePr>
          <p:cNvPr id="8" name="Table 7"/>
          <p:cNvGraphicFramePr>
            <a:graphicFrameLocks noGrp="1"/>
          </p:cNvGraphicFramePr>
          <p:nvPr/>
        </p:nvGraphicFramePr>
        <p:xfrm>
          <a:off x="685800" y="2176272"/>
          <a:ext cx="10817352" cy="1837944"/>
        </p:xfrm>
        <a:graphic>
          <a:graphicData uri="http://schemas.openxmlformats.org/drawingml/2006/table">
            <a:tbl>
              <a:tblPr>
                <a:tableStyleId>{2D5ABB26-0587-4C30-8999-92F81FD0307C}</a:tableStyleId>
              </a:tblPr>
              <a:tblGrid>
                <a:gridCol w="868680"/>
                <a:gridCol w="5943600"/>
                <a:gridCol w="4005072"/>
              </a:tblGrid>
              <a:tr h="329184">
                <a:tc>
                  <a:txBody>
                    <a:bodyPr wrap="square"/>
                    <a:lstStyle/>
                    <a:p>
                      <a:pPr algn="ctr">
                        <a:lnSpc>
                          <a:spcPct val="108000"/>
                        </a:lnSpc>
                      </a:pP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Vấn đề phát hiện được</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Đã sửa thành</a:t>
                      </a:r>
                    </a:p>
                  </a:txBody>
                  <a:tcPr marL="91440" marR="91440" marT="27432" marB="27432" anchor="ctr">
                    <a:solidFill>
                      <a:srgbClr val="2B6CB0"/>
                    </a:solidFill>
                  </a:tcPr>
                </a:tc>
              </a:tr>
              <a:tr h="502920">
                <a:tc>
                  <a:txBody>
                    <a:bodyPr wrap="square"/>
                    <a:lstStyle/>
                    <a:p>
                      <a:pPr algn="ctr">
                        <a:lnSpc>
                          <a:spcPct val="108000"/>
                        </a:lnSpc>
                      </a:pPr>
                      <a:r>
                        <a:rPr sz="1250" i="0" b="0">
                          <a:solidFill>
                            <a:srgbClr val="1A202C"/>
                          </a:solidFill>
                          <a:latin typeface="Segoe UI"/>
                        </a:rPr>
                        <a:t>Me8</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Lỗi grain — tử số trộn khách chưa mua (không có recency) với khách ngủ đông</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Tách đôi: Me8a 26,0% · Me8b 72,6%</a:t>
                      </a:r>
                    </a:p>
                  </a:txBody>
                  <a:tcPr marL="91440" marR="91440" marT="27432" marB="27432" anchor="ctr">
                    <a:solidFill>
                      <a:srgbClr val="FFFFFF"/>
                    </a:solidFill>
                  </a:tcPr>
                </a:tc>
              </a:tr>
              <a:tr h="502920">
                <a:tc>
                  <a:txBody>
                    <a:bodyPr wrap="square"/>
                    <a:lstStyle/>
                    <a:p>
                      <a:pPr algn="ctr">
                        <a:lnSpc>
                          <a:spcPct val="108000"/>
                        </a:lnSpc>
                      </a:pPr>
                      <a:r>
                        <a:rPr sz="1250" i="0" b="0">
                          <a:solidFill>
                            <a:srgbClr val="1A202C"/>
                          </a:solidFill>
                          <a:latin typeface="Segoe UI"/>
                        </a:rPr>
                        <a:t>K2</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Mục tiêu tăng trưởng đặt trên một rổ CHỈ CÓ THỂ CO LẠI — bất khả thi về cấu trúc</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Đổi sang tỷ lệ hút từ pool</a:t>
                      </a:r>
                    </a:p>
                  </a:txBody>
                  <a:tcPr marL="91440" marR="91440" marT="27432" marB="27432" anchor="ctr">
                    <a:solidFill>
                      <a:srgbClr val="F1F5F9"/>
                    </a:solidFill>
                  </a:tcPr>
                </a:tc>
              </a:tr>
              <a:tr h="502920">
                <a:tc>
                  <a:txBody>
                    <a:bodyPr wrap="square"/>
                    <a:lstStyle/>
                    <a:p>
                      <a:pPr algn="ctr">
                        <a:lnSpc>
                          <a:spcPct val="108000"/>
                        </a:lnSpc>
                      </a:pPr>
                      <a:r>
                        <a:rPr sz="1250" i="0" b="0">
                          <a:solidFill>
                            <a:srgbClr val="1A202C"/>
                          </a:solidFill>
                          <a:latin typeface="Segoe UI"/>
                        </a:rPr>
                        <a:t>K7</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Sáu KPI cũ đều một hướng — không cái nào chặn chi phí</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Thêm guardrail: đơn đầu có khuyến mãi ≤ 30%</a:t>
                      </a:r>
                    </a:p>
                  </a:txBody>
                  <a:tcPr marL="91440" marR="91440" marT="27432" marB="27432" anchor="ctr">
                    <a:solidFill>
                      <a:srgbClr val="FFFFFF"/>
                    </a:solidFill>
                  </a:tcPr>
                </a:tc>
              </a:tr>
            </a:tbl>
          </a:graphicData>
        </a:graphic>
      </p:graphicFrame>
      <p:sp>
        <p:nvSpPr>
          <p:cNvPr id="9" name="Rounded Rectangle 8"/>
          <p:cNvSpPr/>
          <p:nvPr/>
        </p:nvSpPr>
        <p:spPr>
          <a:xfrm>
            <a:off x="685800" y="4059935"/>
            <a:ext cx="10817352" cy="1847088"/>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4059935"/>
            <a:ext cx="64008" cy="1847088"/>
          </a:xfrm>
          <a:prstGeom prst="rect">
            <a:avLst/>
          </a:prstGeom>
          <a:solidFill>
            <a:srgbClr val="C5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242816"/>
            <a:ext cx="10268712" cy="1481328"/>
          </a:xfrm>
          <a:prstGeom prst="rect">
            <a:avLst/>
          </a:prstGeom>
          <a:noFill/>
        </p:spPr>
        <p:txBody>
          <a:bodyPr wrap="square" lIns="0" rIns="0" tIns="0" bIns="0" anchor="ctr">
            <a:spAutoFit/>
          </a:bodyPr>
          <a:lstStyle/>
          <a:p>
            <a:pPr algn="l">
              <a:lnSpc>
                <a:spcPct val="125000"/>
              </a:lnSpc>
              <a:spcAft>
                <a:spcPts val="500"/>
              </a:spcAft>
            </a:pPr>
            <a:r>
              <a:rPr sz="1350" i="0" b="0">
                <a:solidFill>
                  <a:srgbClr val="1A202C"/>
                </a:solidFill>
                <a:latin typeface="Segoe UI"/>
              </a:rPr>
              <a:t>✖  Tự phản biện B8 và B19 — bộ KPI vẫn còn ba chỗ hỏng:</a:t>
            </a:r>
          </a:p>
          <a:p>
            <a:pPr algn="l">
              <a:lnSpc>
                <a:spcPct val="125000"/>
              </a:lnSpc>
              <a:spcAft>
                <a:spcPts val="500"/>
              </a:spcAft>
            </a:pPr>
            <a:r>
              <a:rPr sz="1350" i="0" b="1">
                <a:solidFill>
                  <a:srgbClr val="C53030"/>
                </a:solidFill>
                <a:latin typeface="Segoe UI"/>
              </a:rPr>
              <a:t>K7 vi phạm ngưỡng của chính nó ngay ngày ban hành</a:t>
            </a:r>
            <a:r>
              <a:rPr sz="1350" i="0" b="0">
                <a:solidFill>
                  <a:srgbClr val="1A202C"/>
                </a:solidFill>
                <a:latin typeface="Segoe UI"/>
              </a:rPr>
              <a:t> — thực tế đang ở </a:t>
            </a:r>
            <a:r>
              <a:rPr sz="1350" i="0" b="1">
                <a:solidFill>
                  <a:srgbClr val="C53030"/>
                </a:solidFill>
                <a:latin typeface="Segoe UI"/>
              </a:rPr>
              <a:t>30,57%</a:t>
            </a:r>
            <a:r>
              <a:rPr sz="1350" i="0" b="0">
                <a:solidFill>
                  <a:srgbClr val="1A202C"/>
                </a:solidFill>
                <a:latin typeface="Segoe UI"/>
              </a:rPr>
              <a:t>, trong khi ngưỡng đặt là ≤ 30%.</a:t>
            </a:r>
          </a:p>
          <a:p>
            <a:pPr algn="l">
              <a:lnSpc>
                <a:spcPct val="125000"/>
              </a:lnSpc>
              <a:spcAft>
                <a:spcPts val="500"/>
              </a:spcAft>
            </a:pPr>
            <a:r>
              <a:rPr sz="1350" i="0" b="1">
                <a:solidFill>
                  <a:srgbClr val="C53030"/>
                </a:solidFill>
                <a:latin typeface="Segoe UI"/>
              </a:rPr>
              <a:t>K1 đòi tăng 2,86 lần</a:t>
            </a:r>
            <a:r>
              <a:rPr sz="1350" i="0" b="0">
                <a:solidFill>
                  <a:srgbClr val="1A202C"/>
                </a:solidFill>
                <a:latin typeface="Segoe UI"/>
              </a:rPr>
              <a:t>, mốc 20% cách hiện tại </a:t>
            </a:r>
            <a:r>
              <a:rPr sz="1350" i="0" b="1">
                <a:solidFill>
                  <a:srgbClr val="C53030"/>
                </a:solidFill>
                <a:latin typeface="Segoe UI"/>
              </a:rPr>
              <a:t>sáu năm</a:t>
            </a:r>
            <a:r>
              <a:rPr sz="1350" i="0" b="0">
                <a:solidFill>
                  <a:srgbClr val="1A202C"/>
                </a:solidFill>
                <a:latin typeface="Segoe UI"/>
              </a:rPr>
              <a:t> — không phải mục tiêu điều hành được.</a:t>
            </a:r>
          </a:p>
          <a:p>
            <a:pPr algn="l">
              <a:lnSpc>
                <a:spcPct val="125000"/>
              </a:lnSpc>
              <a:spcAft>
                <a:spcPts val="500"/>
              </a:spcAft>
            </a:pPr>
            <a:r>
              <a:rPr sz="1350" i="0" b="1">
                <a:solidFill>
                  <a:srgbClr val="C53030"/>
                </a:solidFill>
                <a:latin typeface="Segoe UI"/>
              </a:rPr>
              <a:t>K5 chỉ đo được sau 36 tháng</a:t>
            </a:r>
            <a:r>
              <a:rPr sz="1350" i="0" b="0">
                <a:solidFill>
                  <a:srgbClr val="1A202C"/>
                </a:solidFill>
                <a:latin typeface="Segoe UI"/>
              </a:rPr>
              <a:t> — quá trễ để lái. Đã đề xuất hai chỉ số </a:t>
            </a:r>
            <a:r>
              <a:rPr sz="1350" i="0" b="1">
                <a:solidFill>
                  <a:srgbClr val="C53030"/>
                </a:solidFill>
                <a:latin typeface="Segoe UI"/>
              </a:rPr>
              <a:t>dẫn báo</a:t>
            </a:r>
            <a:r>
              <a:rPr sz="1350" i="0" b="0">
                <a:solidFill>
                  <a:srgbClr val="1A202C"/>
                </a:solidFill>
                <a:latin typeface="Segoe UI"/>
              </a:rPr>
              <a:t> thay thế.</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III · KIỂM CHỨNG</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Số liệu tự kiểm nhau bằng đường khác</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Chạy lại cùng một script không chứng minh gì — chỉ chứng minh code chạy hai lần ra cùng kết quả</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20</a:t>
            </a:r>
          </a:p>
        </p:txBody>
      </p:sp>
      <p:graphicFrame>
        <p:nvGraphicFramePr>
          <p:cNvPr id="8" name="Table 7"/>
          <p:cNvGraphicFramePr>
            <a:graphicFrameLocks noGrp="1"/>
          </p:cNvGraphicFramePr>
          <p:nvPr/>
        </p:nvGraphicFramePr>
        <p:xfrm>
          <a:off x="685800" y="2176272"/>
          <a:ext cx="10817352" cy="2523744"/>
        </p:xfrm>
        <a:graphic>
          <a:graphicData uri="http://schemas.openxmlformats.org/drawingml/2006/table">
            <a:tbl>
              <a:tblPr>
                <a:tableStyleId>{2D5ABB26-0587-4C30-8999-92F81FD0307C}</a:tableStyleId>
              </a:tblPr>
              <a:tblGrid>
                <a:gridCol w="4114800"/>
                <a:gridCol w="4206240"/>
                <a:gridCol w="2496312"/>
              </a:tblGrid>
              <a:tr h="329184">
                <a:tc>
                  <a:txBody>
                    <a:bodyPr wrap="square"/>
                    <a:lstStyle/>
                    <a:p>
                      <a:pPr algn="l">
                        <a:lnSpc>
                          <a:spcPct val="108000"/>
                        </a:lnSpc>
                      </a:pPr>
                      <a:r>
                        <a:rPr sz="1150" i="0" b="1">
                          <a:solidFill>
                            <a:srgbClr val="FFFFFF"/>
                          </a:solidFill>
                          <a:latin typeface="Segoe UI"/>
                        </a:rPr>
                        <a:t>Phép kiểm</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Kết quả</a:t>
                      </a:r>
                    </a:p>
                  </a:txBody>
                  <a:tcPr marL="91440" marR="91440" marT="27432" marB="27432" anchor="ctr">
                    <a:solidFill>
                      <a:srgbClr val="2B6CB0"/>
                    </a:solidFill>
                  </a:tcPr>
                </a:tc>
                <a:tc>
                  <a:txBody>
                    <a:bodyPr wrap="square"/>
                    <a:lstStyle/>
                    <a:p>
                      <a:pPr algn="ctr">
                        <a:lnSpc>
                          <a:spcPct val="108000"/>
                        </a:lnSpc>
                      </a:pPr>
                      <a:r>
                        <a:rPr sz="1150" i="0" b="1">
                          <a:solidFill>
                            <a:srgbClr val="FFFFFF"/>
                          </a:solidFill>
                          <a:latin typeface="Segoe UI"/>
                        </a:rPr>
                        <a:t>Có thể vỡ không?</a:t>
                      </a:r>
                    </a:p>
                  </a:txBody>
                  <a:tcPr marL="91440" marR="91440" marT="27432" marB="27432" anchor="ctr">
                    <a:solidFill>
                      <a:srgbClr val="2B6CB0"/>
                    </a:solidFill>
                  </a:tcPr>
                </a:tc>
              </a:tr>
              <a:tr h="365760">
                <a:tc>
                  <a:txBody>
                    <a:bodyPr wrap="square"/>
                    <a:lstStyle/>
                    <a:p>
                      <a:pPr algn="l">
                        <a:lnSpc>
                          <a:spcPct val="108000"/>
                        </a:lnSpc>
                      </a:pPr>
                      <a:r>
                        <a:rPr sz="1250" i="0" b="0">
                          <a:solidFill>
                            <a:srgbClr val="1A202C"/>
                          </a:solidFill>
                          <a:latin typeface="Segoe UI"/>
                        </a:rPr>
                        <a:t>Ba nhóm khách cộng lại bằng tổng đăng ký</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31.684 + 65.493 + 24.753 = 121.930</a:t>
                      </a:r>
                    </a:p>
                  </a:txBody>
                  <a:tcPr marL="91440" marR="91440" marT="27432" marB="27432" anchor="ctr">
                    <a:solidFill>
                      <a:srgbClr val="FFFFFF"/>
                    </a:solidFill>
                  </a:tcPr>
                </a:tc>
                <a:tc>
                  <a:txBody>
                    <a:bodyPr wrap="square"/>
                    <a:lstStyle/>
                    <a:p>
                      <a:pPr algn="ctr">
                        <a:lnSpc>
                          <a:spcPct val="108000"/>
                        </a:lnSpc>
                      </a:pPr>
                      <a:r>
                        <a:rPr sz="1250" i="0" b="0">
                          <a:solidFill>
                            <a:srgbClr val="5A6570"/>
                          </a:solidFill>
                          <a:latin typeface="Segoe UI"/>
                        </a:rPr>
                        <a:t>Hằng đúng</a:t>
                      </a:r>
                    </a:p>
                  </a:txBody>
                  <a:tcPr marL="91440" marR="91440" marT="27432" marB="27432" anchor="ctr">
                    <a:solidFill>
                      <a:srgbClr val="FFFFFF"/>
                    </a:solidFill>
                  </a:tcPr>
                </a:tc>
              </a:tr>
              <a:tr h="365760">
                <a:tc>
                  <a:txBody>
                    <a:bodyPr wrap="square"/>
                    <a:lstStyle/>
                    <a:p>
                      <a:pPr algn="l">
                        <a:lnSpc>
                          <a:spcPct val="108000"/>
                        </a:lnSpc>
                      </a:pPr>
                      <a:r>
                        <a:rPr sz="1250" i="0" b="0">
                          <a:solidFill>
                            <a:srgbClr val="1A202C"/>
                          </a:solidFill>
                          <a:latin typeface="Segoe UI"/>
                        </a:rPr>
                        <a:t>Phân rã logarit: rổ cạn + tỷ lệ hút = tổng</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Sai số 4,4 × 10⁻¹⁶</a:t>
                      </a:r>
                    </a:p>
                  </a:txBody>
                  <a:tcPr marL="91440" marR="91440" marT="27432" marB="27432" anchor="ctr">
                    <a:solidFill>
                      <a:srgbClr val="F1F5F9"/>
                    </a:solidFill>
                  </a:tcPr>
                </a:tc>
                <a:tc>
                  <a:txBody>
                    <a:bodyPr wrap="square"/>
                    <a:lstStyle/>
                    <a:p>
                      <a:pPr algn="ctr">
                        <a:lnSpc>
                          <a:spcPct val="108000"/>
                        </a:lnSpc>
                      </a:pPr>
                      <a:r>
                        <a:rPr sz="1250" i="0" b="0">
                          <a:solidFill>
                            <a:srgbClr val="5A6570"/>
                          </a:solidFill>
                          <a:latin typeface="Segoe UI"/>
                        </a:rPr>
                        <a:t>Hằng đúng</a:t>
                      </a:r>
                    </a:p>
                  </a:txBody>
                  <a:tcPr marL="91440" marR="91440" marT="27432" marB="27432" anchor="ctr">
                    <a:solidFill>
                      <a:srgbClr val="F1F5F9"/>
                    </a:solidFill>
                  </a:tcPr>
                </a:tc>
              </a:tr>
              <a:tr h="365760">
                <a:tc>
                  <a:txBody>
                    <a:bodyPr wrap="square"/>
                    <a:lstStyle/>
                    <a:p>
                      <a:pPr algn="l">
                        <a:lnSpc>
                          <a:spcPct val="108000"/>
                        </a:lnSpc>
                      </a:pPr>
                      <a:r>
                        <a:rPr sz="1250" i="0" b="0">
                          <a:solidFill>
                            <a:srgbClr val="1A202C"/>
                          </a:solidFill>
                          <a:latin typeface="Segoe UI"/>
                        </a:rPr>
                        <a:t>Hai đường phân rã độc lập gặp nhau</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Phễu và vòng đời cùng ra −0,348</a:t>
                      </a:r>
                    </a:p>
                  </a:txBody>
                  <a:tcPr marL="91440" marR="91440" marT="27432" marB="27432" anchor="ctr">
                    <a:solidFill>
                      <a:srgbClr val="FFFFFF"/>
                    </a:solidFill>
                  </a:tcPr>
                </a:tc>
                <a:tc>
                  <a:txBody>
                    <a:bodyPr wrap="square"/>
                    <a:lstStyle/>
                    <a:p>
                      <a:pPr algn="ctr">
                        <a:lnSpc>
                          <a:spcPct val="108000"/>
                        </a:lnSpc>
                      </a:pPr>
                      <a:r>
                        <a:rPr sz="1250" i="0" b="0">
                          <a:solidFill>
                            <a:srgbClr val="5A6570"/>
                          </a:solidFill>
                          <a:latin typeface="Segoe UI"/>
                        </a:rPr>
                        <a:t>Hằng đúng</a:t>
                      </a:r>
                    </a:p>
                  </a:txBody>
                  <a:tcPr marL="91440" marR="91440" marT="27432" marB="27432" anchor="ctr">
                    <a:solidFill>
                      <a:srgbClr val="FFFFFF"/>
                    </a:solidFill>
                  </a:tcPr>
                </a:tc>
              </a:tr>
              <a:tr h="365760">
                <a:tc>
                  <a:txBody>
                    <a:bodyPr wrap="square"/>
                    <a:lstStyle/>
                    <a:p>
                      <a:pPr algn="l">
                        <a:lnSpc>
                          <a:spcPct val="108000"/>
                        </a:lnSpc>
                      </a:pPr>
                      <a:r>
                        <a:rPr sz="1150" i="0" b="0">
                          <a:solidFill>
                            <a:srgbClr val="1A365D"/>
                          </a:solidFill>
                          <a:latin typeface="Consolas"/>
                        </a:rPr>
                        <a:t>sales.csv</a:t>
                      </a:r>
                      <a:r>
                        <a:rPr sz="1250" i="0" b="0">
                          <a:solidFill>
                            <a:srgbClr val="1A202C"/>
                          </a:solidFill>
                          <a:latin typeface="Segoe UI"/>
                        </a:rPr>
                        <a:t> vs Σ(quantity × unit_price)</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Tỷ lệ 1,000000 trên 3.833 ngày</a:t>
                      </a:r>
                    </a:p>
                  </a:txBody>
                  <a:tcPr marL="91440" marR="91440" marT="27432" marB="27432" anchor="ctr">
                    <a:solidFill>
                      <a:srgbClr val="F1F5F9"/>
                    </a:solidFill>
                  </a:tcPr>
                </a:tc>
                <a:tc>
                  <a:txBody>
                    <a:bodyPr wrap="square"/>
                    <a:lstStyle/>
                    <a:p>
                      <a:pPr algn="ctr">
                        <a:lnSpc>
                          <a:spcPct val="108000"/>
                        </a:lnSpc>
                      </a:pPr>
                      <a:r>
                        <a:rPr sz="1250" i="0" b="0">
                          <a:solidFill>
                            <a:srgbClr val="2F855A"/>
                          </a:solidFill>
                          <a:latin typeface="Segoe UI"/>
                        </a:rPr>
                        <a:t>★ CÓ — kiểm thật</a:t>
                      </a:r>
                    </a:p>
                  </a:txBody>
                  <a:tcPr marL="91440" marR="91440" marT="27432" marB="27432" anchor="ctr">
                    <a:solidFill>
                      <a:srgbClr val="F1F5F9"/>
                    </a:solidFill>
                  </a:tcPr>
                </a:tc>
              </a:tr>
              <a:tr h="365760">
                <a:tc>
                  <a:txBody>
                    <a:bodyPr wrap="square"/>
                    <a:lstStyle/>
                    <a:p>
                      <a:pPr algn="l">
                        <a:lnSpc>
                          <a:spcPct val="108000"/>
                        </a:lnSpc>
                      </a:pPr>
                      <a:r>
                        <a:rPr sz="1150" i="0" b="0">
                          <a:solidFill>
                            <a:srgbClr val="1A365D"/>
                          </a:solidFill>
                          <a:latin typeface="Consolas"/>
                        </a:rPr>
                        <a:t>payment_value</a:t>
                      </a:r>
                      <a:r>
                        <a:rPr sz="1250" i="0" b="0">
                          <a:solidFill>
                            <a:srgbClr val="1A202C"/>
                          </a:solidFill>
                          <a:latin typeface="Segoe UI"/>
                        </a:rPr>
                        <a:t> = gross − discount</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Khớp 100% trên 646.945 đơn</a:t>
                      </a:r>
                    </a:p>
                  </a:txBody>
                  <a:tcPr marL="91440" marR="91440" marT="27432" marB="27432" anchor="ctr">
                    <a:solidFill>
                      <a:srgbClr val="FFFFFF"/>
                    </a:solidFill>
                  </a:tcPr>
                </a:tc>
                <a:tc>
                  <a:txBody>
                    <a:bodyPr wrap="square"/>
                    <a:lstStyle/>
                    <a:p>
                      <a:pPr algn="ctr">
                        <a:lnSpc>
                          <a:spcPct val="108000"/>
                        </a:lnSpc>
                      </a:pPr>
                      <a:r>
                        <a:rPr sz="1250" i="0" b="0">
                          <a:solidFill>
                            <a:srgbClr val="2F855A"/>
                          </a:solidFill>
                          <a:latin typeface="Segoe UI"/>
                        </a:rPr>
                        <a:t>★ CÓ — kiểm thật</a:t>
                      </a:r>
                    </a:p>
                  </a:txBody>
                  <a:tcPr marL="91440" marR="91440" marT="27432" marB="27432" anchor="ctr">
                    <a:solidFill>
                      <a:srgbClr val="FFFFFF"/>
                    </a:solidFill>
                  </a:tcPr>
                </a:tc>
              </a:tr>
              <a:tr h="365760">
                <a:tc>
                  <a:txBody>
                    <a:bodyPr wrap="square"/>
                    <a:lstStyle/>
                    <a:p>
                      <a:pPr algn="l">
                        <a:lnSpc>
                          <a:spcPct val="108000"/>
                        </a:lnSpc>
                      </a:pPr>
                      <a:r>
                        <a:rPr sz="1250" i="0" b="0">
                          <a:solidFill>
                            <a:srgbClr val="1A202C"/>
                          </a:solidFill>
                          <a:latin typeface="Segoe UI"/>
                        </a:rPr>
                        <a:t>Nghiệm thu bộ chỉ số</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8/8 dòng OK</a:t>
                      </a:r>
                    </a:p>
                  </a:txBody>
                  <a:tcPr marL="91440" marR="91440" marT="27432" marB="27432" anchor="ctr">
                    <a:solidFill>
                      <a:srgbClr val="F1F5F9"/>
                    </a:solidFill>
                  </a:tcPr>
                </a:tc>
                <a:tc>
                  <a:txBody>
                    <a:bodyPr wrap="square"/>
                    <a:lstStyle/>
                    <a:p>
                      <a:pPr algn="ctr">
                        <a:lnSpc>
                          <a:spcPct val="108000"/>
                        </a:lnSpc>
                      </a:pPr>
                      <a:r>
                        <a:rPr sz="1250" i="0" b="0">
                          <a:solidFill>
                            <a:srgbClr val="5A6570"/>
                          </a:solidFill>
                          <a:latin typeface="Segoe UI"/>
                        </a:rPr>
                        <a:t>—</a:t>
                      </a:r>
                    </a:p>
                  </a:txBody>
                  <a:tcPr marL="91440" marR="91440" marT="27432" marB="27432" anchor="ctr">
                    <a:solidFill>
                      <a:srgbClr val="F1F5F9"/>
                    </a:solidFill>
                  </a:tcPr>
                </a:tc>
              </a:tr>
            </a:tbl>
          </a:graphicData>
        </a:graphic>
      </p:graphicFrame>
      <p:sp>
        <p:nvSpPr>
          <p:cNvPr id="9" name="Rounded Rectangle 8"/>
          <p:cNvSpPr/>
          <p:nvPr/>
        </p:nvSpPr>
        <p:spPr>
          <a:xfrm>
            <a:off x="685800" y="4773168"/>
            <a:ext cx="10817352" cy="1133856"/>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4773168"/>
            <a:ext cx="64008" cy="1133856"/>
          </a:xfrm>
          <a:prstGeom prst="rect">
            <a:avLst/>
          </a:prstGeom>
          <a:solidFill>
            <a:srgbClr val="C5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956048"/>
            <a:ext cx="10268712" cy="768096"/>
          </a:xfrm>
          <a:prstGeom prst="rect">
            <a:avLst/>
          </a:prstGeom>
          <a:noFill/>
        </p:spPr>
        <p:txBody>
          <a:bodyPr wrap="square" lIns="0" rIns="0" tIns="0" bIns="0" anchor="ctr">
            <a:spAutoFit/>
          </a:bodyPr>
          <a:lstStyle/>
          <a:p>
            <a:pPr algn="l">
              <a:lnSpc>
                <a:spcPct val="125000"/>
              </a:lnSpc>
              <a:spcAft>
                <a:spcPts val="500"/>
              </a:spcAft>
            </a:pPr>
            <a:r>
              <a:rPr sz="1350" i="0" b="0">
                <a:solidFill>
                  <a:srgbClr val="1A202C"/>
                </a:solidFill>
                <a:latin typeface="Segoe UI"/>
              </a:rPr>
              <a:t>✖  Tự phản biện B10 — </a:t>
            </a:r>
            <a:r>
              <a:rPr sz="1350" i="0" b="1">
                <a:solidFill>
                  <a:srgbClr val="C53030"/>
                </a:solidFill>
                <a:latin typeface="Segoe UI"/>
              </a:rPr>
              <a:t>ba trong năm phép kiểm là hằng đúng</a:t>
            </a:r>
            <a:r>
              <a:rPr sz="1350" i="0" b="0">
                <a:solidFill>
                  <a:srgbClr val="1A202C"/>
                </a:solidFill>
                <a:latin typeface="Segoe UI"/>
              </a:rPr>
              <a:t>, không thể vỡ dù số liệu sai.</a:t>
            </a:r>
          </a:p>
          <a:p>
            <a:pPr algn="l">
              <a:lnSpc>
                <a:spcPct val="125000"/>
              </a:lnSpc>
              <a:spcAft>
                <a:spcPts val="500"/>
              </a:spcAft>
            </a:pPr>
            <a:r>
              <a:rPr sz="1350" i="0" b="0">
                <a:solidFill>
                  <a:srgbClr val="1A202C"/>
                </a:solidFill>
                <a:latin typeface="Segoe UI"/>
              </a:rPr>
              <a:t>Nặng nhất: phép kiểm tài liệu gọi là </a:t>
            </a:r>
            <a:r>
              <a:rPr sz="1350" i="0" b="1">
                <a:solidFill>
                  <a:srgbClr val="C53030"/>
                </a:solidFill>
                <a:latin typeface="Segoe UI"/>
              </a:rPr>
              <a:t>"mạnh nhất"</a:t>
            </a:r>
            <a:r>
              <a:rPr sz="1350" i="0" b="0">
                <a:solidFill>
                  <a:srgbClr val="1A202C"/>
                </a:solidFill>
                <a:latin typeface="Segoe UI"/>
              </a:rPr>
              <a:t> (hai đường phân rã gặp nhau) thực ra </a:t>
            </a:r>
            <a:r>
              <a:rPr sz="1350" i="0" b="1">
                <a:solidFill>
                  <a:srgbClr val="C53030"/>
                </a:solidFill>
                <a:latin typeface="Segoe UI"/>
              </a:rPr>
              <a:t>yếu nhất</a:t>
            </a:r>
            <a:r>
              <a:rPr sz="1350" i="0" b="0">
                <a:solidFill>
                  <a:srgbClr val="1A202C"/>
                </a:solidFill>
                <a:latin typeface="Segoe UI"/>
              </a:rPr>
              <a:t> — hai đường dùng chung dữ liệu đầu vào nên buộc phải gặp. Đã đề xuất phép kiểm thay thế </a:t>
            </a:r>
            <a:r>
              <a:rPr sz="1350" i="0" b="1">
                <a:solidFill>
                  <a:srgbClr val="C53030"/>
                </a:solidFill>
                <a:latin typeface="Segoe UI"/>
              </a:rPr>
              <a:t>có thể vỡ</a:t>
            </a:r>
            <a:r>
              <a:rPr sz="1350" i="0" b="0">
                <a:solidFill>
                  <a:srgbClr val="1A202C"/>
                </a:solidFill>
                <a:latin typeface="Segoe UI"/>
              </a:rPr>
              <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IV · TỰ PHẢN BIỆN</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Tự kiểm 31 mục trên chính tài liệu của mình</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Mỗi mục một script riêng, chạy trực tiếp trên dữ liệu gốc — không tin lại kết quả cũ</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21</a:t>
            </a:r>
          </a:p>
        </p:txBody>
      </p:sp>
      <p:sp>
        <p:nvSpPr>
          <p:cNvPr id="8" name="Rounded Rectangle 7"/>
          <p:cNvSpPr/>
          <p:nvPr/>
        </p:nvSpPr>
        <p:spPr>
          <a:xfrm>
            <a:off x="685800" y="2176272"/>
            <a:ext cx="3471672" cy="1298448"/>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2F855A"/>
                </a:solidFill>
                <a:latin typeface="Segoe UI"/>
              </a:rPr>
              <a:t>13</a:t>
            </a:r>
          </a:p>
        </p:txBody>
      </p:sp>
      <p:sp>
        <p:nvSpPr>
          <p:cNvPr id="10" name="TextBox 9"/>
          <p:cNvSpPr txBox="1"/>
          <p:nvPr/>
        </p:nvSpPr>
        <p:spPr>
          <a:xfrm>
            <a:off x="850392" y="2999232"/>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XÁC NHẬN ĐÚNG
tài liệu đứng vững</a:t>
            </a:r>
          </a:p>
        </p:txBody>
      </p:sp>
      <p:sp>
        <p:nvSpPr>
          <p:cNvPr id="11" name="Rounded Rectangle 10"/>
          <p:cNvSpPr/>
          <p:nvPr/>
        </p:nvSpPr>
        <p:spPr>
          <a:xfrm>
            <a:off x="4358640" y="2176272"/>
            <a:ext cx="3471672" cy="1298448"/>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323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B75309"/>
                </a:solidFill>
                <a:latin typeface="Segoe UI"/>
              </a:rPr>
              <a:t>10</a:t>
            </a:r>
          </a:p>
        </p:txBody>
      </p:sp>
      <p:sp>
        <p:nvSpPr>
          <p:cNvPr id="13" name="TextBox 12"/>
          <p:cNvSpPr txBox="1"/>
          <p:nvPr/>
        </p:nvSpPr>
        <p:spPr>
          <a:xfrm>
            <a:off x="4523232" y="2999232"/>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PHẢI THU HẸP
đúng nhưng nói quá</a:t>
            </a:r>
          </a:p>
        </p:txBody>
      </p:sp>
      <p:sp>
        <p:nvSpPr>
          <p:cNvPr id="14" name="Rounded Rectangle 13"/>
          <p:cNvSpPr/>
          <p:nvPr/>
        </p:nvSpPr>
        <p:spPr>
          <a:xfrm>
            <a:off x="8031480" y="2176272"/>
            <a:ext cx="3471672" cy="1298448"/>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9607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C53030"/>
                </a:solidFill>
                <a:latin typeface="Segoe UI"/>
              </a:rPr>
              <a:t>8</a:t>
            </a:r>
          </a:p>
        </p:txBody>
      </p:sp>
      <p:sp>
        <p:nvSpPr>
          <p:cNvPr id="16" name="TextBox 15"/>
          <p:cNvSpPr txBox="1"/>
          <p:nvPr/>
        </p:nvSpPr>
        <p:spPr>
          <a:xfrm>
            <a:off x="8196072" y="2999232"/>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LỆCH — PHẢI SỬA
con số hoặc kết luận sai</a:t>
            </a:r>
          </a:p>
        </p:txBody>
      </p:sp>
      <p:sp>
        <p:nvSpPr>
          <p:cNvPr id="17" name="TextBox 16"/>
          <p:cNvSpPr txBox="1"/>
          <p:nvPr/>
        </p:nvSpPr>
        <p:spPr>
          <a:xfrm>
            <a:off x="685800" y="3657600"/>
            <a:ext cx="10817352" cy="868680"/>
          </a:xfrm>
          <a:prstGeom prst="rect">
            <a:avLst/>
          </a:prstGeom>
          <a:noFill/>
        </p:spPr>
        <p:txBody>
          <a:bodyPr wrap="square" lIns="0" rIns="0" tIns="0" bIns="0" anchor="t">
            <a:spAutoFit/>
          </a:bodyPr>
          <a:lstStyle/>
          <a:p>
            <a:pPr algn="l">
              <a:lnSpc>
                <a:spcPct val="122000"/>
              </a:lnSpc>
              <a:spcAft>
                <a:spcPts val="700"/>
              </a:spcAft>
            </a:pPr>
            <a:r>
              <a:rPr sz="1450" i="0" b="0">
                <a:solidFill>
                  <a:srgbClr val="1A202C"/>
                </a:solidFill>
                <a:latin typeface="Segoe UI"/>
              </a:rPr>
              <a:t>Nguyên tắc đã áp dụng: mỗi con số phải kèm </a:t>
            </a:r>
            <a:r>
              <a:rPr sz="1450" i="0" b="1">
                <a:solidFill>
                  <a:srgbClr val="1A365D"/>
                </a:solidFill>
                <a:latin typeface="Segoe UI"/>
              </a:rPr>
              <a:t>bảng nguồn · cột · bộ lọc · grain</a:t>
            </a:r>
            <a:r>
              <a:rPr sz="1450" i="0" b="0">
                <a:solidFill>
                  <a:srgbClr val="1A202C"/>
                </a:solidFill>
                <a:latin typeface="Segoe UI"/>
              </a:rPr>
              <a:t>. Khi lệch so với tài liệu thì ghi thẳng </a:t>
            </a:r>
            <a:r>
              <a:rPr sz="1450" i="0" b="1">
                <a:solidFill>
                  <a:srgbClr val="1A365D"/>
                </a:solidFill>
                <a:latin typeface="Segoe UI"/>
              </a:rPr>
              <a:t>LỆCH</a:t>
            </a:r>
            <a:r>
              <a:rPr sz="1450" i="0" b="0">
                <a:solidFill>
                  <a:srgbClr val="1A202C"/>
                </a:solidFill>
                <a:latin typeface="Segoe UI"/>
              </a:rPr>
              <a:t>, không làm tròn cho khớp.</a:t>
            </a:r>
          </a:p>
          <a:p>
            <a:pPr algn="l">
              <a:lnSpc>
                <a:spcPct val="122000"/>
              </a:lnSpc>
              <a:spcAft>
                <a:spcPts val="700"/>
              </a:spcAft>
            </a:pPr>
            <a:r>
              <a:rPr sz="1450" i="0" b="0">
                <a:solidFill>
                  <a:srgbClr val="1A202C"/>
                </a:solidFill>
                <a:latin typeface="Segoe UI"/>
              </a:rPr>
              <a:t>Khi không xác định được thì viết </a:t>
            </a:r>
            <a:r>
              <a:rPr sz="1450" i="0" b="1">
                <a:solidFill>
                  <a:srgbClr val="1A365D"/>
                </a:solidFill>
                <a:latin typeface="Segoe UI"/>
              </a:rPr>
              <a:t>"chưa xác định được"</a:t>
            </a:r>
            <a:r>
              <a:rPr sz="1450" i="0" b="0">
                <a:solidFill>
                  <a:srgbClr val="1A202C"/>
                </a:solidFill>
                <a:latin typeface="Segoe UI"/>
              </a:rPr>
              <a:t> kèm lý do — </a:t>
            </a:r>
            <a:r>
              <a:rPr sz="1450" i="0" b="1">
                <a:solidFill>
                  <a:srgbClr val="1A365D"/>
                </a:solidFill>
                <a:latin typeface="Segoe UI"/>
              </a:rPr>
              <a:t>không đoán</a:t>
            </a:r>
            <a:r>
              <a:rPr sz="1450" i="0" b="0">
                <a:solidFill>
                  <a:srgbClr val="1A202C"/>
                </a:solidFill>
                <a:latin typeface="Segoe UI"/>
              </a:rPr>
              <a:t>.</a:t>
            </a:r>
          </a:p>
        </p:txBody>
      </p:sp>
      <p:sp>
        <p:nvSpPr>
          <p:cNvPr id="18" name="Rounded Rectangle 17"/>
          <p:cNvSpPr/>
          <p:nvPr/>
        </p:nvSpPr>
        <p:spPr>
          <a:xfrm>
            <a:off x="685800" y="4681727"/>
            <a:ext cx="10817352" cy="1225296"/>
          </a:xfrm>
          <a:prstGeom prst="roundRect">
            <a:avLst>
              <a:gd name="adj" fmla="val 6000"/>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681727"/>
            <a:ext cx="64008" cy="1225296"/>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864607"/>
            <a:ext cx="10268712" cy="859536"/>
          </a:xfrm>
          <a:prstGeom prst="rect">
            <a:avLst/>
          </a:prstGeom>
          <a:noFill/>
        </p:spPr>
        <p:txBody>
          <a:bodyPr wrap="square" lIns="0" rIns="0" tIns="0" bIns="0" anchor="ctr">
            <a:spAutoFit/>
          </a:bodyPr>
          <a:lstStyle/>
          <a:p>
            <a:pPr algn="l">
              <a:lnSpc>
                <a:spcPct val="125000"/>
              </a:lnSpc>
              <a:spcAft>
                <a:spcPts val="500"/>
              </a:spcAft>
            </a:pPr>
            <a:r>
              <a:rPr sz="1450" i="0" b="0">
                <a:solidFill>
                  <a:srgbClr val="1A202C"/>
                </a:solidFill>
                <a:latin typeface="Segoe UI"/>
              </a:rPr>
              <a:t>Vì sao đưa phần này vào bài báo cáo:</a:t>
            </a:r>
          </a:p>
          <a:p>
            <a:pPr algn="l">
              <a:lnSpc>
                <a:spcPct val="125000"/>
              </a:lnSpc>
              <a:spcAft>
                <a:spcPts val="500"/>
              </a:spcAft>
            </a:pPr>
            <a:r>
              <a:rPr sz="1450" i="0" b="0">
                <a:solidFill>
                  <a:srgbClr val="1A202C"/>
                </a:solidFill>
                <a:latin typeface="Segoe UI"/>
              </a:rPr>
              <a:t>Tám lỗi trên </a:t>
            </a:r>
            <a:r>
              <a:rPr sz="1450" i="0" b="1">
                <a:solidFill>
                  <a:srgbClr val="2B6CB0"/>
                </a:solidFill>
                <a:latin typeface="Segoe UI"/>
              </a:rPr>
              <a:t>đều do chính nhóm tìm ra</a:t>
            </a:r>
            <a:r>
              <a:rPr sz="1450" i="0" b="0">
                <a:solidFill>
                  <a:srgbClr val="1A202C"/>
                </a:solidFill>
                <a:latin typeface="Segoe UI"/>
              </a:rPr>
              <a:t>, trước khi hội đồng hỏi. Một tài liệu </a:t>
            </a:r>
            <a:r>
              <a:rPr sz="1450" i="0" b="1">
                <a:solidFill>
                  <a:srgbClr val="2B6CB0"/>
                </a:solidFill>
                <a:latin typeface="Segoe UI"/>
              </a:rPr>
              <a:t>biết chỗ yếu của mình ở đâu</a:t>
            </a:r>
            <a:r>
              <a:rPr sz="1450" i="0" b="0">
                <a:solidFill>
                  <a:srgbClr val="1A202C"/>
                </a:solidFill>
                <a:latin typeface="Segoe UI"/>
              </a:rPr>
              <a:t> đáng tin hơn một tài liệu </a:t>
            </a:r>
            <a:r>
              <a:rPr sz="1450" i="0" b="1">
                <a:solidFill>
                  <a:srgbClr val="2B6CB0"/>
                </a:solidFill>
                <a:latin typeface="Segoe UI"/>
              </a:rPr>
              <a:t>không có chỗ yếu nào</a:t>
            </a:r>
            <a:r>
              <a:rPr sz="1450" i="0" b="0">
                <a:solidFill>
                  <a:srgbClr val="1A202C"/>
                </a:solidFill>
                <a:latin typeface="Segoe UI"/>
              </a:rPr>
              <a: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IV · KẾT QUẢ</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Tám chỗ lệch đã tìm ra và cách sửa</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Mỗi dòng là một con số hoặc một kết luận trong tài liệu KHÔNG đứng được khi kiểm lại</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22</a:t>
            </a:r>
          </a:p>
        </p:txBody>
      </p:sp>
      <p:graphicFrame>
        <p:nvGraphicFramePr>
          <p:cNvPr id="8" name="Table 7"/>
          <p:cNvGraphicFramePr>
            <a:graphicFrameLocks noGrp="1"/>
          </p:cNvGraphicFramePr>
          <p:nvPr/>
        </p:nvGraphicFramePr>
        <p:xfrm>
          <a:off x="685800" y="2176272"/>
          <a:ext cx="10817352" cy="3145536"/>
        </p:xfrm>
        <a:graphic>
          <a:graphicData uri="http://schemas.openxmlformats.org/drawingml/2006/table">
            <a:tbl>
              <a:tblPr>
                <a:tableStyleId>{2D5ABB26-0587-4C30-8999-92F81FD0307C}</a:tableStyleId>
              </a:tblPr>
              <a:tblGrid>
                <a:gridCol w="658368"/>
                <a:gridCol w="3200400"/>
                <a:gridCol w="6958584"/>
              </a:tblGrid>
              <a:tr h="329184">
                <a:tc>
                  <a:txBody>
                    <a:bodyPr wrap="square"/>
                    <a:lstStyle/>
                    <a:p>
                      <a:pPr algn="ctr">
                        <a:lnSpc>
                          <a:spcPct val="108000"/>
                        </a:lnSpc>
                      </a:pPr>
                      <a:r>
                        <a:rPr sz="1150" i="0" b="1">
                          <a:solidFill>
                            <a:srgbClr val="FFFFFF"/>
                          </a:solidFill>
                          <a:latin typeface="Segoe UI"/>
                        </a:rPr>
                        <a:t>#</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Chỗ trong tài liệu</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Lệch cái gì</a:t>
                      </a:r>
                    </a:p>
                  </a:txBody>
                  <a:tcPr marL="91440" marR="91440" marT="27432" marB="27432" anchor="ctr">
                    <a:solidFill>
                      <a:srgbClr val="2B6CB0"/>
                    </a:solidFill>
                  </a:tcPr>
                </a:tc>
              </a:tr>
              <a:tr h="352044">
                <a:tc>
                  <a:txBody>
                    <a:bodyPr wrap="square"/>
                    <a:lstStyle/>
                    <a:p>
                      <a:pPr algn="ctr">
                        <a:lnSpc>
                          <a:spcPct val="108000"/>
                        </a:lnSpc>
                      </a:pPr>
                      <a:r>
                        <a:rPr sz="1200" i="0" b="0">
                          <a:solidFill>
                            <a:srgbClr val="1A202C"/>
                          </a:solidFill>
                          <a:latin typeface="Segoe UI"/>
                        </a:rPr>
                        <a:t>B1</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Mục 2.2 · rổ chưa mua M13</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Vòng lặp bỏ mất cohort 2012 → rổ cạn 26,9% phải thành </a:t>
                      </a:r>
                      <a:r>
                        <a:rPr sz="1200" i="0" b="1">
                          <a:solidFill>
                            <a:srgbClr val="C53030"/>
                          </a:solidFill>
                          <a:latin typeface="Segoe UI"/>
                        </a:rPr>
                        <a:t>36,4%</a:t>
                      </a:r>
                    </a:p>
                  </a:txBody>
                  <a:tcPr marL="91440" marR="91440" marT="27432" marB="27432" anchor="ctr">
                    <a:solidFill>
                      <a:srgbClr val="FFFFFF"/>
                    </a:solidFill>
                  </a:tcPr>
                </a:tc>
              </a:tr>
              <a:tr h="352044">
                <a:tc>
                  <a:txBody>
                    <a:bodyPr wrap="square"/>
                    <a:lstStyle/>
                    <a:p>
                      <a:pPr algn="ctr">
                        <a:lnSpc>
                          <a:spcPct val="108000"/>
                        </a:lnSpc>
                      </a:pPr>
                      <a:r>
                        <a:rPr sz="1200" i="0" b="0">
                          <a:solidFill>
                            <a:srgbClr val="1A202C"/>
                          </a:solidFill>
                          <a:latin typeface="Segoe UI"/>
                        </a:rPr>
                        <a:t>B2</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Mục 12.2 · Kiểm 2</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Hằng đúng — Pool triệt tiêu; cặp số bịa 7/3 vẫn khớp</a:t>
                      </a:r>
                    </a:p>
                  </a:txBody>
                  <a:tcPr marL="91440" marR="91440" marT="27432" marB="27432" anchor="ctr">
                    <a:solidFill>
                      <a:srgbClr val="F1F5F9"/>
                    </a:solidFill>
                  </a:tcPr>
                </a:tc>
              </a:tr>
              <a:tr h="352044">
                <a:tc>
                  <a:txBody>
                    <a:bodyPr wrap="square"/>
                    <a:lstStyle/>
                    <a:p>
                      <a:pPr algn="ctr">
                        <a:lnSpc>
                          <a:spcPct val="108000"/>
                        </a:lnSpc>
                      </a:pPr>
                      <a:r>
                        <a:rPr sz="1200" i="0" b="0">
                          <a:solidFill>
                            <a:srgbClr val="1A202C"/>
                          </a:solidFill>
                          <a:latin typeface="Segoe UI"/>
                        </a:rPr>
                        <a:t>B7</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Mục 9.3 · </a:t>
                      </a:r>
                      <a:r>
                        <a:rPr sz="1104" i="0" b="0">
                          <a:solidFill>
                            <a:srgbClr val="1A365D"/>
                          </a:solidFill>
                          <a:latin typeface="Consolas"/>
                        </a:rPr>
                        <a:t>cohort_year</a:t>
                      </a:r>
                      <a:r>
                        <a:rPr sz="1200" i="0" b="0">
                          <a:solidFill>
                            <a:srgbClr val="1A202C"/>
                          </a:solidFill>
                          <a:latin typeface="Segoe UI"/>
                        </a:rPr>
                        <a:t> tuyến tính</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BÁC BỎ — LR = 91,47 · p = 8,2e-16; hỏng từ 2020, lệch tới 2,40 lần</a:t>
                      </a:r>
                    </a:p>
                  </a:txBody>
                  <a:tcPr marL="91440" marR="91440" marT="27432" marB="27432" anchor="ctr">
                    <a:solidFill>
                      <a:srgbClr val="FFFFFF"/>
                    </a:solidFill>
                  </a:tcPr>
                </a:tc>
              </a:tr>
              <a:tr h="352044">
                <a:tc>
                  <a:txBody>
                    <a:bodyPr wrap="square"/>
                    <a:lstStyle/>
                    <a:p>
                      <a:pPr algn="ctr">
                        <a:lnSpc>
                          <a:spcPct val="108000"/>
                        </a:lnSpc>
                      </a:pPr>
                      <a:r>
                        <a:rPr sz="1200" i="0" b="0">
                          <a:solidFill>
                            <a:srgbClr val="1A202C"/>
                          </a:solidFill>
                          <a:latin typeface="Segoe UI"/>
                        </a:rPr>
                        <a:t>B8</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Mục 8 · ngưỡng K1, K7</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K7 = </a:t>
                      </a:r>
                      <a:r>
                        <a:rPr sz="1200" i="0" b="1">
                          <a:solidFill>
                            <a:srgbClr val="C53030"/>
                          </a:solidFill>
                          <a:latin typeface="Segoe UI"/>
                        </a:rPr>
                        <a:t>30,57%</a:t>
                      </a:r>
                      <a:r>
                        <a:rPr sz="1200" i="0" b="0">
                          <a:solidFill>
                            <a:srgbClr val="1A202C"/>
                          </a:solidFill>
                          <a:latin typeface="Segoe UI"/>
                        </a:rPr>
                        <a:t> vi phạm ngưỡng ≤ 30% ngay ngày ban hành</a:t>
                      </a:r>
                    </a:p>
                  </a:txBody>
                  <a:tcPr marL="91440" marR="91440" marT="27432" marB="27432" anchor="ctr">
                    <a:solidFill>
                      <a:srgbClr val="F1F5F9"/>
                    </a:solidFill>
                  </a:tcPr>
                </a:tc>
              </a:tr>
              <a:tr h="352044">
                <a:tc>
                  <a:txBody>
                    <a:bodyPr wrap="square"/>
                    <a:lstStyle/>
                    <a:p>
                      <a:pPr algn="ctr">
                        <a:lnSpc>
                          <a:spcPct val="108000"/>
                        </a:lnSpc>
                      </a:pPr>
                      <a:r>
                        <a:rPr sz="1200" i="0" b="0">
                          <a:solidFill>
                            <a:srgbClr val="1A202C"/>
                          </a:solidFill>
                          <a:latin typeface="Segoe UI"/>
                        </a:rPr>
                        <a:t>B9</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Mục 5 ↔ 11 · giả thuyết H4</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H4 BỊ BÁC BỎ — mô phỏng </a:t>
                      </a:r>
                      <a:r>
                        <a:rPr sz="1200" i="0" b="1">
                          <a:solidFill>
                            <a:srgbClr val="C53030"/>
                          </a:solidFill>
                          <a:latin typeface="Segoe UI"/>
                        </a:rPr>
                        <a:t>+0,68%</a:t>
                      </a:r>
                      <a:r>
                        <a:rPr sz="1200" i="0" b="0">
                          <a:solidFill>
                            <a:srgbClr val="1A202C"/>
                          </a:solidFill>
                          <a:latin typeface="Segoe UI"/>
                        </a:rPr>
                        <a:t> trong khi thực tế </a:t>
                      </a:r>
                      <a:r>
                        <a:rPr sz="1200" i="0" b="1">
                          <a:solidFill>
                            <a:srgbClr val="C53030"/>
                          </a:solidFill>
                          <a:latin typeface="Segoe UI"/>
                        </a:rPr>
                        <a:t>−38,60%</a:t>
                      </a:r>
                    </a:p>
                  </a:txBody>
                  <a:tcPr marL="91440" marR="91440" marT="27432" marB="27432" anchor="ctr">
                    <a:solidFill>
                      <a:srgbClr val="FFFFFF"/>
                    </a:solidFill>
                  </a:tcPr>
                </a:tc>
              </a:tr>
              <a:tr h="352044">
                <a:tc>
                  <a:txBody>
                    <a:bodyPr wrap="square"/>
                    <a:lstStyle/>
                    <a:p>
                      <a:pPr algn="ctr">
                        <a:lnSpc>
                          <a:spcPct val="108000"/>
                        </a:lnSpc>
                      </a:pPr>
                      <a:r>
                        <a:rPr sz="1200" i="0" b="0">
                          <a:solidFill>
                            <a:srgbClr val="1A202C"/>
                          </a:solidFill>
                          <a:latin typeface="Segoe UI"/>
                        </a:rPr>
                        <a:t>B10</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Mục 12.2 · cả 5 phép kiểm</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3/5 hằng đúng; phép kiểm gọi là "mạnh nhất" thực ra yếu nhất</a:t>
                      </a:r>
                    </a:p>
                  </a:txBody>
                  <a:tcPr marL="91440" marR="91440" marT="27432" marB="27432" anchor="ctr">
                    <a:solidFill>
                      <a:srgbClr val="F1F5F9"/>
                    </a:solidFill>
                  </a:tcPr>
                </a:tc>
              </a:tr>
              <a:tr h="352044">
                <a:tc>
                  <a:txBody>
                    <a:bodyPr wrap="square"/>
                    <a:lstStyle/>
                    <a:p>
                      <a:pPr algn="ctr">
                        <a:lnSpc>
                          <a:spcPct val="108000"/>
                        </a:lnSpc>
                      </a:pPr>
                      <a:r>
                        <a:rPr sz="1200" i="0" b="0">
                          <a:solidFill>
                            <a:srgbClr val="1A202C"/>
                          </a:solidFill>
                          <a:latin typeface="Segoe UI"/>
                        </a:rPr>
                        <a:t>B15</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Mục 3 · "chưa từng mua"</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Me1 dùng </a:t>
                      </a:r>
                      <a:r>
                        <a:rPr sz="1104" i="0" b="0">
                          <a:solidFill>
                            <a:srgbClr val="1A365D"/>
                          </a:solidFill>
                          <a:latin typeface="Consolas"/>
                        </a:rPr>
                        <a:t>live</a:t>
                      </a:r>
                      <a:r>
                        <a:rPr sz="1200" i="0" b="0">
                          <a:solidFill>
                            <a:srgbClr val="1A202C"/>
                          </a:solidFill>
                          <a:latin typeface="Segoe UI"/>
                        </a:rPr>
                        <a:t>, Me8a dùng </a:t>
                      </a:r>
                      <a:r>
                        <a:rPr sz="1104" i="0" b="0">
                          <a:solidFill>
                            <a:srgbClr val="1A365D"/>
                          </a:solidFill>
                          <a:latin typeface="Consolas"/>
                        </a:rPr>
                        <a:t>ALL</a:t>
                      </a:r>
                      <a:r>
                        <a:rPr sz="1200" i="0" b="0">
                          <a:solidFill>
                            <a:srgbClr val="1A202C"/>
                          </a:solidFill>
                          <a:latin typeface="Segoe UI"/>
                        </a:rPr>
                        <a:t> → cộng lại 98,26%. Đúng là </a:t>
                      </a:r>
                      <a:r>
                        <a:rPr sz="1200" i="0" b="1">
                          <a:solidFill>
                            <a:srgbClr val="C53030"/>
                          </a:solidFill>
                          <a:latin typeface="Segoe UI"/>
                        </a:rPr>
                        <a:t>27,73%</a:t>
                      </a:r>
                    </a:p>
                  </a:txBody>
                  <a:tcPr marL="91440" marR="91440" marT="27432" marB="27432" anchor="ctr">
                    <a:solidFill>
                      <a:srgbClr val="FFFFFF"/>
                    </a:solidFill>
                  </a:tcPr>
                </a:tc>
              </a:tr>
              <a:tr h="352044">
                <a:tc>
                  <a:txBody>
                    <a:bodyPr wrap="square"/>
                    <a:lstStyle/>
                    <a:p>
                      <a:pPr algn="ctr">
                        <a:lnSpc>
                          <a:spcPct val="108000"/>
                        </a:lnSpc>
                      </a:pPr>
                      <a:r>
                        <a:rPr sz="1200" i="0" b="0">
                          <a:solidFill>
                            <a:srgbClr val="1A202C"/>
                          </a:solidFill>
                          <a:latin typeface="Segoe UI"/>
                        </a:rPr>
                        <a:t>B20</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Mục 3, 5.1 · </a:t>
                      </a:r>
                      <a:r>
                        <a:rPr sz="1104" i="0" b="0">
                          <a:solidFill>
                            <a:srgbClr val="1A365D"/>
                          </a:solidFill>
                          <a:latin typeface="Consolas"/>
                        </a:rPr>
                        <a:t>signup_date</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KHÔNG sửa được — Spearman 0,0023 (p = 0,49), SD 3,5 năm</a:t>
                      </a:r>
                    </a:p>
                  </a:txBody>
                  <a:tcPr marL="91440" marR="91440" marT="27432" marB="27432" anchor="ctr">
                    <a:solidFill>
                      <a:srgbClr val="F1F5F9"/>
                    </a:solidFill>
                  </a:tcPr>
                </a:tc>
              </a:tr>
            </a:tbl>
          </a:graphicData>
        </a:graphic>
      </p:graphicFrame>
      <p:sp>
        <p:nvSpPr>
          <p:cNvPr id="9" name="TextBox 8"/>
          <p:cNvSpPr txBox="1"/>
          <p:nvPr/>
        </p:nvSpPr>
        <p:spPr>
          <a:xfrm>
            <a:off x="685800" y="5522976"/>
            <a:ext cx="10817352" cy="384048"/>
          </a:xfrm>
          <a:prstGeom prst="rect">
            <a:avLst/>
          </a:prstGeom>
          <a:noFill/>
        </p:spPr>
        <p:txBody>
          <a:bodyPr wrap="square" lIns="0" rIns="0" tIns="0" bIns="0" anchor="t">
            <a:spAutoFit/>
          </a:bodyPr>
          <a:lstStyle/>
          <a:p>
            <a:pPr algn="l">
              <a:lnSpc>
                <a:spcPct val="122000"/>
              </a:lnSpc>
              <a:spcAft>
                <a:spcPts val="0"/>
              </a:spcAft>
            </a:pPr>
            <a:r>
              <a:rPr sz="1350" i="0" b="0">
                <a:solidFill>
                  <a:srgbClr val="1A202C"/>
                </a:solidFill>
                <a:latin typeface="Segoe UI"/>
              </a:rPr>
              <a:t>Cả tám đều đã có </a:t>
            </a:r>
            <a:r>
              <a:rPr sz="1350" i="0" b="1">
                <a:solidFill>
                  <a:srgbClr val="1A365D"/>
                </a:solidFill>
                <a:latin typeface="Segoe UI"/>
              </a:rPr>
              <a:t>đề xuất câu chữ cụ thể</a:t>
            </a:r>
            <a:r>
              <a:rPr sz="1350" i="0" b="0">
                <a:solidFill>
                  <a:srgbClr val="1A202C"/>
                </a:solidFill>
                <a:latin typeface="Segoe UI"/>
              </a:rPr>
              <a:t> để sửa, ghi trong </a:t>
            </a:r>
            <a:r>
              <a:rPr sz="1242" i="0" b="0">
                <a:solidFill>
                  <a:srgbClr val="1A365D"/>
                </a:solidFill>
                <a:latin typeface="Consolas"/>
              </a:rPr>
              <a:t>docs/phan-bien/cau-hoi-phan-bien-can-kiem.md</a:t>
            </a:r>
            <a:r>
              <a:rPr sz="1350" i="0" b="0">
                <a:solidFill>
                  <a:srgbClr val="1A202C"/>
                </a:solidFill>
                <a:latin typeface="Segoe UI"/>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IV · PHÁT HIỆN NẶNG NHẤT · B21</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Bốn trường có dấu hiệu gán ngẫu nhiên</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Kiểm mỗi trường bằng một tương quan lẽ ra PHẢI tồn tại trong dữ liệu thật</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23</a:t>
            </a:r>
          </a:p>
        </p:txBody>
      </p:sp>
      <p:graphicFrame>
        <p:nvGraphicFramePr>
          <p:cNvPr id="8" name="Table 7"/>
          <p:cNvGraphicFramePr>
            <a:graphicFrameLocks noGrp="1"/>
          </p:cNvGraphicFramePr>
          <p:nvPr/>
        </p:nvGraphicFramePr>
        <p:xfrm>
          <a:off x="685800" y="2176272"/>
          <a:ext cx="10817351" cy="2066544"/>
        </p:xfrm>
        <a:graphic>
          <a:graphicData uri="http://schemas.openxmlformats.org/drawingml/2006/table">
            <a:tbl>
              <a:tblPr>
                <a:tableStyleId>{2D5ABB26-0587-4C30-8999-92F81FD0307C}</a:tableStyleId>
              </a:tblPr>
              <a:tblGrid>
                <a:gridCol w="2651760"/>
                <a:gridCol w="2926080"/>
                <a:gridCol w="3520440"/>
                <a:gridCol w="1719071"/>
              </a:tblGrid>
              <a:tr h="329184">
                <a:tc>
                  <a:txBody>
                    <a:bodyPr wrap="square"/>
                    <a:lstStyle/>
                    <a:p>
                      <a:pPr algn="l">
                        <a:lnSpc>
                          <a:spcPct val="108000"/>
                        </a:lnSpc>
                      </a:pPr>
                      <a:r>
                        <a:rPr sz="1150" i="0" b="1">
                          <a:solidFill>
                            <a:srgbClr val="FFFFFF"/>
                          </a:solidFill>
                          <a:latin typeface="Segoe UI"/>
                        </a:rPr>
                        <a:t>Trường</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Phép kiểm</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Kết quả</a:t>
                      </a:r>
                    </a:p>
                  </a:txBody>
                  <a:tcPr marL="91440" marR="91440" marT="27432" marB="27432" anchor="ctr">
                    <a:solidFill>
                      <a:srgbClr val="2B6CB0"/>
                    </a:solidFill>
                  </a:tcPr>
                </a:tc>
                <a:tc>
                  <a:txBody>
                    <a:bodyPr wrap="square"/>
                    <a:lstStyle/>
                    <a:p>
                      <a:pPr algn="ctr">
                        <a:lnSpc>
                          <a:spcPct val="108000"/>
                        </a:lnSpc>
                      </a:pPr>
                      <a:r>
                        <a:rPr sz="1150" i="0" b="1">
                          <a:solidFill>
                            <a:srgbClr val="FFFFFF"/>
                          </a:solidFill>
                          <a:latin typeface="Segoe UI"/>
                        </a:rPr>
                        <a:t>Nghi ngẫu nhiên</a:t>
                      </a:r>
                    </a:p>
                  </a:txBody>
                  <a:tcPr marL="91440" marR="91440" marT="27432" marB="27432" anchor="ctr">
                    <a:solidFill>
                      <a:srgbClr val="2B6CB0"/>
                    </a:solidFill>
                  </a:tcPr>
                </a:tc>
              </a:tr>
              <a:tr h="347472">
                <a:tc>
                  <a:txBody>
                    <a:bodyPr wrap="square"/>
                    <a:lstStyle/>
                    <a:p>
                      <a:pPr algn="l">
                        <a:lnSpc>
                          <a:spcPct val="108000"/>
                        </a:lnSpc>
                      </a:pPr>
                      <a:r>
                        <a:rPr sz="1104" i="0" b="0">
                          <a:solidFill>
                            <a:srgbClr val="1A365D"/>
                          </a:solidFill>
                          <a:latin typeface="Consolas"/>
                        </a:rPr>
                        <a:t>reviews</a:t>
                      </a:r>
                      <a:r>
                        <a:rPr sz="1200" i="0" b="0">
                          <a:solidFill>
                            <a:srgbClr val="1A202C"/>
                          </a:solidFill>
                          <a:latin typeface="Segoe UI"/>
                        </a:rPr>
                        <a:t> ⟷ </a:t>
                      </a:r>
                      <a:r>
                        <a:rPr sz="1104" i="0" b="0">
                          <a:solidFill>
                            <a:srgbClr val="1A365D"/>
                          </a:solidFill>
                          <a:latin typeface="Consolas"/>
                        </a:rPr>
                        <a:t>returns</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Số đơn có CẢ HAI</a:t>
                      </a:r>
                    </a:p>
                  </a:txBody>
                  <a:tcPr marL="91440" marR="91440" marT="27432" marB="27432" anchor="ctr">
                    <a:solidFill>
                      <a:srgbClr val="FFFFFF"/>
                    </a:solidFill>
                  </a:tcPr>
                </a:tc>
                <a:tc>
                  <a:txBody>
                    <a:bodyPr wrap="square"/>
                    <a:lstStyle/>
                    <a:p>
                      <a:pPr algn="l">
                        <a:lnSpc>
                          <a:spcPct val="108000"/>
                        </a:lnSpc>
                      </a:pPr>
                      <a:r>
                        <a:rPr sz="1200" i="0" b="1">
                          <a:solidFill>
                            <a:srgbClr val="C53030"/>
                          </a:solidFill>
                          <a:latin typeface="Segoe UI"/>
                        </a:rPr>
                        <a:t>0</a:t>
                      </a:r>
                      <a:r>
                        <a:rPr sz="1200" i="0" b="0">
                          <a:solidFill>
                            <a:srgbClr val="1A202C"/>
                          </a:solidFill>
                          <a:latin typeface="Segoe UI"/>
                        </a:rPr>
                        <a:t> trên kỳ vọng </a:t>
                      </a:r>
                      <a:r>
                        <a:rPr sz="1200" i="0" b="1">
                          <a:solidFill>
                            <a:srgbClr val="C53030"/>
                          </a:solidFill>
                          <a:latin typeface="Segoe UI"/>
                        </a:rPr>
                        <a:t>6.208</a:t>
                      </a:r>
                    </a:p>
                  </a:txBody>
                  <a:tcPr marL="91440" marR="91440" marT="27432" marB="27432" anchor="ctr">
                    <a:solidFill>
                      <a:srgbClr val="FFFFFF"/>
                    </a:solidFill>
                  </a:tcPr>
                </a:tc>
                <a:tc>
                  <a:txBody>
                    <a:bodyPr wrap="square"/>
                    <a:lstStyle/>
                    <a:p>
                      <a:pPr algn="ctr">
                        <a:lnSpc>
                          <a:spcPct val="108000"/>
                        </a:lnSpc>
                      </a:pPr>
                      <a:r>
                        <a:rPr sz="1200" i="0" b="0">
                          <a:solidFill>
                            <a:srgbClr val="C53030"/>
                          </a:solidFill>
                          <a:latin typeface="Segoe UI"/>
                        </a:rPr>
                        <a:t>Rất mạnh</a:t>
                      </a:r>
                    </a:p>
                  </a:txBody>
                  <a:tcPr marL="91440" marR="91440" marT="27432" marB="27432" anchor="ctr">
                    <a:solidFill>
                      <a:srgbClr val="FFFFFF"/>
                    </a:solidFill>
                  </a:tcPr>
                </a:tc>
              </a:tr>
              <a:tr h="347472">
                <a:tc>
                  <a:txBody>
                    <a:bodyPr wrap="square"/>
                    <a:lstStyle/>
                    <a:p>
                      <a:pPr algn="l">
                        <a:lnSpc>
                          <a:spcPct val="108000"/>
                        </a:lnSpc>
                      </a:pPr>
                      <a:r>
                        <a:rPr sz="1104" i="0" b="0">
                          <a:solidFill>
                            <a:srgbClr val="1A365D"/>
                          </a:solidFill>
                          <a:latin typeface="Consolas"/>
                        </a:rPr>
                        <a:t>delivery_days</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ANOVA theo vùng</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4,499 / 4,499 / 4,500 · p = 0,985</a:t>
                      </a:r>
                    </a:p>
                  </a:txBody>
                  <a:tcPr marL="91440" marR="91440" marT="27432" marB="27432" anchor="ctr">
                    <a:solidFill>
                      <a:srgbClr val="F1F5F9"/>
                    </a:solidFill>
                  </a:tcPr>
                </a:tc>
                <a:tc>
                  <a:txBody>
                    <a:bodyPr wrap="square"/>
                    <a:lstStyle/>
                    <a:p>
                      <a:pPr algn="ctr">
                        <a:lnSpc>
                          <a:spcPct val="108000"/>
                        </a:lnSpc>
                      </a:pPr>
                      <a:r>
                        <a:rPr sz="1200" i="0" b="0">
                          <a:solidFill>
                            <a:srgbClr val="C53030"/>
                          </a:solidFill>
                          <a:latin typeface="Segoe UI"/>
                        </a:rPr>
                        <a:t>Mạnh</a:t>
                      </a:r>
                    </a:p>
                  </a:txBody>
                  <a:tcPr marL="91440" marR="91440" marT="27432" marB="27432" anchor="ctr">
                    <a:solidFill>
                      <a:srgbClr val="F1F5F9"/>
                    </a:solidFill>
                  </a:tcPr>
                </a:tc>
              </a:tr>
              <a:tr h="347472">
                <a:tc>
                  <a:txBody>
                    <a:bodyPr wrap="square"/>
                    <a:lstStyle/>
                    <a:p>
                      <a:pPr algn="l">
                        <a:lnSpc>
                          <a:spcPct val="108000"/>
                        </a:lnSpc>
                      </a:pPr>
                      <a:r>
                        <a:rPr sz="1104" i="0" b="0">
                          <a:solidFill>
                            <a:srgbClr val="1A365D"/>
                          </a:solidFill>
                          <a:latin typeface="Consolas"/>
                        </a:rPr>
                        <a:t>signup_date</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Spearman với ngày mua đầu</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ρ = 0,0023 · p = 0,487</a:t>
                      </a:r>
                    </a:p>
                  </a:txBody>
                  <a:tcPr marL="91440" marR="91440" marT="27432" marB="27432" anchor="ctr">
                    <a:solidFill>
                      <a:srgbClr val="FFFFFF"/>
                    </a:solidFill>
                  </a:tcPr>
                </a:tc>
                <a:tc>
                  <a:txBody>
                    <a:bodyPr wrap="square"/>
                    <a:lstStyle/>
                    <a:p>
                      <a:pPr algn="ctr">
                        <a:lnSpc>
                          <a:spcPct val="108000"/>
                        </a:lnSpc>
                      </a:pPr>
                      <a:r>
                        <a:rPr sz="1200" i="0" b="0">
                          <a:solidFill>
                            <a:srgbClr val="C53030"/>
                          </a:solidFill>
                          <a:latin typeface="Segoe UI"/>
                        </a:rPr>
                        <a:t>Mạnh</a:t>
                      </a:r>
                    </a:p>
                  </a:txBody>
                  <a:tcPr marL="91440" marR="91440" marT="27432" marB="27432" anchor="ctr">
                    <a:solidFill>
                      <a:srgbClr val="FFFFFF"/>
                    </a:solidFill>
                  </a:tcPr>
                </a:tc>
              </a:tr>
              <a:tr h="347472">
                <a:tc>
                  <a:txBody>
                    <a:bodyPr wrap="square"/>
                    <a:lstStyle/>
                    <a:p>
                      <a:pPr algn="l">
                        <a:lnSpc>
                          <a:spcPct val="108000"/>
                        </a:lnSpc>
                      </a:pPr>
                      <a:r>
                        <a:rPr sz="1104" i="0" b="0">
                          <a:solidFill>
                            <a:srgbClr val="1A365D"/>
                          </a:solidFill>
                          <a:latin typeface="Consolas"/>
                        </a:rPr>
                        <a:t>acquisition_channel</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ANOVA LTV theo kênh</a:t>
                      </a:r>
                    </a:p>
                  </a:txBody>
                  <a:tcPr marL="91440" marR="91440" marT="27432" marB="27432" anchor="ctr">
                    <a:solidFill>
                      <a:srgbClr val="F1F5F9"/>
                    </a:solidFill>
                  </a:tcPr>
                </a:tc>
                <a:tc>
                  <a:txBody>
                    <a:bodyPr wrap="square"/>
                    <a:lstStyle/>
                    <a:p>
                      <a:pPr algn="l">
                        <a:lnSpc>
                          <a:spcPct val="108000"/>
                        </a:lnSpc>
                      </a:pPr>
                      <a:r>
                        <a:rPr sz="1200" i="0" b="0">
                          <a:solidFill>
                            <a:srgbClr val="1A202C"/>
                          </a:solidFill>
                          <a:latin typeface="Segoe UI"/>
                        </a:rPr>
                        <a:t>F = 0,823 · p = 0,533</a:t>
                      </a:r>
                    </a:p>
                  </a:txBody>
                  <a:tcPr marL="91440" marR="91440" marT="27432" marB="27432" anchor="ctr">
                    <a:solidFill>
                      <a:srgbClr val="F1F5F9"/>
                    </a:solidFill>
                  </a:tcPr>
                </a:tc>
                <a:tc>
                  <a:txBody>
                    <a:bodyPr wrap="square"/>
                    <a:lstStyle/>
                    <a:p>
                      <a:pPr algn="ctr">
                        <a:lnSpc>
                          <a:spcPct val="108000"/>
                        </a:lnSpc>
                      </a:pPr>
                      <a:r>
                        <a:rPr sz="1200" i="0" b="0">
                          <a:solidFill>
                            <a:srgbClr val="C53030"/>
                          </a:solidFill>
                          <a:latin typeface="Segoe UI"/>
                        </a:rPr>
                        <a:t>Mạnh</a:t>
                      </a:r>
                    </a:p>
                  </a:txBody>
                  <a:tcPr marL="91440" marR="91440" marT="27432" marB="27432" anchor="ctr">
                    <a:solidFill>
                      <a:srgbClr val="F1F5F9"/>
                    </a:solidFill>
                  </a:tcPr>
                </a:tc>
              </a:tr>
              <a:tr h="347472">
                <a:tc>
                  <a:txBody>
                    <a:bodyPr wrap="square"/>
                    <a:lstStyle/>
                    <a:p>
                      <a:pPr algn="l">
                        <a:lnSpc>
                          <a:spcPct val="108000"/>
                        </a:lnSpc>
                      </a:pPr>
                      <a:r>
                        <a:rPr sz="1104" i="0" b="0">
                          <a:solidFill>
                            <a:srgbClr val="1A365D"/>
                          </a:solidFill>
                          <a:latin typeface="Consolas"/>
                        </a:rPr>
                        <a:t>rating</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Spearman với số đơn trọn đời</a:t>
                      </a:r>
                    </a:p>
                  </a:txBody>
                  <a:tcPr marL="91440" marR="91440" marT="27432" marB="27432" anchor="ctr">
                    <a:solidFill>
                      <a:srgbClr val="FFFFFF"/>
                    </a:solidFill>
                  </a:tcPr>
                </a:tc>
                <a:tc>
                  <a:txBody>
                    <a:bodyPr wrap="square"/>
                    <a:lstStyle/>
                    <a:p>
                      <a:pPr algn="l">
                        <a:lnSpc>
                          <a:spcPct val="108000"/>
                        </a:lnSpc>
                      </a:pPr>
                      <a:r>
                        <a:rPr sz="1200" i="0" b="0">
                          <a:solidFill>
                            <a:srgbClr val="1A202C"/>
                          </a:solidFill>
                          <a:latin typeface="Segoe UI"/>
                        </a:rPr>
                        <a:t>ρ = −0,0734 · p &lt; 0,001</a:t>
                      </a:r>
                    </a:p>
                  </a:txBody>
                  <a:tcPr marL="91440" marR="91440" marT="27432" marB="27432" anchor="ctr">
                    <a:solidFill>
                      <a:srgbClr val="FFFFFF"/>
                    </a:solidFill>
                  </a:tcPr>
                </a:tc>
                <a:tc>
                  <a:txBody>
                    <a:bodyPr wrap="square"/>
                    <a:lstStyle/>
                    <a:p>
                      <a:pPr algn="ctr">
                        <a:lnSpc>
                          <a:spcPct val="108000"/>
                        </a:lnSpc>
                      </a:pPr>
                      <a:r>
                        <a:rPr sz="1200" i="0" b="0">
                          <a:solidFill>
                            <a:srgbClr val="5A6570"/>
                          </a:solidFill>
                          <a:latin typeface="Segoe UI"/>
                        </a:rPr>
                        <a:t>Yếu — có liên hệ</a:t>
                      </a:r>
                    </a:p>
                  </a:txBody>
                  <a:tcPr marL="91440" marR="91440" marT="27432" marB="27432" anchor="ctr">
                    <a:solidFill>
                      <a:srgbClr val="FFFFFF"/>
                    </a:solidFill>
                  </a:tcPr>
                </a:tc>
              </a:tr>
            </a:tbl>
          </a:graphicData>
        </a:graphic>
      </p:graphicFrame>
      <p:sp>
        <p:nvSpPr>
          <p:cNvPr id="9" name="Rounded Rectangle 8"/>
          <p:cNvSpPr/>
          <p:nvPr/>
        </p:nvSpPr>
        <p:spPr>
          <a:xfrm>
            <a:off x="685800" y="4389120"/>
            <a:ext cx="10817352" cy="1517904"/>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4389120"/>
            <a:ext cx="64008" cy="1517904"/>
          </a:xfrm>
          <a:prstGeom prst="rect">
            <a:avLst/>
          </a:prstGeom>
          <a:solidFill>
            <a:srgbClr val="C5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572000"/>
            <a:ext cx="10268712" cy="1152143"/>
          </a:xfrm>
          <a:prstGeom prst="rect">
            <a:avLst/>
          </a:prstGeom>
          <a:noFill/>
        </p:spPr>
        <p:txBody>
          <a:bodyPr wrap="square" lIns="0" rIns="0" tIns="0" bIns="0" anchor="ctr">
            <a:spAutoFit/>
          </a:bodyPr>
          <a:lstStyle/>
          <a:p>
            <a:pPr algn="l">
              <a:lnSpc>
                <a:spcPct val="125000"/>
              </a:lnSpc>
              <a:spcAft>
                <a:spcPts val="500"/>
              </a:spcAft>
            </a:pPr>
            <a:r>
              <a:rPr sz="1350" i="0" b="0">
                <a:solidFill>
                  <a:srgbClr val="1A202C"/>
                </a:solidFill>
                <a:latin typeface="Segoe UI"/>
              </a:rPr>
              <a:t>111.369 đơn có review.  36.062 đơn có trả hàng.  Số đơn có </a:t>
            </a:r>
            <a:r>
              <a:rPr sz="1350" i="0" b="1">
                <a:solidFill>
                  <a:srgbClr val="C53030"/>
                </a:solidFill>
                <a:latin typeface="Segoe UI"/>
              </a:rPr>
              <a:t>cả hai: 0</a:t>
            </a:r>
            <a:r>
              <a:rPr sz="1350" i="0" b="0">
                <a:solidFill>
                  <a:srgbClr val="1A202C"/>
                </a:solidFill>
                <a:latin typeface="Segoe UI"/>
              </a:rPr>
              <a:t>.</a:t>
            </a:r>
          </a:p>
          <a:p>
            <a:pPr algn="l">
              <a:lnSpc>
                <a:spcPct val="125000"/>
              </a:lnSpc>
              <a:spcAft>
                <a:spcPts val="500"/>
              </a:spcAft>
            </a:pPr>
            <a:r>
              <a:rPr sz="1350" i="0" b="0">
                <a:solidFill>
                  <a:srgbClr val="1A202C"/>
                </a:solidFill>
                <a:latin typeface="Segoe UI"/>
              </a:rPr>
              <a:t>Nếu hai việc độc lập nhau thì kỳ vọng là </a:t>
            </a:r>
            <a:r>
              <a:rPr sz="1350" i="0" b="1">
                <a:solidFill>
                  <a:srgbClr val="C53030"/>
                </a:solidFill>
                <a:latin typeface="Segoe UI"/>
              </a:rPr>
              <a:t>6.208 đơn</a:t>
            </a:r>
            <a:r>
              <a:rPr sz="1350" i="0" b="0">
                <a:solidFill>
                  <a:srgbClr val="1A202C"/>
                </a:solidFill>
                <a:latin typeface="Segoe UI"/>
              </a:rPr>
              <a:t>. Quan sát 0 — xác suất ngẫu nhiên </a:t>
            </a:r>
            <a:r>
              <a:rPr sz="1350" i="0" b="1">
                <a:solidFill>
                  <a:srgbClr val="C53030"/>
                </a:solidFill>
                <a:latin typeface="Segoe UI"/>
              </a:rPr>
              <a:t>thực tế bằng không</a:t>
            </a:r>
            <a:r>
              <a:rPr sz="1350" i="0" b="0">
                <a:solidFill>
                  <a:srgbClr val="1A202C"/>
                </a:solidFill>
                <a:latin typeface="Segoe UI"/>
              </a:rPr>
              <a:t>. Bộ sinh gán review và trả hàng vào </a:t>
            </a:r>
            <a:r>
              <a:rPr sz="1350" i="0" b="1">
                <a:solidFill>
                  <a:srgbClr val="C53030"/>
                </a:solidFill>
                <a:latin typeface="Segoe UI"/>
              </a:rPr>
              <a:t>hai tập rời nhau</a:t>
            </a:r>
            <a:r>
              <a:rPr sz="1350" i="0" b="0">
                <a:solidFill>
                  <a:srgbClr val="1A202C"/>
                </a:solidFill>
                <a:latin typeface="Segoe UI"/>
              </a:rPr>
              <a:t>.</a:t>
            </a:r>
          </a:p>
          <a:p>
            <a:pPr algn="l">
              <a:lnSpc>
                <a:spcPct val="125000"/>
              </a:lnSpc>
              <a:spcAft>
                <a:spcPts val="500"/>
              </a:spcAft>
            </a:pPr>
            <a:r>
              <a:rPr sz="1350" i="0" b="1">
                <a:solidFill>
                  <a:srgbClr val="C53030"/>
                </a:solidFill>
                <a:latin typeface="Segoe UI"/>
              </a:rPr>
              <a:t>Hệ quả:</a:t>
            </a:r>
            <a:r>
              <a:rPr sz="1350" i="0" b="0">
                <a:solidFill>
                  <a:srgbClr val="1A202C"/>
                </a:solidFill>
                <a:latin typeface="Segoe UI"/>
              </a:rPr>
              <a:t> không thể kiểm "đơn bị trả có rating thấp hơn không" — một quan hệ hiển nhiên phải có trong dữ liệu thật. Đây không phải kết quả rỗng, đây là </a:t>
            </a:r>
            <a:r>
              <a:rPr sz="1350" i="0" b="1">
                <a:solidFill>
                  <a:srgbClr val="C53030"/>
                </a:solidFill>
                <a:latin typeface="Segoe UI"/>
              </a:rPr>
              <a:t>dữ liệu không tồn tại</a:t>
            </a:r>
            <a:r>
              <a:rPr sz="1350" i="0" b="0">
                <a:solidFill>
                  <a:srgbClr val="1A202C"/>
                </a:solidFill>
                <a:latin typeface="Segoe UI"/>
              </a:rPr>
              <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IV · B11</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Hiệu ứng cohort, hay hiệu ứng thời kỳ?</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HR = 0,7478 là kết luận trọng tâm của BTN4 — câu hỏi này đánh thẳng vào đó</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24</a:t>
            </a:r>
          </a:p>
        </p:txBody>
      </p:sp>
      <p:sp>
        <p:nvSpPr>
          <p:cNvPr id="8" name="TextBox 7"/>
          <p:cNvSpPr txBox="1"/>
          <p:nvPr/>
        </p:nvSpPr>
        <p:spPr>
          <a:xfrm>
            <a:off x="685800" y="2176272"/>
            <a:ext cx="10817352" cy="475488"/>
          </a:xfrm>
          <a:prstGeom prst="rect">
            <a:avLst/>
          </a:prstGeom>
          <a:noFill/>
        </p:spPr>
        <p:txBody>
          <a:bodyPr wrap="square" lIns="0" rIns="0" tIns="0" bIns="0" anchor="t">
            <a:spAutoFit/>
          </a:bodyPr>
          <a:lstStyle/>
          <a:p>
            <a:pPr algn="l">
              <a:lnSpc>
                <a:spcPct val="122000"/>
              </a:lnSpc>
              <a:spcAft>
                <a:spcPts val="400"/>
              </a:spcAft>
            </a:pPr>
            <a:r>
              <a:rPr sz="1450" i="0" b="1">
                <a:solidFill>
                  <a:srgbClr val="1A365D"/>
                </a:solidFill>
                <a:latin typeface="Segoe UI"/>
              </a:rPr>
              <a:t>Nếu là cohort:</a:t>
            </a:r>
            <a:r>
              <a:rPr sz="1450" i="0" b="0">
                <a:solidFill>
                  <a:srgbClr val="1A202C"/>
                </a:solidFill>
                <a:latin typeface="Segoe UI"/>
              </a:rPr>
              <a:t> người gia nhập muộn vốn đã kém hơn → phải sửa khâu </a:t>
            </a:r>
            <a:r>
              <a:rPr sz="1450" i="0" b="1">
                <a:solidFill>
                  <a:srgbClr val="1A365D"/>
                </a:solidFill>
                <a:latin typeface="Segoe UI"/>
              </a:rPr>
              <a:t>thu nạp</a:t>
            </a:r>
            <a:r>
              <a:rPr sz="1450" i="0" b="0">
                <a:solidFill>
                  <a:srgbClr val="1A202C"/>
                </a:solidFill>
                <a:latin typeface="Segoe UI"/>
              </a:rPr>
              <a:t>.
</a:t>
            </a:r>
            <a:r>
              <a:rPr sz="1450" i="0" b="1">
                <a:solidFill>
                  <a:srgbClr val="1A365D"/>
                </a:solidFill>
                <a:latin typeface="Segoe UI"/>
              </a:rPr>
              <a:t>Nếu là thời kỳ:</a:t>
            </a:r>
            <a:r>
              <a:rPr sz="1450" i="0" b="0">
                <a:solidFill>
                  <a:srgbClr val="1A202C"/>
                </a:solidFill>
                <a:latin typeface="Segoe UI"/>
              </a:rPr>
              <a:t> một cú sốc năm 2019 làm </a:t>
            </a:r>
            <a:r>
              <a:rPr sz="1450" i="0" b="1">
                <a:solidFill>
                  <a:srgbClr val="1A365D"/>
                </a:solidFill>
                <a:latin typeface="Segoe UI"/>
              </a:rPr>
              <a:t>mọi người</a:t>
            </a:r>
            <a:r>
              <a:rPr sz="1450" i="0" b="0">
                <a:solidFill>
                  <a:srgbClr val="1A202C"/>
                </a:solidFill>
                <a:latin typeface="Segoe UI"/>
              </a:rPr>
              <a:t> kém đi → phải tìm </a:t>
            </a:r>
            <a:r>
              <a:rPr sz="1450" i="0" b="1">
                <a:solidFill>
                  <a:srgbClr val="1A365D"/>
                </a:solidFill>
                <a:latin typeface="Segoe UI"/>
              </a:rPr>
              <a:t>cú sốc đó</a:t>
            </a:r>
            <a:r>
              <a:rPr sz="1450" i="0" b="0">
                <a:solidFill>
                  <a:srgbClr val="1A202C"/>
                </a:solidFill>
                <a:latin typeface="Segoe UI"/>
              </a:rPr>
              <a:t>.</a:t>
            </a:r>
          </a:p>
        </p:txBody>
      </p:sp>
      <p:sp>
        <p:nvSpPr>
          <p:cNvPr id="9" name="Rounded Rectangle 8"/>
          <p:cNvSpPr/>
          <p:nvPr/>
        </p:nvSpPr>
        <p:spPr>
          <a:xfrm>
            <a:off x="685800" y="2962656"/>
            <a:ext cx="5308092" cy="137160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3118103"/>
            <a:ext cx="4978907"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C53030"/>
                </a:solidFill>
                <a:latin typeface="Segoe UI"/>
              </a:rPr>
              <a:t>61,2% → 46,0%</a:t>
            </a:r>
          </a:p>
        </p:txBody>
      </p:sp>
      <p:sp>
        <p:nvSpPr>
          <p:cNvPr id="11" name="TextBox 10"/>
          <p:cNvSpPr txBox="1"/>
          <p:nvPr/>
        </p:nvSpPr>
        <p:spPr>
          <a:xfrm>
            <a:off x="850392" y="3858768"/>
            <a:ext cx="4978907"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Cohort 2013 — CÙNG MỘT NHÓM NGƯỜI
rơi đúng vào năm 2019</a:t>
            </a:r>
          </a:p>
        </p:txBody>
      </p:sp>
      <p:sp>
        <p:nvSpPr>
          <p:cNvPr id="12" name="Rounded Rectangle 11"/>
          <p:cNvSpPr/>
          <p:nvPr/>
        </p:nvSpPr>
        <p:spPr>
          <a:xfrm>
            <a:off x="6195059" y="2962656"/>
            <a:ext cx="5308092" cy="137160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9651" y="3118103"/>
            <a:ext cx="4978907"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C53030"/>
                </a:solidFill>
                <a:latin typeface="Segoe UI"/>
              </a:rPr>
              <a:t>0,74 → 1,16</a:t>
            </a:r>
          </a:p>
        </p:txBody>
      </p:sp>
      <p:sp>
        <p:nvSpPr>
          <p:cNvPr id="14" name="TextBox 13"/>
          <p:cNvSpPr txBox="1"/>
          <p:nvPr/>
        </p:nvSpPr>
        <p:spPr>
          <a:xfrm>
            <a:off x="6359651" y="3858768"/>
            <a:ext cx="4978907"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HR của </a:t>
            </a:r>
            <a:r>
              <a:rPr sz="1058" i="0" b="0">
                <a:solidFill>
                  <a:srgbClr val="5A6570"/>
                </a:solidFill>
                <a:latin typeface="Consolas"/>
              </a:rPr>
              <a:t>cohort_year</a:t>
            </a:r>
            <a:r>
              <a:rPr sz="1150" i="0" b="0">
                <a:solidFill>
                  <a:srgbClr val="5A6570"/>
                </a:solidFill>
                <a:latin typeface="Segoe UI"/>
              </a:rPr>
              <a:t> LẬT NGƯỢC
khi thêm biến thời kỳ vào mô hình</a:t>
            </a:r>
          </a:p>
        </p:txBody>
      </p:sp>
      <p:sp>
        <p:nvSpPr>
          <p:cNvPr id="15" name="Rounded Rectangle 14"/>
          <p:cNvSpPr/>
          <p:nvPr/>
        </p:nvSpPr>
        <p:spPr>
          <a:xfrm>
            <a:off x="685800" y="4462272"/>
            <a:ext cx="10817352" cy="1463040"/>
          </a:xfrm>
          <a:prstGeom prst="roundRect">
            <a:avLst>
              <a:gd name="adj" fmla="val 6000"/>
            </a:avLst>
          </a:prstGeom>
          <a:solidFill>
            <a:srgbClr val="FDF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4462272"/>
            <a:ext cx="64008" cy="1463040"/>
          </a:xfrm>
          <a:prstGeom prst="rect">
            <a:avLst/>
          </a:prstGeom>
          <a:solidFill>
            <a:srgbClr val="B7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4645152"/>
            <a:ext cx="10268712" cy="1097280"/>
          </a:xfrm>
          <a:prstGeom prst="rect">
            <a:avLst/>
          </a:prstGeom>
          <a:noFill/>
        </p:spPr>
        <p:txBody>
          <a:bodyPr wrap="square" lIns="0" rIns="0" tIns="0" bIns="0" anchor="ctr">
            <a:spAutoFit/>
          </a:bodyPr>
          <a:lstStyle/>
          <a:p>
            <a:pPr algn="l">
              <a:lnSpc>
                <a:spcPct val="125000"/>
              </a:lnSpc>
              <a:spcAft>
                <a:spcPts val="500"/>
              </a:spcAft>
            </a:pPr>
            <a:r>
              <a:rPr sz="1350" i="0" b="0">
                <a:solidFill>
                  <a:srgbClr val="1A202C"/>
                </a:solidFill>
                <a:latin typeface="Segoe UI"/>
              </a:rPr>
              <a:t>Kết luận: </a:t>
            </a:r>
            <a:r>
              <a:rPr sz="1350" i="0" b="1">
                <a:solidFill>
                  <a:srgbClr val="B75309"/>
                </a:solidFill>
                <a:latin typeface="Segoe UI"/>
              </a:rPr>
              <a:t>CẢ HAI</a:t>
            </a:r>
            <a:r>
              <a:rPr sz="1350" i="0" b="0">
                <a:solidFill>
                  <a:srgbClr val="1A202C"/>
                </a:solidFill>
                <a:latin typeface="Segoe UI"/>
              </a:rPr>
              <a:t>, và tài liệu chỉ nói một nửa.</a:t>
            </a:r>
          </a:p>
          <a:p>
            <a:pPr algn="l">
              <a:lnSpc>
                <a:spcPct val="125000"/>
              </a:lnSpc>
              <a:spcAft>
                <a:spcPts val="500"/>
              </a:spcAft>
            </a:pPr>
            <a:r>
              <a:rPr sz="1350" i="0" b="0">
                <a:solidFill>
                  <a:srgbClr val="1A202C"/>
                </a:solidFill>
                <a:latin typeface="Segoe UI"/>
              </a:rPr>
              <a:t>Cohort 2013 là nhóm cố định — không ai vào, không ai ra. Họ rơi 15 điểm </a:t>
            </a:r>
            <a:r>
              <a:rPr sz="1350" i="0" b="1">
                <a:solidFill>
                  <a:srgbClr val="B75309"/>
                </a:solidFill>
                <a:latin typeface="Segoe UI"/>
              </a:rPr>
              <a:t>đúng năm 2019</a:t>
            </a:r>
            <a:r>
              <a:rPr sz="1350" i="0" b="0">
                <a:solidFill>
                  <a:srgbClr val="1A202C"/>
                </a:solidFill>
                <a:latin typeface="Segoe UI"/>
              </a:rPr>
              <a:t>. Chuyện xảy ra với người đã ở sẵn trong hệ thống </a:t>
            </a:r>
            <a:r>
              <a:rPr sz="1350" i="0" b="1">
                <a:solidFill>
                  <a:srgbClr val="B75309"/>
                </a:solidFill>
                <a:latin typeface="Segoe UI"/>
              </a:rPr>
              <a:t>không thể</a:t>
            </a:r>
            <a:r>
              <a:rPr sz="1350" i="0" b="0">
                <a:solidFill>
                  <a:srgbClr val="1A202C"/>
                </a:solidFill>
                <a:latin typeface="Segoe UI"/>
              </a:rPr>
              <a:t> là hiệu ứng cohort.</a:t>
            </a:r>
          </a:p>
          <a:p>
            <a:pPr algn="l">
              <a:lnSpc>
                <a:spcPct val="125000"/>
              </a:lnSpc>
              <a:spcAft>
                <a:spcPts val="500"/>
              </a:spcAft>
            </a:pPr>
            <a:r>
              <a:rPr sz="1350" i="0" b="0">
                <a:solidFill>
                  <a:srgbClr val="1A202C"/>
                </a:solidFill>
                <a:latin typeface="Segoe UI"/>
              </a:rPr>
              <a:t>Đây là bài toán </a:t>
            </a:r>
            <a:r>
              <a:rPr sz="1350" i="0" b="1">
                <a:solidFill>
                  <a:srgbClr val="B75309"/>
                </a:solidFill>
                <a:latin typeface="Segoe UI"/>
              </a:rPr>
              <a:t>Age–Period–Cohort</a:t>
            </a:r>
            <a:r>
              <a:rPr sz="1350" i="0" b="0">
                <a:solidFill>
                  <a:srgbClr val="1A202C"/>
                </a:solidFill>
                <a:latin typeface="Segoe UI"/>
              </a:rPr>
              <a:t> kinh điển: ba trục cộng tuyến hoàn hảo, không tách được nếu không có ràng buộc thêm. </a:t>
            </a:r>
            <a:r>
              <a:rPr sz="1350" i="0" b="1">
                <a:solidFill>
                  <a:srgbClr val="B75309"/>
                </a:solidFill>
                <a:latin typeface="Segoe UI"/>
              </a:rPr>
              <a:t>Phải khai báo giới hạn này.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IV · B17</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Có tín hiệu — nhưng lớn bằng nào?</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Quy hazard ratio ra số người thật, thứ hội đồng và doanh nghiệp thực sự cần biết</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25</a:t>
            </a:r>
          </a:p>
        </p:txBody>
      </p:sp>
      <p:sp>
        <p:nvSpPr>
          <p:cNvPr id="8" name="Rounded Rectangle 7"/>
          <p:cNvSpPr/>
          <p:nvPr/>
        </p:nvSpPr>
        <p:spPr>
          <a:xfrm>
            <a:off x="685800" y="2176272"/>
            <a:ext cx="3471672" cy="137160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B75309"/>
                </a:solidFill>
                <a:latin typeface="Segoe UI"/>
              </a:rPr>
              <a:t>1,4</a:t>
            </a:r>
          </a:p>
        </p:txBody>
      </p:sp>
      <p:sp>
        <p:nvSpPr>
          <p:cNvPr id="10" name="TextBox 9"/>
          <p:cNvSpPr txBox="1"/>
          <p:nvPr/>
        </p:nvSpPr>
        <p:spPr>
          <a:xfrm>
            <a:off x="850392" y="3072384"/>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ĐIỂM PHẦN TRĂM
hiệu ứng thật của khuyến mãi</a:t>
            </a:r>
          </a:p>
        </p:txBody>
      </p:sp>
      <p:sp>
        <p:nvSpPr>
          <p:cNvPr id="11" name="Rounded Rectangle 10"/>
          <p:cNvSpPr/>
          <p:nvPr/>
        </p:nvSpPr>
        <p:spPr>
          <a:xfrm>
            <a:off x="4358640" y="2176272"/>
            <a:ext cx="3471672" cy="137160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323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B75309"/>
                </a:solidFill>
                <a:latin typeface="Segoe UI"/>
              </a:rPr>
              <a:t>367</a:t>
            </a:r>
          </a:p>
        </p:txBody>
      </p:sp>
      <p:sp>
        <p:nvSpPr>
          <p:cNvPr id="13" name="TextBox 12"/>
          <p:cNvSpPr txBox="1"/>
          <p:nvPr/>
        </p:nvSpPr>
        <p:spPr>
          <a:xfrm>
            <a:off x="4523232" y="3072384"/>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NGƯỜI
trên tổng 26.759 khách có khuyến mãi</a:t>
            </a:r>
          </a:p>
        </p:txBody>
      </p:sp>
      <p:sp>
        <p:nvSpPr>
          <p:cNvPr id="14" name="Rounded Rectangle 13"/>
          <p:cNvSpPr/>
          <p:nvPr/>
        </p:nvSpPr>
        <p:spPr>
          <a:xfrm>
            <a:off x="8031480" y="2176272"/>
            <a:ext cx="3471672" cy="137160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96072" y="2331720"/>
            <a:ext cx="3142488" cy="548640"/>
          </a:xfrm>
          <a:prstGeom prst="rect">
            <a:avLst/>
          </a:prstGeom>
          <a:noFill/>
        </p:spPr>
        <p:txBody>
          <a:bodyPr wrap="square" lIns="0" rIns="0" tIns="0" bIns="0" anchor="t">
            <a:spAutoFit/>
          </a:bodyPr>
          <a:lstStyle/>
          <a:p>
            <a:pPr algn="ctr">
              <a:lnSpc>
                <a:spcPct val="122000"/>
              </a:lnSpc>
              <a:spcAft>
                <a:spcPts val="0"/>
              </a:spcAft>
            </a:pPr>
            <a:r>
              <a:rPr sz="3400" i="0" b="1">
                <a:solidFill>
                  <a:srgbClr val="C53030"/>
                </a:solidFill>
                <a:latin typeface="Segoe UI"/>
              </a:rPr>
              <a:t>25,8×</a:t>
            </a:r>
          </a:p>
        </p:txBody>
      </p:sp>
      <p:sp>
        <p:nvSpPr>
          <p:cNvPr id="16" name="TextBox 15"/>
          <p:cNvSpPr txBox="1"/>
          <p:nvPr/>
        </p:nvSpPr>
        <p:spPr>
          <a:xfrm>
            <a:off x="8196072" y="3072384"/>
            <a:ext cx="3142488" cy="411480"/>
          </a:xfrm>
          <a:prstGeom prst="rect">
            <a:avLst/>
          </a:prstGeom>
          <a:noFill/>
        </p:spPr>
        <p:txBody>
          <a:bodyPr wrap="square" lIns="0" rIns="0" tIns="0" bIns="0" anchor="t">
            <a:spAutoFit/>
          </a:bodyPr>
          <a:lstStyle/>
          <a:p>
            <a:pPr algn="ctr">
              <a:lnSpc>
                <a:spcPct val="110000"/>
              </a:lnSpc>
              <a:spcAft>
                <a:spcPts val="0"/>
              </a:spcAft>
            </a:pPr>
            <a:r>
              <a:rPr sz="1150" i="0" b="0">
                <a:solidFill>
                  <a:srgbClr val="5A6570"/>
                </a:solidFill>
                <a:latin typeface="Segoe UI"/>
              </a:rPr>
              <a:t>LẦN
</a:t>
            </a:r>
            <a:r>
              <a:rPr sz="1058" i="0" b="0">
                <a:solidFill>
                  <a:srgbClr val="5A6570"/>
                </a:solidFill>
                <a:latin typeface="Consolas"/>
              </a:rPr>
              <a:t>cohort_year</a:t>
            </a:r>
            <a:r>
              <a:rPr sz="1150" i="0" b="0">
                <a:solidFill>
                  <a:srgbClr val="5A6570"/>
                </a:solidFill>
                <a:latin typeface="Segoe UI"/>
              </a:rPr>
              <a:t> mạnh hơn </a:t>
            </a:r>
            <a:r>
              <a:rPr sz="1058" i="0" b="0">
                <a:solidFill>
                  <a:srgbClr val="5A6570"/>
                </a:solidFill>
                <a:latin typeface="Consolas"/>
              </a:rPr>
              <a:t>promo_first</a:t>
            </a:r>
          </a:p>
        </p:txBody>
      </p:sp>
      <p:sp>
        <p:nvSpPr>
          <p:cNvPr id="17" name="TextBox 16"/>
          <p:cNvSpPr txBox="1"/>
          <p:nvPr/>
        </p:nvSpPr>
        <p:spPr>
          <a:xfrm>
            <a:off x="685800" y="3730752"/>
            <a:ext cx="10817352" cy="896112"/>
          </a:xfrm>
          <a:prstGeom prst="rect">
            <a:avLst/>
          </a:prstGeom>
          <a:noFill/>
        </p:spPr>
        <p:txBody>
          <a:bodyPr wrap="square" lIns="0" rIns="0" tIns="0" bIns="0" anchor="t">
            <a:spAutoFit/>
          </a:bodyPr>
          <a:lstStyle/>
          <a:p>
            <a:pPr algn="l">
              <a:lnSpc>
                <a:spcPct val="122000"/>
              </a:lnSpc>
              <a:spcAft>
                <a:spcPts val="700"/>
              </a:spcAft>
            </a:pPr>
            <a:r>
              <a:rPr sz="1334" i="0" b="0">
                <a:solidFill>
                  <a:srgbClr val="1A365D"/>
                </a:solidFill>
                <a:latin typeface="Consolas"/>
              </a:rPr>
              <a:t>promo_first</a:t>
            </a:r>
            <a:r>
              <a:rPr sz="1450" i="0" b="0">
                <a:solidFill>
                  <a:srgbClr val="1A202C"/>
                </a:solidFill>
                <a:latin typeface="Segoe UI"/>
              </a:rPr>
              <a:t> có p &lt; 0,001 — </a:t>
            </a:r>
            <a:r>
              <a:rPr sz="1450" i="0" b="1">
                <a:solidFill>
                  <a:srgbClr val="1A365D"/>
                </a:solidFill>
                <a:latin typeface="Segoe UI"/>
              </a:rPr>
              <a:t>chắc chắn có tín hiệu</a:t>
            </a:r>
            <a:r>
              <a:rPr sz="1450" i="0" b="0">
                <a:solidFill>
                  <a:srgbClr val="1A202C"/>
                </a:solidFill>
                <a:latin typeface="Segoe UI"/>
              </a:rPr>
              <a:t>. Nhưng cỡ hiệu ứng chỉ </a:t>
            </a:r>
            <a:r>
              <a:rPr sz="1450" i="0" b="1">
                <a:solidFill>
                  <a:srgbClr val="1A365D"/>
                </a:solidFill>
                <a:latin typeface="Segoe UI"/>
              </a:rPr>
              <a:t>1,4 điểm phần trăm</a:t>
            </a:r>
            <a:r>
              <a:rPr sz="1450" i="0" b="0">
                <a:solidFill>
                  <a:srgbClr val="1A202C"/>
                </a:solidFill>
                <a:latin typeface="Segoe UI"/>
              </a:rPr>
              <a:t>, tức là </a:t>
            </a:r>
            <a:r>
              <a:rPr sz="1450" i="0" b="1">
                <a:solidFill>
                  <a:srgbClr val="1A365D"/>
                </a:solidFill>
                <a:latin typeface="Segoe UI"/>
              </a:rPr>
              <a:t>367 người</a:t>
            </a:r>
            <a:r>
              <a:rPr sz="1450" i="0" b="0">
                <a:solidFill>
                  <a:srgbClr val="1A202C"/>
                </a:solidFill>
                <a:latin typeface="Segoe UI"/>
              </a:rPr>
              <a:t> trong số 26.759.</a:t>
            </a:r>
          </a:p>
          <a:p>
            <a:pPr algn="l">
              <a:lnSpc>
                <a:spcPct val="122000"/>
              </a:lnSpc>
              <a:spcAft>
                <a:spcPts val="700"/>
              </a:spcAft>
            </a:pPr>
            <a:r>
              <a:rPr sz="1334" i="0" b="0">
                <a:solidFill>
                  <a:srgbClr val="1A365D"/>
                </a:solidFill>
                <a:latin typeface="Consolas"/>
              </a:rPr>
              <a:t>cohort_year</a:t>
            </a:r>
            <a:r>
              <a:rPr sz="1450" i="0" b="0">
                <a:solidFill>
                  <a:srgbClr val="1A202C"/>
                </a:solidFill>
                <a:latin typeface="Segoe UI"/>
              </a:rPr>
              <a:t> đổi </a:t>
            </a:r>
            <a:r>
              <a:rPr sz="1450" i="0" b="1">
                <a:solidFill>
                  <a:srgbClr val="1A365D"/>
                </a:solidFill>
                <a:latin typeface="Segoe UI"/>
              </a:rPr>
              <a:t>35,4 điểm phần trăm</a:t>
            </a:r>
            <a:r>
              <a:rPr sz="1450" i="0" b="0">
                <a:solidFill>
                  <a:srgbClr val="1A202C"/>
                </a:solidFill>
                <a:latin typeface="Segoe UI"/>
              </a:rPr>
              <a:t> — mạnh hơn </a:t>
            </a:r>
            <a:r>
              <a:rPr sz="1450" i="0" b="1">
                <a:solidFill>
                  <a:srgbClr val="1A365D"/>
                </a:solidFill>
                <a:latin typeface="Segoe UI"/>
              </a:rPr>
              <a:t>25,8 lần</a:t>
            </a:r>
            <a:r>
              <a:rPr sz="1450" i="0" b="0">
                <a:solidFill>
                  <a:srgbClr val="1A202C"/>
                </a:solidFill>
                <a:latin typeface="Segoe UI"/>
              </a:rPr>
              <a:t>.</a:t>
            </a:r>
          </a:p>
        </p:txBody>
      </p:sp>
      <p:sp>
        <p:nvSpPr>
          <p:cNvPr id="18" name="Rounded Rectangle 17"/>
          <p:cNvSpPr/>
          <p:nvPr/>
        </p:nvSpPr>
        <p:spPr>
          <a:xfrm>
            <a:off x="685800" y="4645152"/>
            <a:ext cx="10817352" cy="1261872"/>
          </a:xfrm>
          <a:prstGeom prst="roundRect">
            <a:avLst>
              <a:gd name="adj" fmla="val 6000"/>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645152"/>
            <a:ext cx="64008" cy="1261872"/>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828032"/>
            <a:ext cx="10268712" cy="896111"/>
          </a:xfrm>
          <a:prstGeom prst="rect">
            <a:avLst/>
          </a:prstGeom>
          <a:noFill/>
        </p:spPr>
        <p:txBody>
          <a:bodyPr wrap="square" lIns="0" rIns="0" tIns="0" bIns="0" anchor="ctr">
            <a:spAutoFit/>
          </a:bodyPr>
          <a:lstStyle/>
          <a:p>
            <a:pPr algn="l">
              <a:lnSpc>
                <a:spcPct val="125000"/>
              </a:lnSpc>
              <a:spcAft>
                <a:spcPts val="500"/>
              </a:spcAft>
            </a:pPr>
            <a:r>
              <a:rPr sz="1350" i="0" b="0">
                <a:solidFill>
                  <a:srgbClr val="1A202C"/>
                </a:solidFill>
                <a:latin typeface="Segoe UI"/>
              </a:rPr>
              <a:t>Vì sao phải trình bày cỡ hiệu ứng chứ không chỉ p-value:</a:t>
            </a:r>
          </a:p>
          <a:p>
            <a:pPr algn="l">
              <a:lnSpc>
                <a:spcPct val="125000"/>
              </a:lnSpc>
              <a:spcAft>
                <a:spcPts val="500"/>
              </a:spcAft>
            </a:pPr>
            <a:r>
              <a:rPr sz="1350" i="0" b="0">
                <a:solidFill>
                  <a:srgbClr val="1A202C"/>
                </a:solidFill>
                <a:latin typeface="Segoe UI"/>
              </a:rPr>
              <a:t>Với </a:t>
            </a:r>
            <a:r>
              <a:rPr sz="1350" i="0" b="1">
                <a:solidFill>
                  <a:srgbClr val="2B6CB0"/>
                </a:solidFill>
                <a:latin typeface="Segoe UI"/>
              </a:rPr>
              <a:t>84.566 quan sát</a:t>
            </a:r>
            <a:r>
              <a:rPr sz="1350" i="0" b="0">
                <a:solidFill>
                  <a:srgbClr val="1A202C"/>
                </a:solidFill>
                <a:latin typeface="Segoe UI"/>
              </a:rPr>
              <a:t>, gần như </a:t>
            </a:r>
            <a:r>
              <a:rPr sz="1350" i="0" b="1">
                <a:solidFill>
                  <a:srgbClr val="2B6CB0"/>
                </a:solidFill>
                <a:latin typeface="Segoe UI"/>
              </a:rPr>
              <a:t>mọi</a:t>
            </a:r>
            <a:r>
              <a:rPr sz="1350" i="0" b="0">
                <a:solidFill>
                  <a:srgbClr val="1A202C"/>
                </a:solidFill>
                <a:latin typeface="Segoe UI"/>
              </a:rPr>
              <a:t> biến đều sẽ có p &lt; 0,001. p-value chỉ trả lời "có khác 0 không", </a:t>
            </a:r>
            <a:r>
              <a:rPr sz="1350" i="0" b="1">
                <a:solidFill>
                  <a:srgbClr val="2B6CB0"/>
                </a:solidFill>
                <a:latin typeface="Segoe UI"/>
              </a:rPr>
              <a:t>không</a:t>
            </a:r>
            <a:r>
              <a:rPr sz="1350" i="0" b="0">
                <a:solidFill>
                  <a:srgbClr val="1A202C"/>
                </a:solidFill>
                <a:latin typeface="Segoe UI"/>
              </a:rPr>
              <a:t> trả lời "có đáng để làm gì không".</a:t>
            </a:r>
          </a:p>
          <a:p>
            <a:pPr algn="l">
              <a:lnSpc>
                <a:spcPct val="125000"/>
              </a:lnSpc>
              <a:spcAft>
                <a:spcPts val="500"/>
              </a:spcAft>
            </a:pPr>
            <a:r>
              <a:rPr sz="1350" i="0" b="0">
                <a:solidFill>
                  <a:srgbClr val="1A202C"/>
                </a:solidFill>
                <a:latin typeface="Segoe UI"/>
              </a:rPr>
              <a:t>Một can thiệp đổi được </a:t>
            </a:r>
            <a:r>
              <a:rPr sz="1350" i="0" b="1">
                <a:solidFill>
                  <a:srgbClr val="2B6CB0"/>
                </a:solidFill>
                <a:latin typeface="Segoe UI"/>
              </a:rPr>
              <a:t>367 người</a:t>
            </a:r>
            <a:r>
              <a:rPr sz="1350" i="0" b="0">
                <a:solidFill>
                  <a:srgbClr val="1A202C"/>
                </a:solidFill>
                <a:latin typeface="Segoe UI"/>
              </a:rPr>
              <a:t> không xứng với một chương trình khuyến mãi toàn hệ thống.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IV · TỔNG KẾT</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Sau phản biện, kết luận nào còn đứng?</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Chia theo cái mà kết luận DỰA VÀO — cấu trúc thời gian, hay một trường có thể ngẫu nhiên</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26</a:t>
            </a:r>
          </a:p>
        </p:txBody>
      </p:sp>
      <p:sp>
        <p:nvSpPr>
          <p:cNvPr id="8" name="TextBox 7"/>
          <p:cNvSpPr txBox="1"/>
          <p:nvPr/>
        </p:nvSpPr>
        <p:spPr>
          <a:xfrm>
            <a:off x="685800" y="2176272"/>
            <a:ext cx="5257800" cy="292608"/>
          </a:xfrm>
          <a:prstGeom prst="rect">
            <a:avLst/>
          </a:prstGeom>
          <a:noFill/>
        </p:spPr>
        <p:txBody>
          <a:bodyPr wrap="square" lIns="0" rIns="0" tIns="0" bIns="0" anchor="t">
            <a:spAutoFit/>
          </a:bodyPr>
          <a:lstStyle/>
          <a:p>
            <a:pPr algn="l">
              <a:lnSpc>
                <a:spcPct val="122000"/>
              </a:lnSpc>
              <a:spcAft>
                <a:spcPts val="0"/>
              </a:spcAft>
            </a:pPr>
            <a:r>
              <a:rPr sz="1200" i="0" b="1">
                <a:solidFill>
                  <a:srgbClr val="2F855A"/>
                </a:solidFill>
                <a:latin typeface="Segoe UI"/>
              </a:rPr>
              <a:t>CÒN ĐỨNG VỮNG</a:t>
            </a:r>
          </a:p>
        </p:txBody>
      </p:sp>
      <p:sp>
        <p:nvSpPr>
          <p:cNvPr id="9" name="Rounded Rectangle 8"/>
          <p:cNvSpPr/>
          <p:nvPr/>
        </p:nvSpPr>
        <p:spPr>
          <a:xfrm>
            <a:off x="685800" y="2505456"/>
            <a:ext cx="5257800" cy="2487168"/>
          </a:xfrm>
          <a:prstGeom prst="roundRect">
            <a:avLst>
              <a:gd name="adj" fmla="val 4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670048"/>
            <a:ext cx="4800600" cy="2194560"/>
          </a:xfrm>
          <a:prstGeom prst="rect">
            <a:avLst/>
          </a:prstGeom>
          <a:noFill/>
        </p:spPr>
        <p:txBody>
          <a:bodyPr wrap="square" lIns="0" rIns="0" tIns="0" bIns="0" anchor="t">
            <a:spAutoFit/>
          </a:bodyPr>
          <a:lstStyle/>
          <a:p>
            <a:pPr algn="l">
              <a:lnSpc>
                <a:spcPct val="122000"/>
              </a:lnSpc>
              <a:spcAft>
                <a:spcPts val="800"/>
              </a:spcAft>
            </a:pPr>
            <a:r>
              <a:rPr sz="1300" i="0" b="1">
                <a:solidFill>
                  <a:srgbClr val="2B6CB0"/>
                </a:solidFill>
                <a:latin typeface="Segoe UI"/>
              </a:rPr>
              <a:t>• </a:t>
            </a:r>
            <a:r>
              <a:rPr sz="1300" i="0" b="0">
                <a:solidFill>
                  <a:srgbClr val="1A202C"/>
                </a:solidFill>
                <a:latin typeface="Segoe UI"/>
              </a:rPr>
              <a:t>Phân rã số đơn = khách × tần suất (BTN2, H1)</a:t>
            </a:r>
          </a:p>
          <a:p>
            <a:pPr algn="l">
              <a:lnSpc>
                <a:spcPct val="122000"/>
              </a:lnSpc>
              <a:spcAft>
                <a:spcPts val="800"/>
              </a:spcAft>
            </a:pPr>
            <a:r>
              <a:rPr sz="1300" i="0" b="1">
                <a:solidFill>
                  <a:srgbClr val="2B6CB0"/>
                </a:solidFill>
                <a:latin typeface="Segoe UI"/>
              </a:rPr>
              <a:t>• </a:t>
            </a:r>
            <a:r>
              <a:rPr sz="1300" i="0" b="0">
                <a:solidFill>
                  <a:srgbClr val="1A202C"/>
                </a:solidFill>
                <a:latin typeface="Segoe UI"/>
              </a:rPr>
              <a:t>Pool và tỷ lệ hút (BTN3, H2) — sau khi sửa số</a:t>
            </a:r>
          </a:p>
          <a:p>
            <a:pPr algn="l">
              <a:lnSpc>
                <a:spcPct val="122000"/>
              </a:lnSpc>
              <a:spcAft>
                <a:spcPts val="800"/>
              </a:spcAft>
            </a:pPr>
            <a:r>
              <a:rPr sz="1300" i="0" b="1">
                <a:solidFill>
                  <a:srgbClr val="2B6CB0"/>
                </a:solidFill>
                <a:latin typeface="Segoe UI"/>
              </a:rPr>
              <a:t>• </a:t>
            </a:r>
            <a:r>
              <a:rPr sz="1300" i="0" b="0">
                <a:solidFill>
                  <a:srgbClr val="1A202C"/>
                </a:solidFill>
                <a:latin typeface="Segoe UI"/>
              </a:rPr>
              <a:t>Cohort retention và chất lượng cohort (H3)</a:t>
            </a:r>
          </a:p>
          <a:p>
            <a:pPr algn="l">
              <a:lnSpc>
                <a:spcPct val="122000"/>
              </a:lnSpc>
              <a:spcAft>
                <a:spcPts val="800"/>
              </a:spcAft>
            </a:pPr>
            <a:r>
              <a:rPr sz="1300" i="0" b="1">
                <a:solidFill>
                  <a:srgbClr val="2B6CB0"/>
                </a:solidFill>
                <a:latin typeface="Segoe UI"/>
              </a:rPr>
              <a:t>• </a:t>
            </a:r>
            <a:r>
              <a:rPr sz="1300" i="0" b="0">
                <a:solidFill>
                  <a:srgbClr val="1A202C"/>
                </a:solidFill>
                <a:latin typeface="Segoe UI"/>
              </a:rPr>
              <a:t>Nền khách ổn định 2020–22 (H6, BTN5)</a:t>
            </a:r>
          </a:p>
          <a:p>
            <a:pPr algn="l">
              <a:lnSpc>
                <a:spcPct val="122000"/>
              </a:lnSpc>
              <a:spcAft>
                <a:spcPts val="800"/>
              </a:spcAft>
            </a:pPr>
            <a:r>
              <a:rPr sz="1300" i="0" b="1">
                <a:solidFill>
                  <a:srgbClr val="2B6CB0"/>
                </a:solidFill>
                <a:latin typeface="Segoe UI"/>
              </a:rPr>
              <a:t>• </a:t>
            </a:r>
            <a:r>
              <a:rPr sz="1300" i="0" b="0">
                <a:solidFill>
                  <a:srgbClr val="1A202C"/>
                </a:solidFill>
                <a:latin typeface="Segoe UI"/>
              </a:rPr>
              <a:t>Bước gãy 2019 là cú sốc thời kỳ (B9, B11)</a:t>
            </a:r>
          </a:p>
        </p:txBody>
      </p:sp>
      <p:sp>
        <p:nvSpPr>
          <p:cNvPr id="11" name="TextBox 10"/>
          <p:cNvSpPr txBox="1"/>
          <p:nvPr/>
        </p:nvSpPr>
        <p:spPr>
          <a:xfrm>
            <a:off x="6245352" y="2176272"/>
            <a:ext cx="5257800" cy="292608"/>
          </a:xfrm>
          <a:prstGeom prst="rect">
            <a:avLst/>
          </a:prstGeom>
          <a:noFill/>
        </p:spPr>
        <p:txBody>
          <a:bodyPr wrap="square" lIns="0" rIns="0" tIns="0" bIns="0" anchor="t">
            <a:spAutoFit/>
          </a:bodyPr>
          <a:lstStyle/>
          <a:p>
            <a:pPr algn="l">
              <a:lnSpc>
                <a:spcPct val="122000"/>
              </a:lnSpc>
              <a:spcAft>
                <a:spcPts val="0"/>
              </a:spcAft>
            </a:pPr>
            <a:r>
              <a:rPr sz="1200" i="0" b="1">
                <a:solidFill>
                  <a:srgbClr val="C53030"/>
                </a:solidFill>
                <a:latin typeface="Segoe UI"/>
              </a:rPr>
              <a:t>PHẢI VIẾT LẠI</a:t>
            </a:r>
          </a:p>
        </p:txBody>
      </p:sp>
      <p:sp>
        <p:nvSpPr>
          <p:cNvPr id="12" name="Rounded Rectangle 11"/>
          <p:cNvSpPr/>
          <p:nvPr/>
        </p:nvSpPr>
        <p:spPr>
          <a:xfrm>
            <a:off x="6245352" y="2505456"/>
            <a:ext cx="5257800" cy="2487168"/>
          </a:xfrm>
          <a:prstGeom prst="roundRect">
            <a:avLst>
              <a:gd name="adj" fmla="val 4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2670048"/>
            <a:ext cx="4800600" cy="2194560"/>
          </a:xfrm>
          <a:prstGeom prst="rect">
            <a:avLst/>
          </a:prstGeom>
          <a:noFill/>
        </p:spPr>
        <p:txBody>
          <a:bodyPr wrap="square" lIns="0" rIns="0" tIns="0" bIns="0" anchor="t">
            <a:spAutoFit/>
          </a:bodyPr>
          <a:lstStyle/>
          <a:p>
            <a:pPr algn="l">
              <a:lnSpc>
                <a:spcPct val="122000"/>
              </a:lnSpc>
              <a:spcAft>
                <a:spcPts val="800"/>
              </a:spcAft>
            </a:pPr>
            <a:r>
              <a:rPr sz="1300" i="0" b="1">
                <a:solidFill>
                  <a:srgbClr val="2B6CB0"/>
                </a:solidFill>
                <a:latin typeface="Segoe UI"/>
              </a:rPr>
              <a:t>• </a:t>
            </a:r>
            <a:r>
              <a:rPr sz="1300" i="0" b="0">
                <a:solidFill>
                  <a:srgbClr val="1A202C"/>
                </a:solidFill>
                <a:latin typeface="Segoe UI"/>
              </a:rPr>
              <a:t>H8 — </a:t>
            </a:r>
            <a:r>
              <a:rPr sz="1196" i="0" b="0">
                <a:solidFill>
                  <a:srgbClr val="1A365D"/>
                </a:solidFill>
                <a:latin typeface="Consolas"/>
              </a:rPr>
              <a:t>delivery_days</a:t>
            </a:r>
            <a:r>
              <a:rPr sz="1300" i="0" b="0">
                <a:solidFill>
                  <a:srgbClr val="1A202C"/>
                </a:solidFill>
                <a:latin typeface="Segoe UI"/>
              </a:rPr>
              <a:t> không phân biệt cả theo vùng</a:t>
            </a:r>
          </a:p>
          <a:p>
            <a:pPr algn="l">
              <a:lnSpc>
                <a:spcPct val="122000"/>
              </a:lnSpc>
              <a:spcAft>
                <a:spcPts val="800"/>
              </a:spcAft>
            </a:pPr>
            <a:r>
              <a:rPr sz="1300" i="0" b="1">
                <a:solidFill>
                  <a:srgbClr val="2B6CB0"/>
                </a:solidFill>
                <a:latin typeface="Segoe UI"/>
              </a:rPr>
              <a:t>• </a:t>
            </a:r>
            <a:r>
              <a:rPr sz="1300" i="0" b="0">
                <a:solidFill>
                  <a:srgbClr val="1A202C"/>
                </a:solidFill>
                <a:latin typeface="Segoe UI"/>
              </a:rPr>
              <a:t>H9 — </a:t>
            </a:r>
            <a:r>
              <a:rPr sz="1196" i="0" b="0">
                <a:solidFill>
                  <a:srgbClr val="1A365D"/>
                </a:solidFill>
                <a:latin typeface="Consolas"/>
              </a:rPr>
              <a:t>returns</a:t>
            </a:r>
            <a:r>
              <a:rPr sz="1300" i="0" b="0">
                <a:solidFill>
                  <a:srgbClr val="1A202C"/>
                </a:solidFill>
                <a:latin typeface="Segoe UI"/>
              </a:rPr>
              <a:t> không trùng </a:t>
            </a:r>
            <a:r>
              <a:rPr sz="1196" i="0" b="0">
                <a:solidFill>
                  <a:srgbClr val="1A365D"/>
                </a:solidFill>
                <a:latin typeface="Consolas"/>
              </a:rPr>
              <a:t>reviews</a:t>
            </a:r>
            <a:r>
              <a:rPr sz="1300" i="0" b="0">
                <a:solidFill>
                  <a:srgbClr val="1A202C"/>
                </a:solidFill>
                <a:latin typeface="Segoe UI"/>
              </a:rPr>
              <a:t> đơn nào</a:t>
            </a:r>
          </a:p>
          <a:p>
            <a:pPr algn="l">
              <a:lnSpc>
                <a:spcPct val="122000"/>
              </a:lnSpc>
              <a:spcAft>
                <a:spcPts val="800"/>
              </a:spcAft>
            </a:pPr>
            <a:r>
              <a:rPr sz="1300" i="0" b="1">
                <a:solidFill>
                  <a:srgbClr val="2B6CB0"/>
                </a:solidFill>
                <a:latin typeface="Segoe UI"/>
              </a:rPr>
              <a:t>• </a:t>
            </a:r>
            <a:r>
              <a:rPr sz="1300" i="0" b="0">
                <a:solidFill>
                  <a:srgbClr val="1A202C"/>
                </a:solidFill>
                <a:latin typeface="Segoe UI"/>
              </a:rPr>
              <a:t>Mục 5.1 — </a:t>
            </a:r>
            <a:r>
              <a:rPr sz="1196" i="0" b="0">
                <a:solidFill>
                  <a:srgbClr val="1A365D"/>
                </a:solidFill>
                <a:latin typeface="Consolas"/>
              </a:rPr>
              <a:t>signup_date</a:t>
            </a:r>
            <a:r>
              <a:rPr sz="1300" i="0" b="0">
                <a:solidFill>
                  <a:srgbClr val="1A202C"/>
                </a:solidFill>
                <a:latin typeface="Segoe UI"/>
              </a:rPr>
              <a:t> có thể là trường ngẫu nhiên</a:t>
            </a:r>
          </a:p>
          <a:p>
            <a:pPr algn="l">
              <a:lnSpc>
                <a:spcPct val="122000"/>
              </a:lnSpc>
              <a:spcAft>
                <a:spcPts val="800"/>
              </a:spcAft>
            </a:pPr>
            <a:r>
              <a:rPr sz="1300" i="0" b="1">
                <a:solidFill>
                  <a:srgbClr val="2B6CB0"/>
                </a:solidFill>
                <a:latin typeface="Segoe UI"/>
              </a:rPr>
              <a:t>• </a:t>
            </a:r>
            <a:r>
              <a:rPr sz="1300" i="0" b="0">
                <a:solidFill>
                  <a:srgbClr val="1A202C"/>
                </a:solidFill>
                <a:latin typeface="Segoe UI"/>
              </a:rPr>
              <a:t>Ba phép kiểm hằng đúng ở Mục 12.2</a:t>
            </a:r>
          </a:p>
          <a:p>
            <a:pPr algn="l">
              <a:lnSpc>
                <a:spcPct val="122000"/>
              </a:lnSpc>
              <a:spcAft>
                <a:spcPts val="800"/>
              </a:spcAft>
            </a:pPr>
            <a:r>
              <a:rPr sz="1300" i="0" b="1">
                <a:solidFill>
                  <a:srgbClr val="2B6CB0"/>
                </a:solidFill>
                <a:latin typeface="Segoe UI"/>
              </a:rPr>
              <a:t>• </a:t>
            </a:r>
            <a:r>
              <a:rPr sz="1300" i="0" b="0">
                <a:solidFill>
                  <a:srgbClr val="1A202C"/>
                </a:solidFill>
                <a:latin typeface="Segoe UI"/>
              </a:rPr>
              <a:t>Ngưỡng K1, K7 và chỉ số K5 ở Mục 8</a:t>
            </a:r>
          </a:p>
        </p:txBody>
      </p:sp>
      <p:sp>
        <p:nvSpPr>
          <p:cNvPr id="14" name="Rounded Rectangle 13"/>
          <p:cNvSpPr/>
          <p:nvPr/>
        </p:nvSpPr>
        <p:spPr>
          <a:xfrm>
            <a:off x="685800" y="5175504"/>
            <a:ext cx="10817352" cy="731520"/>
          </a:xfrm>
          <a:prstGeom prst="roundRect">
            <a:avLst>
              <a:gd name="adj" fmla="val 6000"/>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5175504"/>
            <a:ext cx="64008" cy="73152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 y="5358384"/>
            <a:ext cx="10268712" cy="365760"/>
          </a:xfrm>
          <a:prstGeom prst="rect">
            <a:avLst/>
          </a:prstGeom>
          <a:noFill/>
        </p:spPr>
        <p:txBody>
          <a:bodyPr wrap="square" lIns="0" rIns="0" tIns="0" bIns="0" anchor="ctr">
            <a:spAutoFit/>
          </a:bodyPr>
          <a:lstStyle/>
          <a:p>
            <a:pPr algn="l">
              <a:lnSpc>
                <a:spcPct val="125000"/>
              </a:lnSpc>
              <a:spcAft>
                <a:spcPts val="500"/>
              </a:spcAft>
            </a:pPr>
            <a:r>
              <a:rPr sz="1400" i="0" b="0">
                <a:solidFill>
                  <a:srgbClr val="1A202C"/>
                </a:solidFill>
                <a:latin typeface="Segoe UI"/>
              </a:rPr>
              <a:t>Quy tắc rút ra: kết quả </a:t>
            </a:r>
            <a:r>
              <a:rPr sz="1400" i="0" b="1">
                <a:solidFill>
                  <a:srgbClr val="2B6CB0"/>
                </a:solidFill>
                <a:latin typeface="Segoe UI"/>
              </a:rPr>
              <a:t>rỗng</a:t>
            </a:r>
            <a:r>
              <a:rPr sz="1400" i="0" b="0">
                <a:solidFill>
                  <a:srgbClr val="1A202C"/>
                </a:solidFill>
                <a:latin typeface="Segoe UI"/>
              </a:rPr>
              <a:t> trên một trường nghi ngẫu nhiên nói về </a:t>
            </a:r>
            <a:r>
              <a:rPr sz="1400" i="0" b="1">
                <a:solidFill>
                  <a:srgbClr val="2B6CB0"/>
                </a:solidFill>
                <a:latin typeface="Segoe UI"/>
              </a:rPr>
              <a:t>bộ sinh dữ liệu</a:t>
            </a:r>
            <a:r>
              <a:rPr sz="1400" i="0" b="0">
                <a:solidFill>
                  <a:srgbClr val="1A202C"/>
                </a:solidFill>
                <a:latin typeface="Segoe UI"/>
              </a:rPr>
              <a:t>, không nói về doanh nghiệp — và </a:t>
            </a:r>
            <a:r>
              <a:rPr sz="1400" i="0" b="1">
                <a:solidFill>
                  <a:srgbClr val="2B6CB0"/>
                </a:solidFill>
                <a:latin typeface="Segoe UI"/>
              </a:rPr>
              <a:t>không được</a:t>
            </a:r>
            <a:r>
              <a:rPr sz="1400" i="0" b="0">
                <a:solidFill>
                  <a:srgbClr val="1A202C"/>
                </a:solidFill>
                <a:latin typeface="Segoe UI"/>
              </a:rPr>
              <a:t> chuyển thành khuyến nghị thực hành.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IV · GIỚI HẠN</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Việc chưa xong — và vì sao chưa xong</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Thiếu công và thiếu dữ liệu là hai chuyện khác nhau, phải nói rõ là chuyện nào</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27</a:t>
            </a:r>
          </a:p>
        </p:txBody>
      </p:sp>
      <p:graphicFrame>
        <p:nvGraphicFramePr>
          <p:cNvPr id="8" name="Table 7"/>
          <p:cNvGraphicFramePr>
            <a:graphicFrameLocks noGrp="1"/>
          </p:cNvGraphicFramePr>
          <p:nvPr/>
        </p:nvGraphicFramePr>
        <p:xfrm>
          <a:off x="685800" y="2176272"/>
          <a:ext cx="10817352" cy="1645920"/>
        </p:xfrm>
        <a:graphic>
          <a:graphicData uri="http://schemas.openxmlformats.org/drawingml/2006/table">
            <a:tbl>
              <a:tblPr>
                <a:tableStyleId>{2D5ABB26-0587-4C30-8999-92F81FD0307C}</a:tableStyleId>
              </a:tblPr>
              <a:tblGrid>
                <a:gridCol w="3840480"/>
                <a:gridCol w="4206240"/>
                <a:gridCol w="2770632"/>
              </a:tblGrid>
              <a:tr h="329184">
                <a:tc>
                  <a:txBody>
                    <a:bodyPr wrap="square"/>
                    <a:lstStyle/>
                    <a:p>
                      <a:pPr algn="l">
                        <a:lnSpc>
                          <a:spcPct val="108000"/>
                        </a:lnSpc>
                      </a:pP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Cần gì</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Làm được không</a:t>
                      </a:r>
                    </a:p>
                  </a:txBody>
                  <a:tcPr marL="91440" marR="91440" marT="27432" marB="27432" anchor="ctr">
                    <a:solidFill>
                      <a:srgbClr val="2B6CB0"/>
                    </a:solidFill>
                  </a:tcPr>
                </a:tc>
              </a:tr>
              <a:tr h="438912">
                <a:tc>
                  <a:txBody>
                    <a:bodyPr wrap="square"/>
                    <a:lstStyle/>
                    <a:p>
                      <a:pPr algn="l">
                        <a:lnSpc>
                          <a:spcPct val="108000"/>
                        </a:lnSpc>
                      </a:pPr>
                      <a:r>
                        <a:rPr sz="1250" i="0" b="0">
                          <a:solidFill>
                            <a:srgbClr val="1A202C"/>
                          </a:solidFill>
                          <a:latin typeface="Segoe UI"/>
                        </a:rPr>
                        <a:t>BTN5 · Nền khách đỡ nổi 2023–24?</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Kiểm định điểm gãy — Chow test / Bai–Perron</a:t>
                      </a:r>
                    </a:p>
                  </a:txBody>
                  <a:tcPr marL="91440" marR="91440" marT="27432" marB="27432" anchor="ctr">
                    <a:solidFill>
                      <a:srgbClr val="FFFFFF"/>
                    </a:solidFill>
                  </a:tcPr>
                </a:tc>
                <a:tc>
                  <a:txBody>
                    <a:bodyPr wrap="square"/>
                    <a:lstStyle/>
                    <a:p>
                      <a:pPr algn="l">
                        <a:lnSpc>
                          <a:spcPct val="108000"/>
                        </a:lnSpc>
                      </a:pPr>
                      <a:r>
                        <a:rPr sz="1250" i="0" b="0">
                          <a:solidFill>
                            <a:srgbClr val="2F855A"/>
                          </a:solidFill>
                          <a:latin typeface="Segoe UI"/>
                        </a:rPr>
                        <a:t>✔ Làm được với dữ liệu hiện có</a:t>
                      </a:r>
                    </a:p>
                  </a:txBody>
                  <a:tcPr marL="91440" marR="91440" marT="27432" marB="27432" anchor="ctr">
                    <a:solidFill>
                      <a:srgbClr val="FFFFFF"/>
                    </a:solidFill>
                  </a:tcPr>
                </a:tc>
              </a:tr>
              <a:tr h="438912">
                <a:tc>
                  <a:txBody>
                    <a:bodyPr wrap="square"/>
                    <a:lstStyle/>
                    <a:p>
                      <a:pPr algn="l">
                        <a:lnSpc>
                          <a:spcPct val="108000"/>
                        </a:lnSpc>
                      </a:pPr>
                      <a:r>
                        <a:rPr sz="1250" i="0" b="0">
                          <a:solidFill>
                            <a:srgbClr val="1A202C"/>
                          </a:solidFill>
                          <a:latin typeface="Segoe UI"/>
                        </a:rPr>
                        <a:t>BTN6 · Ngân sách nên đi đâu?</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Bảng chi phí marketing theo kênh và theo kỳ</a:t>
                      </a:r>
                    </a:p>
                  </a:txBody>
                  <a:tcPr marL="91440" marR="91440" marT="27432" marB="27432" anchor="ctr">
                    <a:solidFill>
                      <a:srgbClr val="F1F5F9"/>
                    </a:solidFill>
                  </a:tcPr>
                </a:tc>
                <a:tc>
                  <a:txBody>
                    <a:bodyPr wrap="square"/>
                    <a:lstStyle/>
                    <a:p>
                      <a:pPr algn="l">
                        <a:lnSpc>
                          <a:spcPct val="108000"/>
                        </a:lnSpc>
                      </a:pPr>
                      <a:r>
                        <a:rPr sz="1250" i="0" b="0">
                          <a:solidFill>
                            <a:srgbClr val="C53030"/>
                          </a:solidFill>
                          <a:latin typeface="Segoe UI"/>
                        </a:rPr>
                        <a:t>✖ Bộ dữ liệu KHÔNG CÓ</a:t>
                      </a:r>
                    </a:p>
                  </a:txBody>
                  <a:tcPr marL="91440" marR="91440" marT="27432" marB="27432" anchor="ctr">
                    <a:solidFill>
                      <a:srgbClr val="F1F5F9"/>
                    </a:solidFill>
                  </a:tcPr>
                </a:tc>
              </a:tr>
              <a:tr h="438912">
                <a:tc>
                  <a:txBody>
                    <a:bodyPr wrap="square"/>
                    <a:lstStyle/>
                    <a:p>
                      <a:pPr algn="l">
                        <a:lnSpc>
                          <a:spcPct val="108000"/>
                        </a:lnSpc>
                      </a:pPr>
                      <a:r>
                        <a:rPr sz="1250" i="0" b="0">
                          <a:solidFill>
                            <a:srgbClr val="1A202C"/>
                          </a:solidFill>
                          <a:latin typeface="Segoe UI"/>
                        </a:rPr>
                        <a:t>B7 · Dạng hàm của </a:t>
                      </a:r>
                      <a:r>
                        <a:rPr sz="1150" i="0" b="0">
                          <a:solidFill>
                            <a:srgbClr val="1A365D"/>
                          </a:solidFill>
                          <a:latin typeface="Consolas"/>
                        </a:rPr>
                        <a:t>cohort_year</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Thay tuyến tính bằng spline hoặc biến phân loại</a:t>
                      </a:r>
                    </a:p>
                  </a:txBody>
                  <a:tcPr marL="91440" marR="91440" marT="27432" marB="27432" anchor="ctr">
                    <a:solidFill>
                      <a:srgbClr val="FFFFFF"/>
                    </a:solidFill>
                  </a:tcPr>
                </a:tc>
                <a:tc>
                  <a:txBody>
                    <a:bodyPr wrap="square"/>
                    <a:lstStyle/>
                    <a:p>
                      <a:pPr algn="l">
                        <a:lnSpc>
                          <a:spcPct val="108000"/>
                        </a:lnSpc>
                      </a:pPr>
                      <a:r>
                        <a:rPr sz="1250" i="0" b="0">
                          <a:solidFill>
                            <a:srgbClr val="2F855A"/>
                          </a:solidFill>
                          <a:latin typeface="Segoe UI"/>
                        </a:rPr>
                        <a:t>✔ Làm được — đã có sẵn script</a:t>
                      </a:r>
                    </a:p>
                  </a:txBody>
                  <a:tcPr marL="91440" marR="91440" marT="27432" marB="27432" anchor="ctr">
                    <a:solidFill>
                      <a:srgbClr val="FFFFFF"/>
                    </a:solidFill>
                  </a:tcPr>
                </a:tc>
              </a:tr>
            </a:tbl>
          </a:graphicData>
        </a:graphic>
      </p:graphicFrame>
      <p:sp>
        <p:nvSpPr>
          <p:cNvPr id="9" name="TextBox 8"/>
          <p:cNvSpPr txBox="1"/>
          <p:nvPr/>
        </p:nvSpPr>
        <p:spPr>
          <a:xfrm>
            <a:off x="685800" y="4133087"/>
            <a:ext cx="10817352" cy="292608"/>
          </a:xfrm>
          <a:prstGeom prst="rect">
            <a:avLst/>
          </a:prstGeom>
          <a:noFill/>
        </p:spPr>
        <p:txBody>
          <a:bodyPr wrap="square" lIns="0" rIns="0" tIns="0" bIns="0" anchor="t">
            <a:spAutoFit/>
          </a:bodyPr>
          <a:lstStyle/>
          <a:p>
            <a:pPr algn="l">
              <a:lnSpc>
                <a:spcPct val="122000"/>
              </a:lnSpc>
              <a:spcAft>
                <a:spcPts val="0"/>
              </a:spcAft>
            </a:pPr>
            <a:r>
              <a:rPr sz="1200" i="0" b="1">
                <a:solidFill>
                  <a:srgbClr val="2B6CB0"/>
                </a:solidFill>
                <a:latin typeface="Segoe UI"/>
              </a:rPr>
              <a:t>BA ĐIỀU THÀNH THẬT NÊN NÓI TRƯỚC KHI BỊ HỎI</a:t>
            </a:r>
          </a:p>
        </p:txBody>
      </p:sp>
      <p:sp>
        <p:nvSpPr>
          <p:cNvPr id="10" name="TextBox 9"/>
          <p:cNvSpPr txBox="1"/>
          <p:nvPr/>
        </p:nvSpPr>
        <p:spPr>
          <a:xfrm>
            <a:off x="685800" y="4517136"/>
            <a:ext cx="10817352" cy="1389888"/>
          </a:xfrm>
          <a:prstGeom prst="rect">
            <a:avLst/>
          </a:prstGeom>
          <a:noFill/>
        </p:spPr>
        <p:txBody>
          <a:bodyPr wrap="square" lIns="0" rIns="0" tIns="0" bIns="0" anchor="t">
            <a:spAutoFit/>
          </a:bodyPr>
          <a:lstStyle/>
          <a:p>
            <a:pPr algn="l">
              <a:lnSpc>
                <a:spcPct val="122000"/>
              </a:lnSpc>
              <a:spcAft>
                <a:spcPts val="700"/>
              </a:spcAft>
            </a:pPr>
            <a:r>
              <a:rPr sz="1300" i="0" b="1">
                <a:solidFill>
                  <a:srgbClr val="2B6CB0"/>
                </a:solidFill>
                <a:latin typeface="Segoe UI"/>
              </a:rPr>
              <a:t>• </a:t>
            </a:r>
            <a:r>
              <a:rPr sz="1196" i="0" b="0">
                <a:solidFill>
                  <a:srgbClr val="1A365D"/>
                </a:solidFill>
                <a:latin typeface="Consolas"/>
              </a:rPr>
              <a:t>promo_first</a:t>
            </a:r>
            <a:r>
              <a:rPr sz="1300" i="0" b="0">
                <a:solidFill>
                  <a:srgbClr val="1A202C"/>
                </a:solidFill>
                <a:latin typeface="Segoe UI"/>
              </a:rPr>
              <a:t> là </a:t>
            </a:r>
            <a:r>
              <a:rPr sz="1300" i="0" b="1">
                <a:solidFill>
                  <a:srgbClr val="1A365D"/>
                </a:solidFill>
                <a:latin typeface="Segoe UI"/>
              </a:rPr>
              <a:t>tương quan đã kiểm soát</a:t>
            </a:r>
            <a:r>
              <a:rPr sz="1300" i="0" b="0">
                <a:solidFill>
                  <a:srgbClr val="1A202C"/>
                </a:solidFill>
                <a:latin typeface="Segoe UI"/>
              </a:rPr>
              <a:t>, không phải nhân quả — matching chỉ cân bằng biến </a:t>
            </a:r>
            <a:r>
              <a:rPr sz="1300" i="0" b="1">
                <a:solidFill>
                  <a:srgbClr val="1A365D"/>
                </a:solidFill>
                <a:latin typeface="Segoe UI"/>
              </a:rPr>
              <a:t>đã quan sát</a:t>
            </a:r>
            <a:r>
              <a:rPr sz="1300" i="0" b="0">
                <a:solidFill>
                  <a:srgbClr val="1A202C"/>
                </a:solidFill>
                <a:latin typeface="Segoe UI"/>
              </a:rPr>
              <a:t>; khách nhạy giá tự chọn vào nhóm khuyến mãi theo đặc điểm không quan sát được.</a:t>
            </a:r>
          </a:p>
          <a:p>
            <a:pPr algn="l">
              <a:lnSpc>
                <a:spcPct val="122000"/>
              </a:lnSpc>
              <a:spcAft>
                <a:spcPts val="700"/>
              </a:spcAft>
            </a:pPr>
            <a:r>
              <a:rPr sz="1300" i="0" b="1">
                <a:solidFill>
                  <a:srgbClr val="2B6CB0"/>
                </a:solidFill>
                <a:latin typeface="Segoe UI"/>
              </a:rPr>
              <a:t>• </a:t>
            </a:r>
            <a:r>
              <a:rPr sz="1300" i="0" b="0">
                <a:solidFill>
                  <a:srgbClr val="1A202C"/>
                </a:solidFill>
                <a:latin typeface="Segoe UI"/>
              </a:rPr>
              <a:t>H6 chỉ dựa trên </a:t>
            </a:r>
            <a:r>
              <a:rPr sz="1300" i="0" b="1">
                <a:solidFill>
                  <a:srgbClr val="1A365D"/>
                </a:solidFill>
                <a:latin typeface="Segoe UI"/>
              </a:rPr>
              <a:t>n = 3 điểm</a:t>
            </a:r>
            <a:r>
              <a:rPr sz="1300" i="0" b="0">
                <a:solidFill>
                  <a:srgbClr val="1A202C"/>
                </a:solidFill>
                <a:latin typeface="Segoe UI"/>
              </a:rPr>
              <a:t>. Đủ để nói "chưa thấy dấu hiệu tiếp tục rơi", chưa đủ để khẳng định chế độ ổn định.</a:t>
            </a:r>
          </a:p>
          <a:p>
            <a:pPr algn="l">
              <a:lnSpc>
                <a:spcPct val="122000"/>
              </a:lnSpc>
              <a:spcAft>
                <a:spcPts val="700"/>
              </a:spcAft>
            </a:pPr>
            <a:r>
              <a:rPr sz="1300" i="0" b="1">
                <a:solidFill>
                  <a:srgbClr val="2B6CB0"/>
                </a:solidFill>
                <a:latin typeface="Segoe UI"/>
              </a:rPr>
              <a:t>• </a:t>
            </a:r>
            <a:r>
              <a:rPr sz="1196" i="0" b="0">
                <a:solidFill>
                  <a:srgbClr val="1A365D"/>
                </a:solidFill>
                <a:latin typeface="Consolas"/>
              </a:rPr>
              <a:t>signup_date</a:t>
            </a:r>
            <a:r>
              <a:rPr sz="1300" i="0" b="0">
                <a:solidFill>
                  <a:srgbClr val="1A202C"/>
                </a:solidFill>
                <a:latin typeface="Segoe UI"/>
              </a:rPr>
              <a:t> </a:t>
            </a:r>
            <a:r>
              <a:rPr sz="1300" i="0" b="1">
                <a:solidFill>
                  <a:srgbClr val="1A365D"/>
                </a:solidFill>
                <a:latin typeface="Segoe UI"/>
              </a:rPr>
              <a:t>hỏng nặng</a:t>
            </a:r>
            <a:r>
              <a:rPr sz="1300" i="0" b="0">
                <a:solidFill>
                  <a:srgbClr val="1A202C"/>
                </a:solidFill>
                <a:latin typeface="Segoe UI"/>
              </a:rPr>
              <a:t> — 73,8% đơn đặt trước ngày đăng ký. Chỉ dùng để bác bỏ khung "thu nạp hỏng", </a:t>
            </a:r>
            <a:r>
              <a:rPr sz="1300" i="0" b="1">
                <a:solidFill>
                  <a:srgbClr val="1A365D"/>
                </a:solidFill>
                <a:latin typeface="Segoe UI"/>
              </a:rPr>
              <a:t>không</a:t>
            </a:r>
            <a:r>
              <a:rPr sz="1300" i="0" b="0">
                <a:solidFill>
                  <a:srgbClr val="1A202C"/>
                </a:solidFill>
                <a:latin typeface="Segoe UI"/>
              </a:rPr>
              <a:t> làm căn cứ định lượng.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75488"/>
            <a:ext cx="10789920" cy="274320"/>
          </a:xfrm>
          <a:prstGeom prst="rect">
            <a:avLst/>
          </a:prstGeom>
          <a:noFill/>
        </p:spPr>
        <p:txBody>
          <a:bodyPr wrap="square" lIns="0" rIns="0" tIns="0" bIns="0" anchor="t">
            <a:spAutoFit/>
          </a:bodyPr>
          <a:lstStyle/>
          <a:p>
            <a:pPr algn="l">
              <a:lnSpc>
                <a:spcPct val="122000"/>
              </a:lnSpc>
              <a:spcAft>
                <a:spcPts val="0"/>
              </a:spcAft>
            </a:pPr>
            <a:r>
              <a:rPr sz="1150" i="0" b="1">
                <a:solidFill>
                  <a:srgbClr val="2B6CB0"/>
                </a:solidFill>
                <a:latin typeface="Segoe UI"/>
              </a:rPr>
              <a:t>PHẦN IV · NỐI TIẾP</a:t>
            </a:r>
          </a:p>
        </p:txBody>
      </p:sp>
      <p:sp>
        <p:nvSpPr>
          <p:cNvPr id="4" name="TextBox 3"/>
          <p:cNvSpPr txBox="1"/>
          <p:nvPr/>
        </p:nvSpPr>
        <p:spPr>
          <a:xfrm>
            <a:off x="685800" y="786384"/>
            <a:ext cx="10789920" cy="566928"/>
          </a:xfrm>
          <a:prstGeom prst="rect">
            <a:avLst/>
          </a:prstGeom>
          <a:noFill/>
        </p:spPr>
        <p:txBody>
          <a:bodyPr wrap="square" lIns="0" rIns="0" tIns="0" bIns="0" anchor="t">
            <a:spAutoFit/>
          </a:bodyPr>
          <a:lstStyle/>
          <a:p>
            <a:pPr algn="l">
              <a:lnSpc>
                <a:spcPct val="110000"/>
              </a:lnSpc>
              <a:spcAft>
                <a:spcPts val="0"/>
              </a:spcAft>
            </a:pPr>
            <a:r>
              <a:rPr sz="3000" i="0" b="1">
                <a:solidFill>
                  <a:srgbClr val="1A365D"/>
                </a:solidFill>
                <a:latin typeface="Segoe UI"/>
              </a:rPr>
              <a:t>Cấu trúc khách hàng nói gì cho chương dự báo?</a:t>
            </a:r>
          </a:p>
        </p:txBody>
      </p:sp>
      <p:sp>
        <p:nvSpPr>
          <p:cNvPr id="5" name="TextBox 4"/>
          <p:cNvSpPr txBox="1"/>
          <p:nvPr/>
        </p:nvSpPr>
        <p:spPr>
          <a:xfrm>
            <a:off x="685800" y="1426464"/>
            <a:ext cx="10789920" cy="384048"/>
          </a:xfrm>
          <a:prstGeom prst="rect">
            <a:avLst/>
          </a:prstGeom>
          <a:noFill/>
        </p:spPr>
        <p:txBody>
          <a:bodyPr wrap="square" lIns="0" rIns="0" tIns="0" bIns="0" anchor="t">
            <a:spAutoFit/>
          </a:bodyPr>
          <a:lstStyle/>
          <a:p>
            <a:pPr algn="l">
              <a:lnSpc>
                <a:spcPct val="122000"/>
              </a:lnSpc>
              <a:spcAft>
                <a:spcPts val="0"/>
              </a:spcAft>
            </a:pPr>
            <a:r>
              <a:rPr sz="1450" i="0" b="0">
                <a:solidFill>
                  <a:srgbClr val="5A6570"/>
                </a:solidFill>
                <a:latin typeface="Segoe UI"/>
              </a:rPr>
              <a:t>Ba chế độ, và một ràng buộc mức cho giai đoạn dự báo</a:t>
            </a:r>
          </a:p>
        </p:txBody>
      </p:sp>
      <p:sp>
        <p:nvSpPr>
          <p:cNvPr id="6" name="Rectangle 5"/>
          <p:cNvSpPr/>
          <p:nvPr/>
        </p:nvSpPr>
        <p:spPr>
          <a:xfrm>
            <a:off x="685800" y="1865376"/>
            <a:ext cx="137160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18520" y="6327648"/>
            <a:ext cx="502920" cy="274320"/>
          </a:xfrm>
          <a:prstGeom prst="rect">
            <a:avLst/>
          </a:prstGeom>
          <a:noFill/>
        </p:spPr>
        <p:txBody>
          <a:bodyPr wrap="square" lIns="0" rIns="0" tIns="0" bIns="0" anchor="t">
            <a:spAutoFit/>
          </a:bodyPr>
          <a:lstStyle/>
          <a:p>
            <a:pPr algn="r">
              <a:lnSpc>
                <a:spcPct val="122000"/>
              </a:lnSpc>
              <a:spcAft>
                <a:spcPts val="0"/>
              </a:spcAft>
            </a:pPr>
            <a:r>
              <a:rPr sz="1100" i="0" b="0">
                <a:solidFill>
                  <a:srgbClr val="5A6570"/>
                </a:solidFill>
                <a:latin typeface="Segoe UI"/>
              </a:rPr>
              <a:t>28</a:t>
            </a:r>
          </a:p>
        </p:txBody>
      </p:sp>
      <p:graphicFrame>
        <p:nvGraphicFramePr>
          <p:cNvPr id="8" name="Table 7"/>
          <p:cNvGraphicFramePr>
            <a:graphicFrameLocks noGrp="1"/>
          </p:cNvGraphicFramePr>
          <p:nvPr/>
        </p:nvGraphicFramePr>
        <p:xfrm>
          <a:off x="685800" y="2176272"/>
          <a:ext cx="10817351" cy="1755648"/>
        </p:xfrm>
        <a:graphic>
          <a:graphicData uri="http://schemas.openxmlformats.org/drawingml/2006/table">
            <a:tbl>
              <a:tblPr>
                <a:tableStyleId>{2D5ABB26-0587-4C30-8999-92F81FD0307C}</a:tableStyleId>
              </a:tblPr>
              <a:tblGrid>
                <a:gridCol w="1737360"/>
                <a:gridCol w="6126479"/>
                <a:gridCol w="2953512"/>
              </a:tblGrid>
              <a:tr h="329184">
                <a:tc>
                  <a:txBody>
                    <a:bodyPr wrap="square"/>
                    <a:lstStyle/>
                    <a:p>
                      <a:pPr algn="l">
                        <a:lnSpc>
                          <a:spcPct val="108000"/>
                        </a:lnSpc>
                      </a:pPr>
                      <a:r>
                        <a:rPr sz="1150" i="0" b="1">
                          <a:solidFill>
                            <a:srgbClr val="FFFFFF"/>
                          </a:solidFill>
                          <a:latin typeface="Segoe UI"/>
                        </a:rPr>
                        <a:t>Giai đoạn</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Cơ chế bên dưới</a:t>
                      </a:r>
                    </a:p>
                  </a:txBody>
                  <a:tcPr marL="91440" marR="91440" marT="27432" marB="27432" anchor="ctr">
                    <a:solidFill>
                      <a:srgbClr val="2B6CB0"/>
                    </a:solidFill>
                  </a:tcPr>
                </a:tc>
                <a:tc>
                  <a:txBody>
                    <a:bodyPr wrap="square"/>
                    <a:lstStyle/>
                    <a:p>
                      <a:pPr algn="l">
                        <a:lnSpc>
                          <a:spcPct val="108000"/>
                        </a:lnSpc>
                      </a:pPr>
                      <a:r>
                        <a:rPr sz="1150" i="0" b="1">
                          <a:solidFill>
                            <a:srgbClr val="FFFFFF"/>
                          </a:solidFill>
                          <a:latin typeface="Segoe UI"/>
                        </a:rPr>
                        <a:t>Hệ quả cho mô hình</a:t>
                      </a:r>
                    </a:p>
                  </a:txBody>
                  <a:tcPr marL="91440" marR="91440" marT="27432" marB="27432" anchor="ctr">
                    <a:solidFill>
                      <a:srgbClr val="2B6CB0"/>
                    </a:solidFill>
                  </a:tcPr>
                </a:tc>
              </a:tr>
              <a:tr h="475488">
                <a:tc>
                  <a:txBody>
                    <a:bodyPr wrap="square"/>
                    <a:lstStyle/>
                    <a:p>
                      <a:pPr algn="l">
                        <a:lnSpc>
                          <a:spcPct val="108000"/>
                        </a:lnSpc>
                      </a:pPr>
                      <a:r>
                        <a:rPr sz="1250" i="0" b="0">
                          <a:solidFill>
                            <a:srgbClr val="1A202C"/>
                          </a:solidFill>
                          <a:latin typeface="Segoe UI"/>
                        </a:rPr>
                        <a:t>2014 – 2018</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Cohort chất lượng cao 2013–2015 (retention ~50%/năm) đang sung sức</a:t>
                      </a:r>
                    </a:p>
                  </a:txBody>
                  <a:tcPr marL="91440" marR="91440" marT="27432" marB="27432" anchor="ctr">
                    <a:solidFill>
                      <a:srgbClr val="FFFFFF"/>
                    </a:solidFill>
                  </a:tcPr>
                </a:tc>
                <a:tc>
                  <a:txBody>
                    <a:bodyPr wrap="square"/>
                    <a:lstStyle/>
                    <a:p>
                      <a:pPr algn="l">
                        <a:lnSpc>
                          <a:spcPct val="108000"/>
                        </a:lnSpc>
                      </a:pPr>
                      <a:r>
                        <a:rPr sz="1250" i="0" b="0">
                          <a:solidFill>
                            <a:srgbClr val="2F855A"/>
                          </a:solidFill>
                          <a:latin typeface="Segoe UI"/>
                        </a:rPr>
                        <a:t>Chế độ cao</a:t>
                      </a:r>
                    </a:p>
                  </a:txBody>
                  <a:tcPr marL="91440" marR="91440" marT="27432" marB="27432" anchor="ctr">
                    <a:solidFill>
                      <a:srgbClr val="FFFFFF"/>
                    </a:solidFill>
                  </a:tcPr>
                </a:tc>
              </a:tr>
              <a:tr h="475488">
                <a:tc>
                  <a:txBody>
                    <a:bodyPr wrap="square"/>
                    <a:lstStyle/>
                    <a:p>
                      <a:pPr algn="l">
                        <a:lnSpc>
                          <a:spcPct val="108000"/>
                        </a:lnSpc>
                      </a:pPr>
                      <a:r>
                        <a:rPr sz="1250" i="0" b="0">
                          <a:solidFill>
                            <a:srgbClr val="1A202C"/>
                          </a:solidFill>
                          <a:latin typeface="Segoe UI"/>
                        </a:rPr>
                        <a:t>2019</a:t>
                      </a:r>
                    </a:p>
                  </a:txBody>
                  <a:tcPr marL="91440" marR="91440" marT="27432" marB="27432" anchor="ctr">
                    <a:solidFill>
                      <a:srgbClr val="F1F5F9"/>
                    </a:solidFill>
                  </a:tcPr>
                </a:tc>
                <a:tc>
                  <a:txBody>
                    <a:bodyPr wrap="square"/>
                    <a:lstStyle/>
                    <a:p>
                      <a:pPr algn="l">
                        <a:lnSpc>
                          <a:spcPct val="108000"/>
                        </a:lnSpc>
                      </a:pPr>
                      <a:r>
                        <a:rPr sz="1250" i="0" b="0">
                          <a:solidFill>
                            <a:srgbClr val="1A202C"/>
                          </a:solidFill>
                          <a:latin typeface="Segoe UI"/>
                        </a:rPr>
                        <a:t>Cohort chất lượng cao suy kiệt; cohort thay thế chỉ giữ được ~8%</a:t>
                      </a:r>
                    </a:p>
                  </a:txBody>
                  <a:tcPr marL="91440" marR="91440" marT="27432" marB="27432" anchor="ctr">
                    <a:solidFill>
                      <a:srgbClr val="F1F5F9"/>
                    </a:solidFill>
                  </a:tcPr>
                </a:tc>
                <a:tc>
                  <a:txBody>
                    <a:bodyPr wrap="square"/>
                    <a:lstStyle/>
                    <a:p>
                      <a:pPr algn="l">
                        <a:lnSpc>
                          <a:spcPct val="108000"/>
                        </a:lnSpc>
                      </a:pPr>
                      <a:r>
                        <a:rPr sz="1250" i="0" b="0">
                          <a:solidFill>
                            <a:srgbClr val="C53030"/>
                          </a:solidFill>
                          <a:latin typeface="Segoe UI"/>
                        </a:rPr>
                        <a:t>Điểm gãy</a:t>
                      </a:r>
                    </a:p>
                  </a:txBody>
                  <a:tcPr marL="91440" marR="91440" marT="27432" marB="27432" anchor="ctr">
                    <a:solidFill>
                      <a:srgbClr val="F1F5F9"/>
                    </a:solidFill>
                  </a:tcPr>
                </a:tc>
              </a:tr>
              <a:tr h="475488">
                <a:tc>
                  <a:txBody>
                    <a:bodyPr wrap="square"/>
                    <a:lstStyle/>
                    <a:p>
                      <a:pPr algn="l">
                        <a:lnSpc>
                          <a:spcPct val="108000"/>
                        </a:lnSpc>
                      </a:pPr>
                      <a:r>
                        <a:rPr sz="1250" i="0" b="0">
                          <a:solidFill>
                            <a:srgbClr val="1A202C"/>
                          </a:solidFill>
                          <a:latin typeface="Segoe UI"/>
                        </a:rPr>
                        <a:t>2020 – 2022</a:t>
                      </a:r>
                    </a:p>
                  </a:txBody>
                  <a:tcPr marL="91440" marR="91440" marT="27432" marB="27432" anchor="ctr">
                    <a:solidFill>
                      <a:srgbClr val="FFFFFF"/>
                    </a:solidFill>
                  </a:tcPr>
                </a:tc>
                <a:tc>
                  <a:txBody>
                    <a:bodyPr wrap="square"/>
                    <a:lstStyle/>
                    <a:p>
                      <a:pPr algn="l">
                        <a:lnSpc>
                          <a:spcPct val="108000"/>
                        </a:lnSpc>
                      </a:pPr>
                      <a:r>
                        <a:rPr sz="1250" i="0" b="0">
                          <a:solidFill>
                            <a:srgbClr val="1A202C"/>
                          </a:solidFill>
                          <a:latin typeface="Segoe UI"/>
                        </a:rPr>
                        <a:t>Ổn định ở mức thấp, giữ bởi nền khách lặp lại ~23.000 người</a:t>
                      </a:r>
                    </a:p>
                  </a:txBody>
                  <a:tcPr marL="91440" marR="91440" marT="27432" marB="27432" anchor="ctr">
                    <a:solidFill>
                      <a:srgbClr val="FFFFFF"/>
                    </a:solidFill>
                  </a:tcPr>
                </a:tc>
                <a:tc>
                  <a:txBody>
                    <a:bodyPr wrap="square"/>
                    <a:lstStyle/>
                    <a:p>
                      <a:pPr algn="l">
                        <a:lnSpc>
                          <a:spcPct val="108000"/>
                        </a:lnSpc>
                      </a:pPr>
                      <a:r>
                        <a:rPr sz="1250" i="0" b="0">
                          <a:solidFill>
                            <a:srgbClr val="2B6CB0"/>
                          </a:solidFill>
                          <a:latin typeface="Segoe UI"/>
                        </a:rPr>
                        <a:t>Chế độ thấp, đi ngang</a:t>
                      </a:r>
                    </a:p>
                  </a:txBody>
                  <a:tcPr marL="91440" marR="91440" marT="27432" marB="27432" anchor="ctr">
                    <a:solidFill>
                      <a:srgbClr val="FFFFFF"/>
                    </a:solidFill>
                  </a:tcPr>
                </a:tc>
              </a:tr>
            </a:tbl>
          </a:graphicData>
        </a:graphic>
      </p:graphicFrame>
      <p:sp>
        <p:nvSpPr>
          <p:cNvPr id="9" name="Rounded Rectangle 8"/>
          <p:cNvSpPr/>
          <p:nvPr/>
        </p:nvSpPr>
        <p:spPr>
          <a:xfrm>
            <a:off x="685800" y="4023360"/>
            <a:ext cx="10817352" cy="1883664"/>
          </a:xfrm>
          <a:prstGeom prst="roundRect">
            <a:avLst>
              <a:gd name="adj" fmla="val 6000"/>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4023360"/>
            <a:ext cx="64008" cy="188366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206240"/>
            <a:ext cx="10268712" cy="1517904"/>
          </a:xfrm>
          <a:prstGeom prst="rect">
            <a:avLst/>
          </a:prstGeom>
          <a:noFill/>
        </p:spPr>
        <p:txBody>
          <a:bodyPr wrap="square" lIns="0" rIns="0" tIns="0" bIns="0" anchor="ctr">
            <a:spAutoFit/>
          </a:bodyPr>
          <a:lstStyle/>
          <a:p>
            <a:pPr algn="l">
              <a:lnSpc>
                <a:spcPct val="125000"/>
              </a:lnSpc>
              <a:spcAft>
                <a:spcPts val="500"/>
              </a:spcAft>
            </a:pPr>
            <a:r>
              <a:rPr sz="1350" i="0" b="0">
                <a:solidFill>
                  <a:srgbClr val="1A202C"/>
                </a:solidFill>
                <a:latin typeface="Segoe UI"/>
              </a:rPr>
              <a:t>Ràng buộc mức — </a:t>
            </a:r>
            <a:r>
              <a:rPr sz="1350" i="0" b="1">
                <a:solidFill>
                  <a:srgbClr val="2B6CB0"/>
                </a:solidFill>
                <a:latin typeface="Segoe UI"/>
              </a:rPr>
              <a:t>giả định thứ tư</a:t>
            </a:r>
            <a:r>
              <a:rPr sz="1350" i="0" b="0">
                <a:solidFill>
                  <a:srgbClr val="1A202C"/>
                </a:solidFill>
                <a:latin typeface="Segoe UI"/>
              </a:rPr>
              <a:t> của chương mô hình (kết quả B18):</a:t>
            </a:r>
          </a:p>
          <a:p>
            <a:pPr algn="l">
              <a:lnSpc>
                <a:spcPct val="125000"/>
              </a:lnSpc>
              <a:spcAft>
                <a:spcPts val="500"/>
              </a:spcAft>
            </a:pPr>
            <a:r>
              <a:rPr sz="1350" i="0" b="0">
                <a:solidFill>
                  <a:srgbClr val="1A202C"/>
                </a:solidFill>
                <a:latin typeface="Segoe UI"/>
              </a:rPr>
              <a:t>Ngoại suy xu hướng đơn thuần sẽ dự đoán 2023–2024 </a:t>
            </a:r>
            <a:r>
              <a:rPr sz="1350" i="0" b="1">
                <a:solidFill>
                  <a:srgbClr val="2B6CB0"/>
                </a:solidFill>
                <a:latin typeface="Segoe UI"/>
              </a:rPr>
              <a:t>tiếp tục giảm</a:t>
            </a:r>
            <a:r>
              <a:rPr sz="1350" i="0" b="0">
                <a:solidFill>
                  <a:srgbClr val="1A202C"/>
                </a:solidFill>
                <a:latin typeface="Segoe UI"/>
              </a:rPr>
              <a:t>. Nhưng cấu trúc khách hàng nói </a:t>
            </a:r>
            <a:r>
              <a:rPr sz="1350" i="0" b="1">
                <a:solidFill>
                  <a:srgbClr val="2B6CB0"/>
                </a:solidFill>
                <a:latin typeface="Segoe UI"/>
              </a:rPr>
              <a:t>đi ngang quanh mức 2022</a:t>
            </a:r>
            <a:r>
              <a:rPr sz="1350" i="0" b="0">
                <a:solidFill>
                  <a:srgbClr val="1A202C"/>
                </a:solidFill>
                <a:latin typeface="Segoe UI"/>
              </a:rPr>
              <a:t>.</a:t>
            </a:r>
          </a:p>
          <a:p>
            <a:pPr algn="l">
              <a:lnSpc>
                <a:spcPct val="125000"/>
              </a:lnSpc>
              <a:spcAft>
                <a:spcPts val="500"/>
              </a:spcAft>
            </a:pPr>
            <a:r>
              <a:rPr sz="1350" i="0" b="0">
                <a:solidFill>
                  <a:srgbClr val="1A202C"/>
                </a:solidFill>
                <a:latin typeface="Segoe UI"/>
              </a:rPr>
              <a:t>Cụ thể: doanh thu năm </a:t>
            </a:r>
            <a:r>
              <a:rPr sz="1350" i="0" b="1">
                <a:solidFill>
                  <a:srgbClr val="2B6CB0"/>
                </a:solidFill>
                <a:latin typeface="Segoe UI"/>
              </a:rPr>
              <a:t>1,16 – 1,23 tỷ</a:t>
            </a:r>
            <a:r>
              <a:rPr sz="1350" i="0" b="0">
                <a:solidFill>
                  <a:srgbClr val="1A202C"/>
                </a:solidFill>
                <a:latin typeface="Segoe UI"/>
              </a:rPr>
              <a:t> (thang </a:t>
            </a:r>
            <a:r>
              <a:rPr sz="1242" i="0" b="0">
                <a:solidFill>
                  <a:srgbClr val="1A365D"/>
                </a:solidFill>
                <a:latin typeface="Consolas"/>
              </a:rPr>
              <a:t>sales.csv</a:t>
            </a:r>
            <a:r>
              <a:rPr sz="1350" i="0" b="0">
                <a:solidFill>
                  <a:srgbClr val="1A202C"/>
                </a:solidFill>
                <a:latin typeface="Segoe UI"/>
              </a:rPr>
              <a:t>), nền khách lặp lại KTC 95% </a:t>
            </a:r>
            <a:r>
              <a:rPr sz="1350" i="0" b="1">
                <a:solidFill>
                  <a:srgbClr val="2B6CB0"/>
                </a:solidFill>
                <a:latin typeface="Segoe UI"/>
              </a:rPr>
              <a:t>[22.028 – 23.422]</a:t>
            </a:r>
            <a:r>
              <a:rPr sz="1350" i="0" b="0">
                <a:solidFill>
                  <a:srgbClr val="1A202C"/>
                </a:solidFill>
                <a:latin typeface="Segoe UI"/>
              </a:rPr>
              <a:t> người.</a:t>
            </a:r>
          </a:p>
          <a:p>
            <a:pPr algn="l">
              <a:lnSpc>
                <a:spcPct val="125000"/>
              </a:lnSpc>
              <a:spcAft>
                <a:spcPts val="500"/>
              </a:spcAft>
            </a:pPr>
            <a:r>
              <a:rPr sz="1350" i="0" b="0">
                <a:solidFill>
                  <a:srgbClr val="1A202C"/>
                </a:solidFill>
                <a:latin typeface="Segoe UI"/>
              </a:rPr>
              <a:t>Bổ sung cho ba quyết định kỹ thuật đã có: sample weighting · Fourier seasonality · không dự báo COGS qua tỷ số cố định.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1170432"/>
            <a:ext cx="9875520" cy="320040"/>
          </a:xfrm>
          <a:prstGeom prst="rect">
            <a:avLst/>
          </a:prstGeom>
          <a:noFill/>
        </p:spPr>
        <p:txBody>
          <a:bodyPr wrap="square" lIns="0" rIns="0" tIns="0" bIns="0" anchor="t">
            <a:spAutoFit/>
          </a:bodyPr>
          <a:lstStyle/>
          <a:p>
            <a:pPr algn="l">
              <a:lnSpc>
                <a:spcPct val="122000"/>
              </a:lnSpc>
              <a:spcAft>
                <a:spcPts val="0"/>
              </a:spcAft>
            </a:pPr>
            <a:r>
              <a:rPr sz="1250" i="0" b="1">
                <a:solidFill>
                  <a:srgbClr val="8FB8E0"/>
                </a:solidFill>
                <a:latin typeface="Segoe UI"/>
              </a:rPr>
              <a:t>KHI HỘI ĐỒNG HỎI "CHỨNG MINH ĐI"</a:t>
            </a:r>
          </a:p>
        </p:txBody>
      </p:sp>
      <p:sp>
        <p:nvSpPr>
          <p:cNvPr id="5" name="TextBox 4"/>
          <p:cNvSpPr txBox="1"/>
          <p:nvPr/>
        </p:nvSpPr>
        <p:spPr>
          <a:xfrm>
            <a:off x="1143000" y="1700784"/>
            <a:ext cx="9784080" cy="1920240"/>
          </a:xfrm>
          <a:prstGeom prst="rect">
            <a:avLst/>
          </a:prstGeom>
          <a:noFill/>
        </p:spPr>
        <p:txBody>
          <a:bodyPr wrap="square" lIns="0" rIns="0" tIns="0" bIns="0" anchor="t">
            <a:spAutoFit/>
          </a:bodyPr>
          <a:lstStyle/>
          <a:p>
            <a:pPr algn="l">
              <a:lnSpc>
                <a:spcPct val="135000"/>
              </a:lnSpc>
              <a:spcAft>
                <a:spcPts val="1000"/>
              </a:spcAft>
            </a:pPr>
            <a:r>
              <a:rPr sz="2100" i="0" b="0">
                <a:solidFill>
                  <a:srgbClr val="FFFFFF"/>
                </a:solidFill>
                <a:latin typeface="Segoe UI"/>
              </a:rPr>
              <a:t>“Em không chứng minh từng số riêng lẻ.</a:t>
            </a:r>
          </a:p>
          <a:p>
            <a:pPr algn="l">
              <a:lnSpc>
                <a:spcPct val="135000"/>
              </a:lnSpc>
              <a:spcAft>
                <a:spcPts val="1000"/>
              </a:spcAft>
            </a:pPr>
            <a:r>
              <a:rPr sz="2100" i="0" b="0">
                <a:solidFill>
                  <a:srgbClr val="FFFFFF"/>
                </a:solidFill>
                <a:latin typeface="Segoe UI"/>
              </a:rPr>
              <a:t>Em thiết kế để các số </a:t>
            </a:r>
            <a:r>
              <a:rPr sz="2100" i="0" b="1">
                <a:solidFill>
                  <a:srgbClr val="8FC8F0"/>
                </a:solidFill>
                <a:latin typeface="Segoe UI"/>
              </a:rPr>
              <a:t>buộc phải khớp nhau</a:t>
            </a:r>
            <a:r>
              <a:rPr sz="2100" i="0" b="0">
                <a:solidFill>
                  <a:srgbClr val="FFFFFF"/>
                </a:solidFill>
                <a:latin typeface="Segoe UI"/>
              </a:rPr>
              <a:t> — nếu một số sai thì phép kiểm chéo sẽ vỡ.</a:t>
            </a:r>
          </a:p>
          <a:p>
            <a:pPr algn="l">
              <a:lnSpc>
                <a:spcPct val="135000"/>
              </a:lnSpc>
              <a:spcAft>
                <a:spcPts val="1000"/>
              </a:spcAft>
            </a:pPr>
            <a:r>
              <a:rPr sz="2100" i="0" b="0">
                <a:solidFill>
                  <a:srgbClr val="FFFFFF"/>
                </a:solidFill>
                <a:latin typeface="Segoe UI"/>
              </a:rPr>
              <a:t>Và khi em tự kiểm 31 mục, </a:t>
            </a:r>
            <a:r>
              <a:rPr sz="2100" i="0" b="1">
                <a:solidFill>
                  <a:srgbClr val="8FC8F0"/>
                </a:solidFill>
                <a:latin typeface="Segoe UI"/>
              </a:rPr>
              <a:t>tám chỗ đã vỡ thật</a:t>
            </a:r>
            <a:r>
              <a:rPr sz="2100" i="0" b="0">
                <a:solidFill>
                  <a:srgbClr val="FFFFFF"/>
                </a:solidFill>
                <a:latin typeface="Segoe UI"/>
              </a:rPr>
              <a:t>. Em sửa cả tám, và đây là chúng.”</a:t>
            </a:r>
          </a:p>
        </p:txBody>
      </p:sp>
      <p:sp>
        <p:nvSpPr>
          <p:cNvPr id="6" name="Rectangle 5"/>
          <p:cNvSpPr/>
          <p:nvPr/>
        </p:nvSpPr>
        <p:spPr>
          <a:xfrm>
            <a:off x="1143000" y="3968496"/>
            <a:ext cx="1463040" cy="3200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4297680"/>
            <a:ext cx="10058400" cy="1188720"/>
          </a:xfrm>
          <a:prstGeom prst="rect">
            <a:avLst/>
          </a:prstGeom>
          <a:noFill/>
        </p:spPr>
        <p:txBody>
          <a:bodyPr wrap="square" lIns="0" rIns="0" tIns="0" bIns="0" anchor="t">
            <a:spAutoFit/>
          </a:bodyPr>
          <a:lstStyle/>
          <a:p>
            <a:pPr algn="l">
              <a:lnSpc>
                <a:spcPct val="122000"/>
              </a:lnSpc>
              <a:spcAft>
                <a:spcPts val="500"/>
              </a:spcAft>
            </a:pPr>
            <a:r>
              <a:rPr sz="1350" i="0" b="0">
                <a:solidFill>
                  <a:srgbClr val="9EBEDC"/>
                </a:solidFill>
                <a:latin typeface="Consolas"/>
              </a:rPr>
              <a:t>Tài liệu chính  ·  docs/problem-statement-customer-retention.md</a:t>
            </a:r>
          </a:p>
          <a:p>
            <a:pPr algn="l">
              <a:lnSpc>
                <a:spcPct val="122000"/>
              </a:lnSpc>
              <a:spcAft>
                <a:spcPts val="500"/>
              </a:spcAft>
            </a:pPr>
            <a:r>
              <a:rPr sz="1350" i="0" b="0">
                <a:solidFill>
                  <a:srgbClr val="9EBEDC"/>
                </a:solidFill>
                <a:latin typeface="Consolas"/>
              </a:rPr>
              <a:t>Bản tổng hợp  ·  docs/tong-hop-D2.md</a:t>
            </a:r>
          </a:p>
          <a:p>
            <a:pPr algn="l">
              <a:lnSpc>
                <a:spcPct val="122000"/>
              </a:lnSpc>
              <a:spcAft>
                <a:spcPts val="500"/>
              </a:spcAft>
            </a:pPr>
            <a:r>
              <a:rPr sz="1350" i="0" b="0">
                <a:solidFill>
                  <a:srgbClr val="9EBEDC"/>
                </a:solidFill>
                <a:latin typeface="Consolas"/>
              </a:rPr>
              <a:t>Phản biện 31 mục  ·  docs/phan-bien/cau-hoi-phan-bien-can-kiem.md</a:t>
            </a:r>
          </a:p>
          <a:p>
            <a:pPr algn="l">
              <a:lnSpc>
                <a:spcPct val="122000"/>
              </a:lnSpc>
              <a:spcAft>
                <a:spcPts val="500"/>
              </a:spcAft>
            </a:pPr>
            <a:r>
              <a:rPr sz="1350" i="0" b="0">
                <a:solidFill>
                  <a:srgbClr val="9EBEDC"/>
                </a:solidFill>
                <a:latin typeface="Consolas"/>
              </a:rPr>
              <a:t>Demo 39 ô đã chạy  ·  D2-Demo.ipynb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