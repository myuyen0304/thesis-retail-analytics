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Trước</c:v>
                </c:pt>
              </c:strCache>
            </c:strRef>
          </c:tx>
          <c:spPr>
            <a:solidFill>
              <a:srgbClr val="A9B6CE"/>
            </a:solidFill>
            <a:effectLst/>
          </c:spPr>
          <c:invertIfNegative val="0"/>
          <c:dLbls>
            <c:numFmt formatCode="#,##0" sourceLinked="0"/>
            <c:txPr>
              <a:bodyPr/>
              <a:lstStyle/>
              <a:p>
                <a:pPr>
                  <a:defRPr b="0" i="0" strike="noStrike" sz="1000" u="none">
                    <a:solidFill>
                      <a:srgbClr val="33415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inventory</c:v>
                  </c:pt>
                  <c:pt idx="1">
                    <c:v>payments</c:v>
                  </c:pt>
                  <c:pt idx="2">
                    <c:v>orders</c:v>
                  </c:pt>
                  <c:pt idx="3">
                    <c:v>reviews</c:v>
                  </c:pt>
                  <c:pt idx="4">
                    <c:v>order_items</c:v>
                  </c:pt>
                  <c:pt idx="5">
                    <c:v>products</c:v>
                  </c:pt>
                </c:lvl>
              </c:multiLvlStrCache>
            </c:multiLvlStrRef>
          </c:cat>
          <c:val>
            <c:numRef>
              <c:f>Sheet1!$B$2:$B$7</c:f>
              <c:numCache>
                <c:formatCode>General</c:formatCode>
                <c:ptCount val="6"/>
                <c:pt idx="0">
                  <c:v>17</c:v>
                </c:pt>
                <c:pt idx="1">
                  <c:v>4</c:v>
                </c:pt>
                <c:pt idx="2">
                  <c:v>8</c:v>
                </c:pt>
                <c:pt idx="3">
                  <c:v>7</c:v>
                </c:pt>
                <c:pt idx="4">
                  <c:v>7</c:v>
                </c:pt>
                <c:pt idx="5">
                  <c:v>8</c:v>
                </c:pt>
              </c:numCache>
            </c:numRef>
          </c:val>
        </c:ser>
        <c:ser>
          <c:idx val="1"/>
          <c:order val="1"/>
          <c:tx>
            <c:strRef>
              <c:f>Sheet1!$C$1</c:f>
              <c:strCache>
                <c:ptCount val="1"/>
                <c:pt idx="0">
                  <c:v>Sau</c:v>
                </c:pt>
              </c:strCache>
            </c:strRef>
          </c:tx>
          <c:spPr>
            <a:solidFill>
              <a:srgbClr val="1E2761"/>
            </a:solidFill>
            <a:effectLst/>
          </c:spPr>
          <c:invertIfNegative val="0"/>
          <c:dLbls>
            <c:numFmt formatCode="#,##0" sourceLinked="0"/>
            <c:txPr>
              <a:bodyPr/>
              <a:lstStyle/>
              <a:p>
                <a:pPr>
                  <a:defRPr b="0" i="0" strike="noStrike" sz="1000" u="none">
                    <a:solidFill>
                      <a:srgbClr val="33415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inventory</c:v>
                  </c:pt>
                  <c:pt idx="1">
                    <c:v>payments</c:v>
                  </c:pt>
                  <c:pt idx="2">
                    <c:v>orders</c:v>
                  </c:pt>
                  <c:pt idx="3">
                    <c:v>reviews</c:v>
                  </c:pt>
                  <c:pt idx="4">
                    <c:v>order_items</c:v>
                  </c:pt>
                  <c:pt idx="5">
                    <c:v>products</c:v>
                  </c:pt>
                </c:lvl>
              </c:multiLvlStrCache>
            </c:multiLvlStrRef>
          </c:cat>
          <c:val>
            <c:numRef>
              <c:f>Sheet1!$C$2:$C$7</c:f>
              <c:numCache>
                <c:formatCode>General</c:formatCode>
                <c:ptCount val="6"/>
                <c:pt idx="0">
                  <c:v>7</c:v>
                </c:pt>
                <c:pt idx="1">
                  <c:v>2</c:v>
                </c:pt>
                <c:pt idx="2">
                  <c:v>7</c:v>
                </c:pt>
                <c:pt idx="3">
                  <c:v>6</c:v>
                </c:pt>
                <c:pt idx="4">
                  <c:v>8</c:v>
                </c:pt>
                <c:pt idx="5">
                  <c:v>9</c:v>
                </c:pt>
              </c:numCache>
            </c:numRef>
          </c:val>
        </c:ser>
        <c:dLbls>
          <c:numFmt formatCode="#,##0" sourceLinked="0"/>
          <c:txPr>
            <a:bodyPr/>
            <a:lstStyle/>
            <a:p>
              <a:pPr>
                <a:defRPr b="0" i="0" strike="noStrike" sz="1000" u="none">
                  <a:solidFill>
                    <a:srgbClr val="334155"/>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20"/>
        </c:scaling>
        <c:delete val="0"/>
        <c:axPos val="l"/>
        <c:majorGridlines>
          <c:spPr>
            <a:ln w="12700"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Số cột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3415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 dau: phan em phu trach la lam sach du lieu, tuc lop Silver trong quy trinh.
Ket qua tom tat: 96 cot con 84, giu nguyen toan bo 2.960.736 dong.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bang chia 3 nhom cho de nho. Nhom giao dich la coi loi — doanh thu sinh ra o order_items.
sales la bien muc tieu can du bao. Toan ven tham chieu: 15 quan he, 0 ban ghi mo coi.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 hoi de bi hoi: "sao chua xu ly ngoai lai?" — tra loi bang ranh gioi trach nhiem nay.
Ngoai lai phu thuoc mo hinh se chon: cay quyet dinh khong so, hoi quy tuyen tinh thi so.
Xu ly o day la quyet dinh thay cho buoc chua xay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 mo dau phan lam sach — noi nguyen van: "Buoc Tu dien tim ra 17 canh bao, buoc nay xu ly dung 17 canh bao do."
Ba rang buoc la thu gay an tuong: cho thay em co ky luat truoc khi bat tay 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Luot nhanh slide nay, khong doc het 8 o.
Noi: "Em chia thanh 8 nhom thao tac. Bon nhom co dau sao la noi phai ra quyet dinh — em se di sau vao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Nhan manh: loi nay khong bao loi. Chuong trinh chay binh thuong, ket qua sai.
Do la ly do phai kiem tra khoa chinh o buoc Tu dien truoc khi lam bat cu phep noi bang nao.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 bi hoi "bo cot suy dien co phi khong, nho mo hinh can?" — tra loi: khong, vi tai tao lai duoc
bang mot dong lenh va cong thuc da ghi trong tai lieu. Giu lai moi co hai.
Thuat ngu HTTT nen dung: day chinh la loai phu thuoc bac cau — chuan hoa 3NF.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la slide hay nhat de tra loi cau "sao khong dung thu vien lam sach tu dong?".
Thu vien khong biet applicable_category trong nghia la "ap dung moi danh muc".
No se dien gia tri pho bien nhat va lam sai. Lam sach la quyet dinh nghiep vu, cong cu chi thuc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la vi du cho quy tac "sai nhung co cai thay duoc thi thay the, dung xoa".
first_order_date suy tu bang orders — nguon dang tin hon vi order_date la du lieu giao dich thuc.
Neu bi hoi vi sao khong sua signup_date: khong co can cu nao de sua, chi co can cu de thay.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 chot cua slide nay: "sua mot loi lai de ra loi nang hon".
Neu giang vien hoi tai sao khong xoa cho gon — nhan manh inventory van tham chieu toi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 giang vien hoi "can cu nao de quyet dinh xoa hay giu?" — dung nguyen khung nay tra loi.
Cho thay em co he thong chu khong xu ly tung truong hop roi rac.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tu 17 xuong 7 cot: 6 cot suy dien, 3 cot sao chep tu products, 1 cot hang so.
Nhan manh: khong mat dong nao. Toan bo thao tac deu o muc cot.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trong nhat cua bai. Neu chi con thoi gian noi mot slide, chon slide nay.
Con so 4.054.768 nho hon 4.815.470 o buoc Tu dien vi da loai 3 cot khoa ngoai du thua.
Cong thuc bien muc tieu: Revenue = tong(quantity x unit_price), COGS = tong(quantity x products.cogs).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Dung dung thuat ngu tieng Anh mot cach ho lon. Moi khai niem deu chi ra duoc
no ung voi thao tac nao trong bai. Do la cach chung minh minh hieu chu khong hoc thuoc.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 bai bang ba y nay. Ba canh bao cuoi la loi nhac cho buoc sau — cung cho thay
em hieu buoc lam sach nay phuc vu cai gi, chu khong lam sach cho 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3F"/>
        </a:solidFill>
      </p:bgPr>
    </p:bg>
    <p:spTree>
      <p:nvGrpSpPr>
        <p:cNvPr id="1" name=""/>
        <p:cNvGrpSpPr/>
        <p:nvPr/>
      </p:nvGrpSpPr>
      <p:grpSpPr>
        <a:xfrm>
          <a:off x="0" y="0"/>
          <a:ext cx="0" cy="0"/>
          <a:chOff x="0" y="0"/>
          <a:chExt cx="0" cy="0"/>
        </a:xfrm>
      </p:grpSpPr>
      <p:sp>
        <p:nvSpPr>
          <p:cNvPr id="2" name="Shape 0"/>
          <p:cNvSpPr/>
          <p:nvPr/>
        </p:nvSpPr>
        <p:spPr>
          <a:xfrm>
            <a:off x="8275320" y="1417320"/>
            <a:ext cx="402336" cy="402336"/>
          </a:xfrm>
          <a:prstGeom prst="roundRect">
            <a:avLst>
              <a:gd name="adj" fmla="val 11364"/>
            </a:avLst>
          </a:prstGeom>
          <a:solidFill>
            <a:srgbClr val="CADCFC">
              <a:alpha val="18000"/>
            </a:srgbClr>
          </a:solidFill>
          <a:ln/>
        </p:spPr>
      </p:sp>
      <p:sp>
        <p:nvSpPr>
          <p:cNvPr id="3" name="Shape 1"/>
          <p:cNvSpPr/>
          <p:nvPr/>
        </p:nvSpPr>
        <p:spPr>
          <a:xfrm>
            <a:off x="8842248" y="1417320"/>
            <a:ext cx="402336" cy="402336"/>
          </a:xfrm>
          <a:prstGeom prst="roundRect">
            <a:avLst>
              <a:gd name="adj" fmla="val 11364"/>
            </a:avLst>
          </a:prstGeom>
          <a:solidFill>
            <a:srgbClr val="CADCFC">
              <a:alpha val="18000"/>
            </a:srgbClr>
          </a:solidFill>
          <a:ln/>
        </p:spPr>
      </p:sp>
      <p:sp>
        <p:nvSpPr>
          <p:cNvPr id="4" name="Shape 2"/>
          <p:cNvSpPr/>
          <p:nvPr/>
        </p:nvSpPr>
        <p:spPr>
          <a:xfrm>
            <a:off x="9409176" y="1417320"/>
            <a:ext cx="402336" cy="402336"/>
          </a:xfrm>
          <a:prstGeom prst="roundRect">
            <a:avLst>
              <a:gd name="adj" fmla="val 11364"/>
            </a:avLst>
          </a:prstGeom>
          <a:solidFill>
            <a:srgbClr val="CADCFC">
              <a:alpha val="18000"/>
            </a:srgbClr>
          </a:solidFill>
          <a:ln/>
        </p:spPr>
      </p:sp>
      <p:sp>
        <p:nvSpPr>
          <p:cNvPr id="5" name="Shape 3"/>
          <p:cNvSpPr/>
          <p:nvPr/>
        </p:nvSpPr>
        <p:spPr>
          <a:xfrm>
            <a:off x="9976104" y="1417320"/>
            <a:ext cx="402336" cy="402336"/>
          </a:xfrm>
          <a:prstGeom prst="roundRect">
            <a:avLst>
              <a:gd name="adj" fmla="val 11364"/>
            </a:avLst>
          </a:prstGeom>
          <a:solidFill>
            <a:srgbClr val="D97706">
              <a:alpha val="45000"/>
            </a:srgbClr>
          </a:solidFill>
          <a:ln/>
        </p:spPr>
      </p:sp>
      <p:sp>
        <p:nvSpPr>
          <p:cNvPr id="6" name="Shape 4"/>
          <p:cNvSpPr/>
          <p:nvPr/>
        </p:nvSpPr>
        <p:spPr>
          <a:xfrm>
            <a:off x="10543032" y="1417320"/>
            <a:ext cx="402336" cy="402336"/>
          </a:xfrm>
          <a:prstGeom prst="roundRect">
            <a:avLst>
              <a:gd name="adj" fmla="val 11364"/>
            </a:avLst>
          </a:prstGeom>
          <a:solidFill>
            <a:srgbClr val="CADCFC">
              <a:alpha val="18000"/>
            </a:srgbClr>
          </a:solidFill>
          <a:ln/>
        </p:spPr>
      </p:sp>
      <p:sp>
        <p:nvSpPr>
          <p:cNvPr id="7" name="Shape 5"/>
          <p:cNvSpPr/>
          <p:nvPr/>
        </p:nvSpPr>
        <p:spPr>
          <a:xfrm>
            <a:off x="11109960" y="1417320"/>
            <a:ext cx="402336" cy="402336"/>
          </a:xfrm>
          <a:prstGeom prst="roundRect">
            <a:avLst>
              <a:gd name="adj" fmla="val 11364"/>
            </a:avLst>
          </a:prstGeom>
          <a:solidFill>
            <a:srgbClr val="CADCFC">
              <a:alpha val="18000"/>
            </a:srgbClr>
          </a:solidFill>
          <a:ln/>
        </p:spPr>
      </p:sp>
      <p:sp>
        <p:nvSpPr>
          <p:cNvPr id="8" name="Shape 6"/>
          <p:cNvSpPr/>
          <p:nvPr/>
        </p:nvSpPr>
        <p:spPr>
          <a:xfrm>
            <a:off x="8275320" y="1984248"/>
            <a:ext cx="402336" cy="402336"/>
          </a:xfrm>
          <a:prstGeom prst="roundRect">
            <a:avLst>
              <a:gd name="adj" fmla="val 11364"/>
            </a:avLst>
          </a:prstGeom>
          <a:solidFill>
            <a:srgbClr val="CADCFC">
              <a:alpha val="18000"/>
            </a:srgbClr>
          </a:solidFill>
          <a:ln/>
        </p:spPr>
      </p:sp>
      <p:sp>
        <p:nvSpPr>
          <p:cNvPr id="9" name="Shape 7"/>
          <p:cNvSpPr/>
          <p:nvPr/>
        </p:nvSpPr>
        <p:spPr>
          <a:xfrm>
            <a:off x="8842248" y="1984248"/>
            <a:ext cx="402336" cy="402336"/>
          </a:xfrm>
          <a:prstGeom prst="roundRect">
            <a:avLst>
              <a:gd name="adj" fmla="val 11364"/>
            </a:avLst>
          </a:prstGeom>
          <a:solidFill>
            <a:srgbClr val="CADCFC">
              <a:alpha val="18000"/>
            </a:srgbClr>
          </a:solidFill>
          <a:ln/>
        </p:spPr>
      </p:sp>
      <p:sp>
        <p:nvSpPr>
          <p:cNvPr id="10" name="Shape 8"/>
          <p:cNvSpPr/>
          <p:nvPr/>
        </p:nvSpPr>
        <p:spPr>
          <a:xfrm>
            <a:off x="9409176" y="1984248"/>
            <a:ext cx="402336" cy="402336"/>
          </a:xfrm>
          <a:prstGeom prst="roundRect">
            <a:avLst>
              <a:gd name="adj" fmla="val 11364"/>
            </a:avLst>
          </a:prstGeom>
          <a:solidFill>
            <a:srgbClr val="CADCFC">
              <a:alpha val="18000"/>
            </a:srgbClr>
          </a:solidFill>
          <a:ln/>
        </p:spPr>
      </p:sp>
      <p:sp>
        <p:nvSpPr>
          <p:cNvPr id="11" name="Shape 9"/>
          <p:cNvSpPr/>
          <p:nvPr/>
        </p:nvSpPr>
        <p:spPr>
          <a:xfrm>
            <a:off x="9976104" y="1984248"/>
            <a:ext cx="402336" cy="402336"/>
          </a:xfrm>
          <a:prstGeom prst="roundRect">
            <a:avLst>
              <a:gd name="adj" fmla="val 11364"/>
            </a:avLst>
          </a:prstGeom>
          <a:solidFill>
            <a:srgbClr val="CADCFC">
              <a:alpha val="18000"/>
            </a:srgbClr>
          </a:solidFill>
          <a:ln/>
        </p:spPr>
      </p:sp>
      <p:sp>
        <p:nvSpPr>
          <p:cNvPr id="12" name="Shape 10"/>
          <p:cNvSpPr/>
          <p:nvPr/>
        </p:nvSpPr>
        <p:spPr>
          <a:xfrm>
            <a:off x="10543032" y="1984248"/>
            <a:ext cx="402336" cy="402336"/>
          </a:xfrm>
          <a:prstGeom prst="roundRect">
            <a:avLst>
              <a:gd name="adj" fmla="val 11364"/>
            </a:avLst>
          </a:prstGeom>
          <a:solidFill>
            <a:srgbClr val="D97706">
              <a:alpha val="45000"/>
            </a:srgbClr>
          </a:solidFill>
          <a:ln/>
        </p:spPr>
      </p:sp>
      <p:sp>
        <p:nvSpPr>
          <p:cNvPr id="13" name="Shape 11"/>
          <p:cNvSpPr/>
          <p:nvPr/>
        </p:nvSpPr>
        <p:spPr>
          <a:xfrm>
            <a:off x="11109960" y="1984248"/>
            <a:ext cx="402336" cy="402336"/>
          </a:xfrm>
          <a:prstGeom prst="roundRect">
            <a:avLst>
              <a:gd name="adj" fmla="val 11364"/>
            </a:avLst>
          </a:prstGeom>
          <a:solidFill>
            <a:srgbClr val="CADCFC">
              <a:alpha val="18000"/>
            </a:srgbClr>
          </a:solidFill>
          <a:ln/>
        </p:spPr>
      </p:sp>
      <p:sp>
        <p:nvSpPr>
          <p:cNvPr id="14" name="Shape 12"/>
          <p:cNvSpPr/>
          <p:nvPr/>
        </p:nvSpPr>
        <p:spPr>
          <a:xfrm>
            <a:off x="8275320" y="2551176"/>
            <a:ext cx="402336" cy="402336"/>
          </a:xfrm>
          <a:prstGeom prst="roundRect">
            <a:avLst>
              <a:gd name="adj" fmla="val 11364"/>
            </a:avLst>
          </a:prstGeom>
          <a:solidFill>
            <a:srgbClr val="CADCFC">
              <a:alpha val="18000"/>
            </a:srgbClr>
          </a:solidFill>
          <a:ln/>
        </p:spPr>
      </p:sp>
      <p:sp>
        <p:nvSpPr>
          <p:cNvPr id="15" name="Shape 13"/>
          <p:cNvSpPr/>
          <p:nvPr/>
        </p:nvSpPr>
        <p:spPr>
          <a:xfrm>
            <a:off x="8842248" y="2551176"/>
            <a:ext cx="402336" cy="402336"/>
          </a:xfrm>
          <a:prstGeom prst="roundRect">
            <a:avLst>
              <a:gd name="adj" fmla="val 11364"/>
            </a:avLst>
          </a:prstGeom>
          <a:solidFill>
            <a:srgbClr val="CADCFC">
              <a:alpha val="18000"/>
            </a:srgbClr>
          </a:solidFill>
          <a:ln/>
        </p:spPr>
      </p:sp>
      <p:sp>
        <p:nvSpPr>
          <p:cNvPr id="16" name="Shape 14"/>
          <p:cNvSpPr/>
          <p:nvPr/>
        </p:nvSpPr>
        <p:spPr>
          <a:xfrm>
            <a:off x="9409176" y="2551176"/>
            <a:ext cx="402336" cy="402336"/>
          </a:xfrm>
          <a:prstGeom prst="roundRect">
            <a:avLst>
              <a:gd name="adj" fmla="val 11364"/>
            </a:avLst>
          </a:prstGeom>
          <a:solidFill>
            <a:srgbClr val="CADCFC">
              <a:alpha val="18000"/>
            </a:srgbClr>
          </a:solidFill>
          <a:ln/>
        </p:spPr>
      </p:sp>
      <p:sp>
        <p:nvSpPr>
          <p:cNvPr id="17" name="Shape 15"/>
          <p:cNvSpPr/>
          <p:nvPr/>
        </p:nvSpPr>
        <p:spPr>
          <a:xfrm>
            <a:off x="9976104" y="2551176"/>
            <a:ext cx="402336" cy="402336"/>
          </a:xfrm>
          <a:prstGeom prst="roundRect">
            <a:avLst>
              <a:gd name="adj" fmla="val 11364"/>
            </a:avLst>
          </a:prstGeom>
          <a:solidFill>
            <a:srgbClr val="CADCFC">
              <a:alpha val="18000"/>
            </a:srgbClr>
          </a:solidFill>
          <a:ln/>
        </p:spPr>
      </p:sp>
      <p:sp>
        <p:nvSpPr>
          <p:cNvPr id="18" name="Shape 16"/>
          <p:cNvSpPr/>
          <p:nvPr/>
        </p:nvSpPr>
        <p:spPr>
          <a:xfrm>
            <a:off x="10543032" y="2551176"/>
            <a:ext cx="402336" cy="402336"/>
          </a:xfrm>
          <a:prstGeom prst="roundRect">
            <a:avLst>
              <a:gd name="adj" fmla="val 11364"/>
            </a:avLst>
          </a:prstGeom>
          <a:solidFill>
            <a:srgbClr val="CADCFC">
              <a:alpha val="18000"/>
            </a:srgbClr>
          </a:solidFill>
          <a:ln/>
        </p:spPr>
      </p:sp>
      <p:sp>
        <p:nvSpPr>
          <p:cNvPr id="19" name="Shape 17"/>
          <p:cNvSpPr/>
          <p:nvPr/>
        </p:nvSpPr>
        <p:spPr>
          <a:xfrm>
            <a:off x="11109960" y="2551176"/>
            <a:ext cx="402336" cy="402336"/>
          </a:xfrm>
          <a:prstGeom prst="roundRect">
            <a:avLst>
              <a:gd name="adj" fmla="val 11364"/>
            </a:avLst>
          </a:prstGeom>
          <a:solidFill>
            <a:srgbClr val="D97706">
              <a:alpha val="45000"/>
            </a:srgbClr>
          </a:solidFill>
          <a:ln/>
        </p:spPr>
      </p:sp>
      <p:sp>
        <p:nvSpPr>
          <p:cNvPr id="20" name="Shape 18"/>
          <p:cNvSpPr/>
          <p:nvPr/>
        </p:nvSpPr>
        <p:spPr>
          <a:xfrm>
            <a:off x="8275320" y="3118104"/>
            <a:ext cx="402336" cy="402336"/>
          </a:xfrm>
          <a:prstGeom prst="roundRect">
            <a:avLst>
              <a:gd name="adj" fmla="val 11364"/>
            </a:avLst>
          </a:prstGeom>
          <a:solidFill>
            <a:srgbClr val="CADCFC">
              <a:alpha val="18000"/>
            </a:srgbClr>
          </a:solidFill>
          <a:ln/>
        </p:spPr>
      </p:sp>
      <p:sp>
        <p:nvSpPr>
          <p:cNvPr id="21" name="Shape 19"/>
          <p:cNvSpPr/>
          <p:nvPr/>
        </p:nvSpPr>
        <p:spPr>
          <a:xfrm>
            <a:off x="8842248" y="3118104"/>
            <a:ext cx="402336" cy="402336"/>
          </a:xfrm>
          <a:prstGeom prst="roundRect">
            <a:avLst>
              <a:gd name="adj" fmla="val 11364"/>
            </a:avLst>
          </a:prstGeom>
          <a:solidFill>
            <a:srgbClr val="CADCFC">
              <a:alpha val="18000"/>
            </a:srgbClr>
          </a:solidFill>
          <a:ln/>
        </p:spPr>
      </p:sp>
      <p:sp>
        <p:nvSpPr>
          <p:cNvPr id="22" name="Shape 20"/>
          <p:cNvSpPr/>
          <p:nvPr/>
        </p:nvSpPr>
        <p:spPr>
          <a:xfrm>
            <a:off x="9409176" y="3118104"/>
            <a:ext cx="402336" cy="402336"/>
          </a:xfrm>
          <a:prstGeom prst="roundRect">
            <a:avLst>
              <a:gd name="adj" fmla="val 11364"/>
            </a:avLst>
          </a:prstGeom>
          <a:solidFill>
            <a:srgbClr val="CADCFC">
              <a:alpha val="18000"/>
            </a:srgbClr>
          </a:solidFill>
          <a:ln/>
        </p:spPr>
      </p:sp>
      <p:sp>
        <p:nvSpPr>
          <p:cNvPr id="23" name="Shape 21"/>
          <p:cNvSpPr/>
          <p:nvPr/>
        </p:nvSpPr>
        <p:spPr>
          <a:xfrm>
            <a:off x="9976104" y="3118104"/>
            <a:ext cx="402336" cy="402336"/>
          </a:xfrm>
          <a:prstGeom prst="roundRect">
            <a:avLst>
              <a:gd name="adj" fmla="val 11364"/>
            </a:avLst>
          </a:prstGeom>
          <a:solidFill>
            <a:srgbClr val="CADCFC">
              <a:alpha val="18000"/>
            </a:srgbClr>
          </a:solidFill>
          <a:ln/>
        </p:spPr>
      </p:sp>
      <p:sp>
        <p:nvSpPr>
          <p:cNvPr id="24" name="Shape 22"/>
          <p:cNvSpPr/>
          <p:nvPr/>
        </p:nvSpPr>
        <p:spPr>
          <a:xfrm>
            <a:off x="10543032" y="3118104"/>
            <a:ext cx="402336" cy="402336"/>
          </a:xfrm>
          <a:prstGeom prst="roundRect">
            <a:avLst>
              <a:gd name="adj" fmla="val 11364"/>
            </a:avLst>
          </a:prstGeom>
          <a:solidFill>
            <a:srgbClr val="CADCFC">
              <a:alpha val="18000"/>
            </a:srgbClr>
          </a:solidFill>
          <a:ln/>
        </p:spPr>
      </p:sp>
      <p:sp>
        <p:nvSpPr>
          <p:cNvPr id="25" name="Shape 23"/>
          <p:cNvSpPr/>
          <p:nvPr/>
        </p:nvSpPr>
        <p:spPr>
          <a:xfrm>
            <a:off x="11109960" y="3118104"/>
            <a:ext cx="402336" cy="402336"/>
          </a:xfrm>
          <a:prstGeom prst="roundRect">
            <a:avLst>
              <a:gd name="adj" fmla="val 11364"/>
            </a:avLst>
          </a:prstGeom>
          <a:solidFill>
            <a:srgbClr val="CADCFC">
              <a:alpha val="18000"/>
            </a:srgbClr>
          </a:solidFill>
          <a:ln/>
        </p:spPr>
      </p:sp>
      <p:sp>
        <p:nvSpPr>
          <p:cNvPr id="26" name="Shape 24"/>
          <p:cNvSpPr/>
          <p:nvPr/>
        </p:nvSpPr>
        <p:spPr>
          <a:xfrm>
            <a:off x="8275320" y="3685032"/>
            <a:ext cx="402336" cy="402336"/>
          </a:xfrm>
          <a:prstGeom prst="roundRect">
            <a:avLst>
              <a:gd name="adj" fmla="val 11364"/>
            </a:avLst>
          </a:prstGeom>
          <a:solidFill>
            <a:srgbClr val="D97706">
              <a:alpha val="45000"/>
            </a:srgbClr>
          </a:solidFill>
          <a:ln/>
        </p:spPr>
      </p:sp>
      <p:sp>
        <p:nvSpPr>
          <p:cNvPr id="27" name="Shape 25"/>
          <p:cNvSpPr/>
          <p:nvPr/>
        </p:nvSpPr>
        <p:spPr>
          <a:xfrm>
            <a:off x="8842248" y="3685032"/>
            <a:ext cx="402336" cy="402336"/>
          </a:xfrm>
          <a:prstGeom prst="roundRect">
            <a:avLst>
              <a:gd name="adj" fmla="val 11364"/>
            </a:avLst>
          </a:prstGeom>
          <a:solidFill>
            <a:srgbClr val="CADCFC">
              <a:alpha val="18000"/>
            </a:srgbClr>
          </a:solidFill>
          <a:ln/>
        </p:spPr>
      </p:sp>
      <p:sp>
        <p:nvSpPr>
          <p:cNvPr id="28" name="Shape 26"/>
          <p:cNvSpPr/>
          <p:nvPr/>
        </p:nvSpPr>
        <p:spPr>
          <a:xfrm>
            <a:off x="9409176" y="3685032"/>
            <a:ext cx="402336" cy="402336"/>
          </a:xfrm>
          <a:prstGeom prst="roundRect">
            <a:avLst>
              <a:gd name="adj" fmla="val 11364"/>
            </a:avLst>
          </a:prstGeom>
          <a:solidFill>
            <a:srgbClr val="CADCFC">
              <a:alpha val="18000"/>
            </a:srgbClr>
          </a:solidFill>
          <a:ln/>
        </p:spPr>
      </p:sp>
      <p:sp>
        <p:nvSpPr>
          <p:cNvPr id="29" name="Shape 27"/>
          <p:cNvSpPr/>
          <p:nvPr/>
        </p:nvSpPr>
        <p:spPr>
          <a:xfrm>
            <a:off x="9976104" y="3685032"/>
            <a:ext cx="402336" cy="402336"/>
          </a:xfrm>
          <a:prstGeom prst="roundRect">
            <a:avLst>
              <a:gd name="adj" fmla="val 11364"/>
            </a:avLst>
          </a:prstGeom>
          <a:solidFill>
            <a:srgbClr val="CADCFC">
              <a:alpha val="18000"/>
            </a:srgbClr>
          </a:solidFill>
          <a:ln/>
        </p:spPr>
      </p:sp>
      <p:sp>
        <p:nvSpPr>
          <p:cNvPr id="30" name="Shape 28"/>
          <p:cNvSpPr/>
          <p:nvPr/>
        </p:nvSpPr>
        <p:spPr>
          <a:xfrm>
            <a:off x="10543032" y="3685032"/>
            <a:ext cx="402336" cy="402336"/>
          </a:xfrm>
          <a:prstGeom prst="roundRect">
            <a:avLst>
              <a:gd name="adj" fmla="val 11364"/>
            </a:avLst>
          </a:prstGeom>
          <a:solidFill>
            <a:srgbClr val="CADCFC">
              <a:alpha val="18000"/>
            </a:srgbClr>
          </a:solidFill>
          <a:ln/>
        </p:spPr>
      </p:sp>
      <p:sp>
        <p:nvSpPr>
          <p:cNvPr id="31" name="Shape 29"/>
          <p:cNvSpPr/>
          <p:nvPr/>
        </p:nvSpPr>
        <p:spPr>
          <a:xfrm>
            <a:off x="11109960" y="3685032"/>
            <a:ext cx="402336" cy="402336"/>
          </a:xfrm>
          <a:prstGeom prst="roundRect">
            <a:avLst>
              <a:gd name="adj" fmla="val 11364"/>
            </a:avLst>
          </a:prstGeom>
          <a:solidFill>
            <a:srgbClr val="CADCFC">
              <a:alpha val="18000"/>
            </a:srgbClr>
          </a:solidFill>
          <a:ln/>
        </p:spPr>
      </p:sp>
      <p:sp>
        <p:nvSpPr>
          <p:cNvPr id="32" name="Shape 30"/>
          <p:cNvSpPr/>
          <p:nvPr/>
        </p:nvSpPr>
        <p:spPr>
          <a:xfrm>
            <a:off x="8275320" y="4251960"/>
            <a:ext cx="402336" cy="402336"/>
          </a:xfrm>
          <a:prstGeom prst="roundRect">
            <a:avLst>
              <a:gd name="adj" fmla="val 11364"/>
            </a:avLst>
          </a:prstGeom>
          <a:solidFill>
            <a:srgbClr val="CADCFC">
              <a:alpha val="18000"/>
            </a:srgbClr>
          </a:solidFill>
          <a:ln/>
        </p:spPr>
      </p:sp>
      <p:sp>
        <p:nvSpPr>
          <p:cNvPr id="33" name="Shape 31"/>
          <p:cNvSpPr/>
          <p:nvPr/>
        </p:nvSpPr>
        <p:spPr>
          <a:xfrm>
            <a:off x="8842248" y="4251960"/>
            <a:ext cx="402336" cy="402336"/>
          </a:xfrm>
          <a:prstGeom prst="roundRect">
            <a:avLst>
              <a:gd name="adj" fmla="val 11364"/>
            </a:avLst>
          </a:prstGeom>
          <a:solidFill>
            <a:srgbClr val="D97706">
              <a:alpha val="45000"/>
            </a:srgbClr>
          </a:solidFill>
          <a:ln/>
        </p:spPr>
      </p:sp>
      <p:sp>
        <p:nvSpPr>
          <p:cNvPr id="34" name="Shape 32"/>
          <p:cNvSpPr/>
          <p:nvPr/>
        </p:nvSpPr>
        <p:spPr>
          <a:xfrm>
            <a:off x="9409176" y="4251960"/>
            <a:ext cx="402336" cy="402336"/>
          </a:xfrm>
          <a:prstGeom prst="roundRect">
            <a:avLst>
              <a:gd name="adj" fmla="val 11364"/>
            </a:avLst>
          </a:prstGeom>
          <a:solidFill>
            <a:srgbClr val="CADCFC">
              <a:alpha val="18000"/>
            </a:srgbClr>
          </a:solidFill>
          <a:ln/>
        </p:spPr>
      </p:sp>
      <p:sp>
        <p:nvSpPr>
          <p:cNvPr id="35" name="Shape 33"/>
          <p:cNvSpPr/>
          <p:nvPr/>
        </p:nvSpPr>
        <p:spPr>
          <a:xfrm>
            <a:off x="9976104" y="4251960"/>
            <a:ext cx="402336" cy="402336"/>
          </a:xfrm>
          <a:prstGeom prst="roundRect">
            <a:avLst>
              <a:gd name="adj" fmla="val 11364"/>
            </a:avLst>
          </a:prstGeom>
          <a:solidFill>
            <a:srgbClr val="CADCFC">
              <a:alpha val="18000"/>
            </a:srgbClr>
          </a:solidFill>
          <a:ln/>
        </p:spPr>
      </p:sp>
      <p:sp>
        <p:nvSpPr>
          <p:cNvPr id="36" name="Shape 34"/>
          <p:cNvSpPr/>
          <p:nvPr/>
        </p:nvSpPr>
        <p:spPr>
          <a:xfrm>
            <a:off x="10543032" y="4251960"/>
            <a:ext cx="402336" cy="402336"/>
          </a:xfrm>
          <a:prstGeom prst="roundRect">
            <a:avLst>
              <a:gd name="adj" fmla="val 11364"/>
            </a:avLst>
          </a:prstGeom>
          <a:solidFill>
            <a:srgbClr val="CADCFC">
              <a:alpha val="18000"/>
            </a:srgbClr>
          </a:solidFill>
          <a:ln/>
        </p:spPr>
      </p:sp>
      <p:sp>
        <p:nvSpPr>
          <p:cNvPr id="37" name="Shape 35"/>
          <p:cNvSpPr/>
          <p:nvPr/>
        </p:nvSpPr>
        <p:spPr>
          <a:xfrm>
            <a:off x="11109960" y="4251960"/>
            <a:ext cx="402336" cy="402336"/>
          </a:xfrm>
          <a:prstGeom prst="roundRect">
            <a:avLst>
              <a:gd name="adj" fmla="val 11364"/>
            </a:avLst>
          </a:prstGeom>
          <a:solidFill>
            <a:srgbClr val="CADCFC">
              <a:alpha val="18000"/>
            </a:srgbClr>
          </a:solidFill>
          <a:ln/>
        </p:spPr>
      </p:sp>
      <p:sp>
        <p:nvSpPr>
          <p:cNvPr id="38" name="Text 36"/>
          <p:cNvSpPr/>
          <p:nvPr/>
        </p:nvSpPr>
        <p:spPr>
          <a:xfrm>
            <a:off x="566928" y="1883664"/>
            <a:ext cx="7406640" cy="86868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LÀM SẠCH DỮ LIỆU</a:t>
            </a:r>
            <a:endParaRPr lang="en-US" sz="4600" dirty="0"/>
          </a:p>
        </p:txBody>
      </p:sp>
      <p:sp>
        <p:nvSpPr>
          <p:cNvPr id="39" name="Text 37"/>
          <p:cNvSpPr/>
          <p:nvPr/>
        </p:nvSpPr>
        <p:spPr>
          <a:xfrm>
            <a:off x="566928" y="2798064"/>
            <a:ext cx="7406640" cy="384048"/>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Data Cleaning — Xây dựng lớp dữ liệu Silver</a:t>
            </a:r>
            <a:endParaRPr lang="en-US" sz="1900" dirty="0"/>
          </a:p>
        </p:txBody>
      </p:sp>
      <p:sp>
        <p:nvSpPr>
          <p:cNvPr id="40" name="Text 38"/>
          <p:cNvSpPr/>
          <p:nvPr/>
        </p:nvSpPr>
        <p:spPr>
          <a:xfrm>
            <a:off x="566928" y="3273552"/>
            <a:ext cx="7406640" cy="329184"/>
          </a:xfrm>
          <a:prstGeom prst="rect">
            <a:avLst/>
          </a:prstGeom>
          <a:noFill/>
          <a:ln/>
        </p:spPr>
        <p:txBody>
          <a:bodyPr wrap="square" lIns="0" tIns="0" rIns="0" bIns="0" rtlCol="0" anchor="ctr"/>
          <a:lstStyle/>
          <a:p>
            <a:pPr indent="0" marL="0">
              <a:buNone/>
            </a:pPr>
            <a:r>
              <a:rPr lang="en-US" sz="1350" i="1" dirty="0">
                <a:solidFill>
                  <a:srgbClr val="8FA3C8"/>
                </a:solidFill>
                <a:latin typeface="Calibri" pitchFamily="34" charset="0"/>
                <a:ea typeface="Calibri" pitchFamily="34" charset="-122"/>
                <a:cs typeface="Calibri" pitchFamily="34" charset="-120"/>
              </a:rPr>
              <a:t>Khóa luận tốt nghiệp · Dự báo doanh thu và giá vốn hàng bán theo ngày</a:t>
            </a:r>
            <a:endParaRPr lang="en-US" sz="1350" dirty="0"/>
          </a:p>
        </p:txBody>
      </p:sp>
      <p:sp>
        <p:nvSpPr>
          <p:cNvPr id="41" name="Shape 39"/>
          <p:cNvSpPr/>
          <p:nvPr/>
        </p:nvSpPr>
        <p:spPr>
          <a:xfrm>
            <a:off x="566928" y="4224528"/>
            <a:ext cx="2286000" cy="969264"/>
          </a:xfrm>
          <a:prstGeom prst="roundRect">
            <a:avLst>
              <a:gd name="adj" fmla="val 7547"/>
            </a:avLst>
          </a:prstGeom>
          <a:solidFill>
            <a:srgbClr val="FFFFFF">
              <a:alpha val="10000"/>
            </a:srgbClr>
          </a:solidFill>
          <a:ln/>
        </p:spPr>
      </p:sp>
      <p:sp>
        <p:nvSpPr>
          <p:cNvPr id="42" name="Text 40"/>
          <p:cNvSpPr/>
          <p:nvPr/>
        </p:nvSpPr>
        <p:spPr>
          <a:xfrm>
            <a:off x="566928" y="4334256"/>
            <a:ext cx="2286000" cy="402336"/>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14</a:t>
            </a:r>
            <a:endParaRPr lang="en-US" sz="2100" dirty="0"/>
          </a:p>
        </p:txBody>
      </p:sp>
      <p:sp>
        <p:nvSpPr>
          <p:cNvPr id="43" name="Text 41"/>
          <p:cNvSpPr/>
          <p:nvPr/>
        </p:nvSpPr>
        <p:spPr>
          <a:xfrm>
            <a:off x="566928" y="4736592"/>
            <a:ext cx="2286000" cy="27432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bảng dữ liệu</a:t>
            </a:r>
            <a:endParaRPr lang="en-US" sz="1150" dirty="0"/>
          </a:p>
        </p:txBody>
      </p:sp>
      <p:sp>
        <p:nvSpPr>
          <p:cNvPr id="44" name="Shape 42"/>
          <p:cNvSpPr/>
          <p:nvPr/>
        </p:nvSpPr>
        <p:spPr>
          <a:xfrm>
            <a:off x="3054096" y="4224528"/>
            <a:ext cx="2286000" cy="969264"/>
          </a:xfrm>
          <a:prstGeom prst="roundRect">
            <a:avLst>
              <a:gd name="adj" fmla="val 7547"/>
            </a:avLst>
          </a:prstGeom>
          <a:solidFill>
            <a:srgbClr val="FFFFFF">
              <a:alpha val="10000"/>
            </a:srgbClr>
          </a:solidFill>
          <a:ln/>
        </p:spPr>
      </p:sp>
      <p:sp>
        <p:nvSpPr>
          <p:cNvPr id="45" name="Text 43"/>
          <p:cNvSpPr/>
          <p:nvPr/>
        </p:nvSpPr>
        <p:spPr>
          <a:xfrm>
            <a:off x="3054096" y="4334256"/>
            <a:ext cx="2286000" cy="402336"/>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2,96 triệu</a:t>
            </a:r>
            <a:endParaRPr lang="en-US" sz="2100" dirty="0"/>
          </a:p>
        </p:txBody>
      </p:sp>
      <p:sp>
        <p:nvSpPr>
          <p:cNvPr id="46" name="Text 44"/>
          <p:cNvSpPr/>
          <p:nvPr/>
        </p:nvSpPr>
        <p:spPr>
          <a:xfrm>
            <a:off x="3054096" y="4736592"/>
            <a:ext cx="2286000" cy="27432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dòng bản ghi</a:t>
            </a:r>
            <a:endParaRPr lang="en-US" sz="1150" dirty="0"/>
          </a:p>
        </p:txBody>
      </p:sp>
      <p:sp>
        <p:nvSpPr>
          <p:cNvPr id="47" name="Shape 45"/>
          <p:cNvSpPr/>
          <p:nvPr/>
        </p:nvSpPr>
        <p:spPr>
          <a:xfrm>
            <a:off x="5541264" y="4224528"/>
            <a:ext cx="2286000" cy="969264"/>
          </a:xfrm>
          <a:prstGeom prst="roundRect">
            <a:avLst>
              <a:gd name="adj" fmla="val 7547"/>
            </a:avLst>
          </a:prstGeom>
          <a:solidFill>
            <a:srgbClr val="FFFFFF">
              <a:alpha val="10000"/>
            </a:srgbClr>
          </a:solidFill>
          <a:ln/>
        </p:spPr>
      </p:sp>
      <p:sp>
        <p:nvSpPr>
          <p:cNvPr id="48" name="Text 46"/>
          <p:cNvSpPr/>
          <p:nvPr/>
        </p:nvSpPr>
        <p:spPr>
          <a:xfrm>
            <a:off x="5541264" y="4334256"/>
            <a:ext cx="2286000" cy="402336"/>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96 → 84</a:t>
            </a:r>
            <a:endParaRPr lang="en-US" sz="2100" dirty="0"/>
          </a:p>
        </p:txBody>
      </p:sp>
      <p:sp>
        <p:nvSpPr>
          <p:cNvPr id="49" name="Text 47"/>
          <p:cNvSpPr/>
          <p:nvPr/>
        </p:nvSpPr>
        <p:spPr>
          <a:xfrm>
            <a:off x="5541264" y="4736592"/>
            <a:ext cx="2286000" cy="27432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cột sau làm sạch</a:t>
            </a:r>
            <a:endParaRPr lang="en-US" sz="1150" dirty="0"/>
          </a:p>
        </p:txBody>
      </p:sp>
      <p:sp>
        <p:nvSpPr>
          <p:cNvPr id="50" name="Text 48"/>
          <p:cNvSpPr/>
          <p:nvPr/>
        </p:nvSpPr>
        <p:spPr>
          <a:xfrm>
            <a:off x="566928" y="5989320"/>
            <a:ext cx="8229600" cy="292608"/>
          </a:xfrm>
          <a:prstGeom prst="rect">
            <a:avLst/>
          </a:prstGeom>
          <a:noFill/>
          <a:ln/>
        </p:spPr>
        <p:txBody>
          <a:bodyPr wrap="square" lIns="0" tIns="0" rIns="0" bIns="0" rtlCol="0" anchor="ctr"/>
          <a:lstStyle/>
          <a:p>
            <a:pPr indent="0" marL="0">
              <a:buNone/>
            </a:pPr>
            <a:r>
              <a:rPr lang="en-US" sz="1200" dirty="0">
                <a:solidFill>
                  <a:srgbClr val="7B8DB0"/>
                </a:solidFill>
                <a:latin typeface="Calibri" pitchFamily="34" charset="0"/>
                <a:ea typeface="Calibri" pitchFamily="34" charset="-122"/>
                <a:cs typeface="Calibri" pitchFamily="34" charset="-120"/>
              </a:rPr>
              <a:t>Ngành Hệ thống thông tin · Trường Đại học Công nghiệp TP. Hồ Chí Minh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Bộ dữ liệu đầu vào</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Thương mại điện tử thời trang · 04/07/2012 → 31/12/2022 · không thiếu ngày nào</a:t>
            </a:r>
            <a:endParaRPr lang="en-US" sz="1350" dirty="0"/>
          </a:p>
        </p:txBody>
      </p:sp>
      <p:sp>
        <p:nvSpPr>
          <p:cNvPr id="4" name="Shape 2"/>
          <p:cNvSpPr/>
          <p:nvPr/>
        </p:nvSpPr>
        <p:spPr>
          <a:xfrm>
            <a:off x="566928" y="1517904"/>
            <a:ext cx="2558720" cy="1225296"/>
          </a:xfrm>
          <a:prstGeom prst="roundRect">
            <a:avLst>
              <a:gd name="adj" fmla="val 5970"/>
            </a:avLst>
          </a:prstGeom>
          <a:solidFill>
            <a:srgbClr val="EEF2FA"/>
          </a:solidFill>
          <a:ln/>
          <a:effectLst>
            <a:outerShdw sx="100000" sy="100000" kx="0" ky="0" algn="bl" rotWithShape="0" blurRad="127000" dist="25400" dir="5400000">
              <a:srgbClr val="9AA8C0">
                <a:alpha val="28000"/>
              </a:srgbClr>
            </a:outerShdw>
          </a:effectLst>
        </p:spPr>
      </p:sp>
      <p:sp>
        <p:nvSpPr>
          <p:cNvPr id="5" name="Text 3"/>
          <p:cNvSpPr/>
          <p:nvPr/>
        </p:nvSpPr>
        <p:spPr>
          <a:xfrm>
            <a:off x="566928" y="1664208"/>
            <a:ext cx="2558720" cy="566928"/>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14</a:t>
            </a:r>
            <a:endParaRPr lang="en-US" sz="3000" dirty="0"/>
          </a:p>
        </p:txBody>
      </p:sp>
      <p:sp>
        <p:nvSpPr>
          <p:cNvPr id="6" name="Text 4"/>
          <p:cNvSpPr/>
          <p:nvPr/>
        </p:nvSpPr>
        <p:spPr>
          <a:xfrm>
            <a:off x="566928" y="2231136"/>
            <a:ext cx="2558720" cy="292608"/>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bảng dữ liệu</a:t>
            </a:r>
            <a:endParaRPr lang="en-US" sz="1250" dirty="0"/>
          </a:p>
        </p:txBody>
      </p:sp>
      <p:sp>
        <p:nvSpPr>
          <p:cNvPr id="7" name="Shape 5"/>
          <p:cNvSpPr/>
          <p:nvPr/>
        </p:nvSpPr>
        <p:spPr>
          <a:xfrm>
            <a:off x="3399968" y="1517904"/>
            <a:ext cx="2558720" cy="1225296"/>
          </a:xfrm>
          <a:prstGeom prst="roundRect">
            <a:avLst>
              <a:gd name="adj" fmla="val 5970"/>
            </a:avLst>
          </a:prstGeom>
          <a:solidFill>
            <a:srgbClr val="EEF2FA"/>
          </a:solidFill>
          <a:ln/>
          <a:effectLst>
            <a:outerShdw sx="100000" sy="100000" kx="0" ky="0" algn="bl" rotWithShape="0" blurRad="127000" dist="25400" dir="5400000">
              <a:srgbClr val="9AA8C0">
                <a:alpha val="28000"/>
              </a:srgbClr>
            </a:outerShdw>
          </a:effectLst>
        </p:spPr>
      </p:sp>
      <p:sp>
        <p:nvSpPr>
          <p:cNvPr id="8" name="Text 6"/>
          <p:cNvSpPr/>
          <p:nvPr/>
        </p:nvSpPr>
        <p:spPr>
          <a:xfrm>
            <a:off x="3399968" y="1664208"/>
            <a:ext cx="2558720" cy="566928"/>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2.960.736</a:t>
            </a:r>
            <a:endParaRPr lang="en-US" sz="3000" dirty="0"/>
          </a:p>
        </p:txBody>
      </p:sp>
      <p:sp>
        <p:nvSpPr>
          <p:cNvPr id="9" name="Text 7"/>
          <p:cNvSpPr/>
          <p:nvPr/>
        </p:nvSpPr>
        <p:spPr>
          <a:xfrm>
            <a:off x="3399968" y="2231136"/>
            <a:ext cx="2558720" cy="292608"/>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dòng bản ghi</a:t>
            </a:r>
            <a:endParaRPr lang="en-US" sz="1250" dirty="0"/>
          </a:p>
        </p:txBody>
      </p:sp>
      <p:sp>
        <p:nvSpPr>
          <p:cNvPr id="10" name="Shape 8"/>
          <p:cNvSpPr/>
          <p:nvPr/>
        </p:nvSpPr>
        <p:spPr>
          <a:xfrm>
            <a:off x="6233008" y="1517904"/>
            <a:ext cx="2558720" cy="1225296"/>
          </a:xfrm>
          <a:prstGeom prst="roundRect">
            <a:avLst>
              <a:gd name="adj" fmla="val 5970"/>
            </a:avLst>
          </a:prstGeom>
          <a:solidFill>
            <a:srgbClr val="EEF2FA"/>
          </a:solidFill>
          <a:ln/>
          <a:effectLst>
            <a:outerShdw sx="100000" sy="100000" kx="0" ky="0" algn="bl" rotWithShape="0" blurRad="127000" dist="25400" dir="5400000">
              <a:srgbClr val="9AA8C0">
                <a:alpha val="28000"/>
              </a:srgbClr>
            </a:outerShdw>
          </a:effectLst>
        </p:spPr>
      </p:sp>
      <p:sp>
        <p:nvSpPr>
          <p:cNvPr id="11" name="Text 9"/>
          <p:cNvSpPr/>
          <p:nvPr/>
        </p:nvSpPr>
        <p:spPr>
          <a:xfrm>
            <a:off x="6233008" y="1664208"/>
            <a:ext cx="2558720" cy="566928"/>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96</a:t>
            </a:r>
            <a:endParaRPr lang="en-US" sz="3000" dirty="0"/>
          </a:p>
        </p:txBody>
      </p:sp>
      <p:sp>
        <p:nvSpPr>
          <p:cNvPr id="12" name="Text 10"/>
          <p:cNvSpPr/>
          <p:nvPr/>
        </p:nvSpPr>
        <p:spPr>
          <a:xfrm>
            <a:off x="6233008" y="2231136"/>
            <a:ext cx="2558720" cy="292608"/>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cột thuộc tính</a:t>
            </a:r>
            <a:endParaRPr lang="en-US" sz="1250" dirty="0"/>
          </a:p>
        </p:txBody>
      </p:sp>
      <p:sp>
        <p:nvSpPr>
          <p:cNvPr id="13" name="Shape 11"/>
          <p:cNvSpPr/>
          <p:nvPr/>
        </p:nvSpPr>
        <p:spPr>
          <a:xfrm>
            <a:off x="9066047" y="1517904"/>
            <a:ext cx="2558720" cy="1225296"/>
          </a:xfrm>
          <a:prstGeom prst="roundRect">
            <a:avLst>
              <a:gd name="adj" fmla="val 5970"/>
            </a:avLst>
          </a:prstGeom>
          <a:solidFill>
            <a:srgbClr val="EEF2FA"/>
          </a:solidFill>
          <a:ln/>
          <a:effectLst>
            <a:outerShdw sx="100000" sy="100000" kx="0" ky="0" algn="bl" rotWithShape="0" blurRad="127000" dist="25400" dir="5400000">
              <a:srgbClr val="9AA8C0">
                <a:alpha val="28000"/>
              </a:srgbClr>
            </a:outerShdw>
          </a:effectLst>
        </p:spPr>
      </p:sp>
      <p:sp>
        <p:nvSpPr>
          <p:cNvPr id="14" name="Text 12"/>
          <p:cNvSpPr/>
          <p:nvPr/>
        </p:nvSpPr>
        <p:spPr>
          <a:xfrm>
            <a:off x="9066047" y="1664208"/>
            <a:ext cx="2558720" cy="566928"/>
          </a:xfrm>
          <a:prstGeom prst="rect">
            <a:avLst/>
          </a:prstGeom>
          <a:noFill/>
          <a:ln/>
        </p:spPr>
        <p:txBody>
          <a:bodyPr wrap="square" lIns="0" tIns="0" rIns="0" bIns="0" rtlCol="0" anchor="ctr"/>
          <a:lstStyle/>
          <a:p>
            <a:pPr algn="ctr" indent="0" marL="0">
              <a:buNone/>
            </a:pPr>
            <a:r>
              <a:rPr lang="en-US" sz="3000" b="1" dirty="0">
                <a:solidFill>
                  <a:srgbClr val="15803D"/>
                </a:solidFill>
                <a:latin typeface="Cambria" pitchFamily="34" charset="0"/>
                <a:ea typeface="Cambria" pitchFamily="34" charset="-122"/>
                <a:cs typeface="Cambria" pitchFamily="34" charset="-120"/>
              </a:rPr>
              <a:t>3.833</a:t>
            </a:r>
            <a:endParaRPr lang="en-US" sz="3000" dirty="0"/>
          </a:p>
        </p:txBody>
      </p:sp>
      <p:sp>
        <p:nvSpPr>
          <p:cNvPr id="15" name="Text 13"/>
          <p:cNvSpPr/>
          <p:nvPr/>
        </p:nvSpPr>
        <p:spPr>
          <a:xfrm>
            <a:off x="9066047" y="2231136"/>
            <a:ext cx="2558720" cy="292608"/>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ngày liên tục</a:t>
            </a:r>
            <a:endParaRPr lang="en-US" sz="1250" dirty="0"/>
          </a:p>
        </p:txBody>
      </p:sp>
      <p:sp>
        <p:nvSpPr>
          <p:cNvPr id="16" name="Shape 14"/>
          <p:cNvSpPr/>
          <p:nvPr/>
        </p:nvSpPr>
        <p:spPr>
          <a:xfrm>
            <a:off x="566928" y="3035808"/>
            <a:ext cx="3490874" cy="3127248"/>
          </a:xfrm>
          <a:prstGeom prst="roundRect">
            <a:avLst>
              <a:gd name="adj" fmla="val 2339"/>
            </a:avLst>
          </a:prstGeom>
          <a:solidFill>
            <a:srgbClr val="EEF2FA"/>
          </a:solidFill>
          <a:ln/>
          <a:effectLst>
            <a:outerShdw sx="100000" sy="100000" kx="0" ky="0" algn="bl" rotWithShape="0" blurRad="127000" dist="25400" dir="5400000">
              <a:srgbClr val="9AA8C0">
                <a:alpha val="28000"/>
              </a:srgbClr>
            </a:outerShdw>
          </a:effectLst>
        </p:spPr>
      </p:sp>
      <p:sp>
        <p:nvSpPr>
          <p:cNvPr id="17" name="Shape 15"/>
          <p:cNvSpPr/>
          <p:nvPr/>
        </p:nvSpPr>
        <p:spPr>
          <a:xfrm>
            <a:off x="804672" y="3273552"/>
            <a:ext cx="310896" cy="310896"/>
          </a:xfrm>
          <a:prstGeom prst="ellipse">
            <a:avLst/>
          </a:prstGeom>
          <a:solidFill>
            <a:srgbClr val="1E2761"/>
          </a:solidFill>
          <a:ln/>
        </p:spPr>
      </p:sp>
      <p:sp>
        <p:nvSpPr>
          <p:cNvPr id="18" name="Text 16"/>
          <p:cNvSpPr/>
          <p:nvPr/>
        </p:nvSpPr>
        <p:spPr>
          <a:xfrm>
            <a:off x="804672" y="32735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p:nvPr/>
        </p:nvSpPr>
        <p:spPr>
          <a:xfrm>
            <a:off x="1207008" y="3246120"/>
            <a:ext cx="2649626" cy="274320"/>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Nhóm giao dịch</a:t>
            </a:r>
            <a:endParaRPr lang="en-US" sz="1500" dirty="0"/>
          </a:p>
        </p:txBody>
      </p:sp>
      <p:sp>
        <p:nvSpPr>
          <p:cNvPr id="20" name="Text 18"/>
          <p:cNvSpPr/>
          <p:nvPr/>
        </p:nvSpPr>
        <p:spPr>
          <a:xfrm>
            <a:off x="1207008" y="3511296"/>
            <a:ext cx="2649626" cy="23774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Chuyện gì đã xảy ra</a:t>
            </a:r>
            <a:endParaRPr lang="en-US" sz="1100" dirty="0"/>
          </a:p>
        </p:txBody>
      </p:sp>
      <p:sp>
        <p:nvSpPr>
          <p:cNvPr id="21" name="Text 19"/>
          <p:cNvSpPr/>
          <p:nvPr/>
        </p:nvSpPr>
        <p:spPr>
          <a:xfrm>
            <a:off x="841248" y="3840480"/>
            <a:ext cx="2942234" cy="2194560"/>
          </a:xfrm>
          <a:prstGeom prst="rect">
            <a:avLst/>
          </a:prstGeom>
          <a:noFill/>
          <a:ln/>
        </p:spPr>
        <p:txBody>
          <a:bodyPr wrap="square" lIns="0" tIns="0" rIns="0" bIns="0" rtlCol="0" anchor="t"/>
          <a:lstStyle/>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orders — 646.945 đơn</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order_items — 714.669 dòng hàng</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payments — 646.945</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shipments — 566.067 (phủ 87,5%)</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returns — 39.939</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reviews — 113.551</a:t>
            </a:r>
            <a:endParaRPr lang="en-US" sz="1200" dirty="0"/>
          </a:p>
        </p:txBody>
      </p:sp>
      <p:sp>
        <p:nvSpPr>
          <p:cNvPr id="22" name="Shape 20"/>
          <p:cNvSpPr/>
          <p:nvPr/>
        </p:nvSpPr>
        <p:spPr>
          <a:xfrm>
            <a:off x="4350410" y="3035808"/>
            <a:ext cx="3490874" cy="3127248"/>
          </a:xfrm>
          <a:prstGeom prst="roundRect">
            <a:avLst>
              <a:gd name="adj" fmla="val 2339"/>
            </a:avLst>
          </a:prstGeom>
          <a:solidFill>
            <a:srgbClr val="EEF2FA"/>
          </a:solidFill>
          <a:ln/>
          <a:effectLst>
            <a:outerShdw sx="100000" sy="100000" kx="0" ky="0" algn="bl" rotWithShape="0" blurRad="127000" dist="25400" dir="5400000">
              <a:srgbClr val="9AA8C0">
                <a:alpha val="28000"/>
              </a:srgbClr>
            </a:outerShdw>
          </a:effectLst>
        </p:spPr>
      </p:sp>
      <p:sp>
        <p:nvSpPr>
          <p:cNvPr id="23" name="Shape 21"/>
          <p:cNvSpPr/>
          <p:nvPr/>
        </p:nvSpPr>
        <p:spPr>
          <a:xfrm>
            <a:off x="4588154" y="3273552"/>
            <a:ext cx="310896" cy="310896"/>
          </a:xfrm>
          <a:prstGeom prst="ellipse">
            <a:avLst/>
          </a:prstGeom>
          <a:solidFill>
            <a:srgbClr val="3A4A6B"/>
          </a:solidFill>
          <a:ln/>
        </p:spPr>
      </p:sp>
      <p:sp>
        <p:nvSpPr>
          <p:cNvPr id="24" name="Text 22"/>
          <p:cNvSpPr/>
          <p:nvPr/>
        </p:nvSpPr>
        <p:spPr>
          <a:xfrm>
            <a:off x="4588154" y="32735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5" name="Text 23"/>
          <p:cNvSpPr/>
          <p:nvPr/>
        </p:nvSpPr>
        <p:spPr>
          <a:xfrm>
            <a:off x="4990490" y="3246120"/>
            <a:ext cx="2649626" cy="274320"/>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Nhóm danh mục</a:t>
            </a:r>
            <a:endParaRPr lang="en-US" sz="1500" dirty="0"/>
          </a:p>
        </p:txBody>
      </p:sp>
      <p:sp>
        <p:nvSpPr>
          <p:cNvPr id="26" name="Text 24"/>
          <p:cNvSpPr/>
          <p:nvPr/>
        </p:nvSpPr>
        <p:spPr>
          <a:xfrm>
            <a:off x="4990490" y="3511296"/>
            <a:ext cx="2649626" cy="23774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Ai, cái gì, ở đâu</a:t>
            </a:r>
            <a:endParaRPr lang="en-US" sz="1100" dirty="0"/>
          </a:p>
        </p:txBody>
      </p:sp>
      <p:sp>
        <p:nvSpPr>
          <p:cNvPr id="27" name="Text 25"/>
          <p:cNvSpPr/>
          <p:nvPr/>
        </p:nvSpPr>
        <p:spPr>
          <a:xfrm>
            <a:off x="4624730" y="3840480"/>
            <a:ext cx="2942234" cy="2194560"/>
          </a:xfrm>
          <a:prstGeom prst="rect">
            <a:avLst/>
          </a:prstGeom>
          <a:noFill/>
          <a:ln/>
        </p:spPr>
        <p:txBody>
          <a:bodyPr wrap="square" lIns="0" tIns="0" rIns="0" bIns="0" rtlCol="0" anchor="t"/>
          <a:lstStyle/>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customers — 121.930 khách</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products — 2.412 sản phẩm</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geography — 39.948 mã bưu chính</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promotions — 50 chương trình</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inventory — 60.247 ảnh kho</a:t>
            </a:r>
            <a:endParaRPr lang="en-US" sz="1200" dirty="0"/>
          </a:p>
        </p:txBody>
      </p:sp>
      <p:sp>
        <p:nvSpPr>
          <p:cNvPr id="28" name="Shape 26"/>
          <p:cNvSpPr/>
          <p:nvPr/>
        </p:nvSpPr>
        <p:spPr>
          <a:xfrm>
            <a:off x="8133893" y="3035808"/>
            <a:ext cx="3490874" cy="3127248"/>
          </a:xfrm>
          <a:prstGeom prst="roundRect">
            <a:avLst>
              <a:gd name="adj" fmla="val 2339"/>
            </a:avLst>
          </a:prstGeom>
          <a:solidFill>
            <a:srgbClr val="EEF2FA"/>
          </a:solidFill>
          <a:ln/>
          <a:effectLst>
            <a:outerShdw sx="100000" sy="100000" kx="0" ky="0" algn="bl" rotWithShape="0" blurRad="127000" dist="25400" dir="5400000">
              <a:srgbClr val="9AA8C0">
                <a:alpha val="28000"/>
              </a:srgbClr>
            </a:outerShdw>
          </a:effectLst>
        </p:spPr>
      </p:sp>
      <p:sp>
        <p:nvSpPr>
          <p:cNvPr id="29" name="Shape 27"/>
          <p:cNvSpPr/>
          <p:nvPr/>
        </p:nvSpPr>
        <p:spPr>
          <a:xfrm>
            <a:off x="8371637" y="3273552"/>
            <a:ext cx="310896" cy="310896"/>
          </a:xfrm>
          <a:prstGeom prst="ellipse">
            <a:avLst/>
          </a:prstGeom>
          <a:solidFill>
            <a:srgbClr val="15803D"/>
          </a:solidFill>
          <a:ln/>
        </p:spPr>
      </p:sp>
      <p:sp>
        <p:nvSpPr>
          <p:cNvPr id="30" name="Text 28"/>
          <p:cNvSpPr/>
          <p:nvPr/>
        </p:nvSpPr>
        <p:spPr>
          <a:xfrm>
            <a:off x="8371637" y="32735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1" name="Text 29"/>
          <p:cNvSpPr/>
          <p:nvPr/>
        </p:nvSpPr>
        <p:spPr>
          <a:xfrm>
            <a:off x="8773973" y="3246120"/>
            <a:ext cx="2649626" cy="274320"/>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Nhóm chuỗi thời gian</a:t>
            </a:r>
            <a:endParaRPr lang="en-US" sz="1500" dirty="0"/>
          </a:p>
        </p:txBody>
      </p:sp>
      <p:sp>
        <p:nvSpPr>
          <p:cNvPr id="32" name="Text 30"/>
          <p:cNvSpPr/>
          <p:nvPr/>
        </p:nvSpPr>
        <p:spPr>
          <a:xfrm>
            <a:off x="8773973" y="3511296"/>
            <a:ext cx="2649626" cy="23774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Mỗi ngày một dòng</a:t>
            </a:r>
            <a:endParaRPr lang="en-US" sz="1100" dirty="0"/>
          </a:p>
        </p:txBody>
      </p:sp>
      <p:sp>
        <p:nvSpPr>
          <p:cNvPr id="33" name="Text 31"/>
          <p:cNvSpPr/>
          <p:nvPr/>
        </p:nvSpPr>
        <p:spPr>
          <a:xfrm>
            <a:off x="8408213" y="3840480"/>
            <a:ext cx="2942234" cy="2194560"/>
          </a:xfrm>
          <a:prstGeom prst="rect">
            <a:avLst/>
          </a:prstGeom>
          <a:noFill/>
          <a:ln/>
        </p:spPr>
        <p:txBody>
          <a:bodyPr wrap="square" lIns="0" tIns="0" rIns="0" bIns="0" rtlCol="0" anchor="t"/>
          <a:lstStyle/>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sales — 3.833 ngày (biến mục tiêu)</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web_traffic — 3.652 ngày</a:t>
            </a:r>
            <a:endParaRPr lang="en-US" sz="1200" dirty="0"/>
          </a:p>
          <a:p>
            <a:pPr marL="342900" indent="-342900">
              <a:lnSpc>
                <a:spcPts val="2000"/>
              </a:lnSpc>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sample_submission — 548 ngày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Vị trí của bước này trong quy trình</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Kiến trúc Medallion — mỗi lớp có một trách nhiệm riêng, không lấn sang lớp khác</a:t>
            </a:r>
            <a:endParaRPr lang="en-US" sz="1350" dirty="0"/>
          </a:p>
        </p:txBody>
      </p:sp>
      <p:sp>
        <p:nvSpPr>
          <p:cNvPr id="4" name="Shape 2"/>
          <p:cNvSpPr/>
          <p:nvPr/>
        </p:nvSpPr>
        <p:spPr>
          <a:xfrm>
            <a:off x="508864" y="1700784"/>
            <a:ext cx="3346704" cy="3200400"/>
          </a:xfrm>
          <a:prstGeom prst="roundRect">
            <a:avLst>
              <a:gd name="adj" fmla="val 2857"/>
            </a:avLst>
          </a:prstGeom>
          <a:solidFill>
            <a:srgbClr val="FEF3C7"/>
          </a:solidFill>
          <a:ln w="12700">
            <a:solidFill>
              <a:srgbClr val="CBD5E1"/>
            </a:solidFill>
            <a:prstDash val="solid"/>
          </a:ln>
        </p:spPr>
      </p:sp>
      <p:sp>
        <p:nvSpPr>
          <p:cNvPr id="5" name="Text 3"/>
          <p:cNvSpPr/>
          <p:nvPr/>
        </p:nvSpPr>
        <p:spPr>
          <a:xfrm>
            <a:off x="508864" y="1938528"/>
            <a:ext cx="3346704" cy="402336"/>
          </a:xfrm>
          <a:prstGeom prst="rect">
            <a:avLst/>
          </a:prstGeom>
          <a:noFill/>
          <a:ln/>
        </p:spPr>
        <p:txBody>
          <a:bodyPr wrap="square" lIns="0" tIns="0" rIns="0" bIns="0" rtlCol="0" anchor="ctr"/>
          <a:lstStyle/>
          <a:p>
            <a:pPr algn="ctr" indent="0" marL="0">
              <a:buNone/>
            </a:pPr>
            <a:r>
              <a:rPr lang="en-US" sz="2200" b="1" spc="200" kern="0" dirty="0">
                <a:solidFill>
                  <a:srgbClr val="A16207"/>
                </a:solidFill>
                <a:latin typeface="Cambria" pitchFamily="34" charset="0"/>
                <a:ea typeface="Cambria" pitchFamily="34" charset="-122"/>
                <a:cs typeface="Cambria" pitchFamily="34" charset="-120"/>
              </a:rPr>
              <a:t>BRONZE</a:t>
            </a:r>
            <a:endParaRPr lang="en-US" sz="2200" dirty="0"/>
          </a:p>
        </p:txBody>
      </p:sp>
      <p:sp>
        <p:nvSpPr>
          <p:cNvPr id="6" name="Text 4"/>
          <p:cNvSpPr/>
          <p:nvPr/>
        </p:nvSpPr>
        <p:spPr>
          <a:xfrm>
            <a:off x="508864" y="2359152"/>
            <a:ext cx="3346704" cy="274320"/>
          </a:xfrm>
          <a:prstGeom prst="rect">
            <a:avLst/>
          </a:prstGeom>
          <a:noFill/>
          <a:ln/>
        </p:spPr>
        <p:txBody>
          <a:bodyPr wrap="square" lIns="0" tIns="0" rIns="0" bIns="0"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Dữ liệu thô</a:t>
            </a:r>
            <a:endParaRPr lang="en-US" sz="1300" dirty="0"/>
          </a:p>
        </p:txBody>
      </p:sp>
      <p:sp>
        <p:nvSpPr>
          <p:cNvPr id="7" name="Text 5"/>
          <p:cNvSpPr/>
          <p:nvPr/>
        </p:nvSpPr>
        <p:spPr>
          <a:xfrm>
            <a:off x="1450696" y="2798064"/>
            <a:ext cx="1463040" cy="329184"/>
          </a:xfrm>
          <a:prstGeom prst="rect">
            <a:avLst/>
          </a:prstGeom>
          <a:solidFill>
            <a:srgbClr val="FFFFFF"/>
          </a:solidFill>
          <a:ln/>
        </p:spPr>
        <p:txBody>
          <a:bodyPr wrap="square" lIns="0" tIns="0" rIns="0" bIns="0" rtlCol="0" anchor="ctr"/>
          <a:lstStyle/>
          <a:p>
            <a:pPr algn="ctr" indent="0" marL="0">
              <a:buNone/>
            </a:pPr>
            <a:r>
              <a:rPr lang="en-US" sz="1200" b="1" dirty="0">
                <a:solidFill>
                  <a:srgbClr val="334155"/>
                </a:solidFill>
                <a:latin typeface="Courier New" pitchFamily="34" charset="0"/>
                <a:ea typeface="Courier New" pitchFamily="34" charset="-122"/>
                <a:cs typeface="Courier New" pitchFamily="34" charset="-120"/>
              </a:rPr>
              <a:t>data/</a:t>
            </a:r>
            <a:endParaRPr lang="en-US" sz="1200" dirty="0"/>
          </a:p>
        </p:txBody>
      </p:sp>
      <p:sp>
        <p:nvSpPr>
          <p:cNvPr id="8" name="Text 6"/>
          <p:cNvSpPr/>
          <p:nvPr/>
        </p:nvSpPr>
        <p:spPr>
          <a:xfrm>
            <a:off x="783184" y="3310128"/>
            <a:ext cx="2798064" cy="1371600"/>
          </a:xfrm>
          <a:prstGeom prst="rect">
            <a:avLst/>
          </a:prstGeom>
          <a:noFill/>
          <a:ln/>
        </p:spPr>
        <p:txBody>
          <a:bodyPr wrap="square" lIns="0" tIns="0" rIns="0" bIns="0" rtlCol="0" anchor="ctr"/>
          <a:lstStyle/>
          <a:p>
            <a:pPr algn="ctr" indent="0" marL="0">
              <a:lnSpc>
                <a:spcPts val="2000"/>
              </a:lnSpc>
              <a:buNone/>
            </a:pPr>
            <a:r>
              <a:rPr lang="en-US" sz="1250" dirty="0">
                <a:solidFill>
                  <a:srgbClr val="334155"/>
                </a:solidFill>
                <a:latin typeface="Calibri" pitchFamily="34" charset="0"/>
                <a:ea typeface="Calibri" pitchFamily="34" charset="-122"/>
                <a:cs typeface="Calibri" pitchFamily="34" charset="-120"/>
              </a:rPr>
              <a:t>14 tệp CSV gốc</a:t>
            </a:r>
            <a:endParaRPr lang="en-US" sz="1250" dirty="0"/>
          </a:p>
          <a:p>
            <a:pPr algn="ctr" indent="0" marL="0">
              <a:lnSpc>
                <a:spcPts val="2000"/>
              </a:lnSpc>
              <a:buNone/>
            </a:pPr>
            <a:r>
              <a:rPr lang="en-US" sz="1250" dirty="0">
                <a:solidFill>
                  <a:srgbClr val="334155"/>
                </a:solidFill>
                <a:latin typeface="Calibri" pitchFamily="34" charset="0"/>
                <a:ea typeface="Calibri" pitchFamily="34" charset="-122"/>
                <a:cs typeface="Calibri" pitchFamily="34" charset="-120"/>
              </a:rPr>
              <a:t>Giữ nguyên, không sửa</a:t>
            </a:r>
            <a:endParaRPr lang="en-US" sz="1250" dirty="0"/>
          </a:p>
          <a:p>
            <a:pPr algn="ctr" indent="0" marL="0">
              <a:lnSpc>
                <a:spcPts val="2000"/>
              </a:lnSpc>
              <a:buNone/>
            </a:pPr>
            <a:r>
              <a:rPr lang="en-US" sz="1250" dirty="0">
                <a:solidFill>
                  <a:srgbClr val="334155"/>
                </a:solidFill>
                <a:latin typeface="Calibri" pitchFamily="34" charset="0"/>
                <a:ea typeface="Calibri" pitchFamily="34" charset="-122"/>
                <a:cs typeface="Calibri" pitchFamily="34" charset="-120"/>
              </a:rPr>
              <a:t>96 cột</a:t>
            </a:r>
            <a:endParaRPr lang="en-US" sz="1250" dirty="0"/>
          </a:p>
        </p:txBody>
      </p:sp>
      <p:sp>
        <p:nvSpPr>
          <p:cNvPr id="9" name="Text 7"/>
          <p:cNvSpPr/>
          <p:nvPr/>
        </p:nvSpPr>
        <p:spPr>
          <a:xfrm>
            <a:off x="3855568" y="2999232"/>
            <a:ext cx="566928" cy="457200"/>
          </a:xfrm>
          <a:prstGeom prst="rect">
            <a:avLst/>
          </a:prstGeom>
          <a:noFill/>
          <a:ln/>
        </p:spPr>
        <p:txBody>
          <a:bodyPr wrap="square" lIns="0" tIns="0" rIns="0" bIns="0" rtlCol="0" anchor="ctr"/>
          <a:lstStyle/>
          <a:p>
            <a:pPr algn="ctr" indent="0" marL="0">
              <a:buNone/>
            </a:pPr>
            <a:r>
              <a:rPr lang="en-US" sz="2600" dirty="0">
                <a:solidFill>
                  <a:srgbClr val="94A3B8"/>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4422496" y="1700784"/>
            <a:ext cx="3346704" cy="3200400"/>
          </a:xfrm>
          <a:prstGeom prst="roundRect">
            <a:avLst>
              <a:gd name="adj" fmla="val 2857"/>
            </a:avLst>
          </a:prstGeom>
          <a:solidFill>
            <a:srgbClr val="1E2761"/>
          </a:solidFill>
          <a:ln/>
          <a:effectLst>
            <a:outerShdw sx="100000" sy="100000" kx="0" ky="0" algn="bl" rotWithShape="0" blurRad="127000" dist="25400" dir="5400000">
              <a:srgbClr val="9AA8C0">
                <a:alpha val="28000"/>
              </a:srgbClr>
            </a:outerShdw>
          </a:effectLst>
        </p:spPr>
      </p:sp>
      <p:sp>
        <p:nvSpPr>
          <p:cNvPr id="11" name="Text 9"/>
          <p:cNvSpPr/>
          <p:nvPr/>
        </p:nvSpPr>
        <p:spPr>
          <a:xfrm>
            <a:off x="4422496" y="1938528"/>
            <a:ext cx="3346704" cy="402336"/>
          </a:xfrm>
          <a:prstGeom prst="rect">
            <a:avLst/>
          </a:prstGeom>
          <a:noFill/>
          <a:ln/>
        </p:spPr>
        <p:txBody>
          <a:bodyPr wrap="square" lIns="0" tIns="0" rIns="0" bIns="0" rtlCol="0" anchor="ctr"/>
          <a:lstStyle/>
          <a:p>
            <a:pPr algn="ctr" indent="0" marL="0">
              <a:buNone/>
            </a:pPr>
            <a:r>
              <a:rPr lang="en-US" sz="2200" b="1" spc="200" kern="0" dirty="0">
                <a:solidFill>
                  <a:srgbClr val="FFFFFF"/>
                </a:solidFill>
                <a:latin typeface="Cambria" pitchFamily="34" charset="0"/>
                <a:ea typeface="Cambria" pitchFamily="34" charset="-122"/>
                <a:cs typeface="Cambria" pitchFamily="34" charset="-120"/>
              </a:rPr>
              <a:t>SILVER</a:t>
            </a:r>
            <a:endParaRPr lang="en-US" sz="2200" dirty="0"/>
          </a:p>
        </p:txBody>
      </p:sp>
      <p:sp>
        <p:nvSpPr>
          <p:cNvPr id="12" name="Text 10"/>
          <p:cNvSpPr/>
          <p:nvPr/>
        </p:nvSpPr>
        <p:spPr>
          <a:xfrm>
            <a:off x="4422496" y="2359152"/>
            <a:ext cx="3346704" cy="27432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Dữ liệu đáng tin</a:t>
            </a:r>
            <a:endParaRPr lang="en-US" sz="1300" dirty="0"/>
          </a:p>
        </p:txBody>
      </p:sp>
      <p:sp>
        <p:nvSpPr>
          <p:cNvPr id="13" name="Text 11"/>
          <p:cNvSpPr/>
          <p:nvPr/>
        </p:nvSpPr>
        <p:spPr>
          <a:xfrm>
            <a:off x="5364328" y="2798064"/>
            <a:ext cx="1463040" cy="329184"/>
          </a:xfrm>
          <a:prstGeom prst="rect">
            <a:avLst/>
          </a:prstGeom>
          <a:solidFill>
            <a:srgbClr val="CADCFC"/>
          </a:solidFill>
          <a:ln/>
        </p:spPr>
        <p:txBody>
          <a:bodyPr wrap="square" lIns="0" tIns="0" rIns="0" bIns="0" rtlCol="0" anchor="ctr"/>
          <a:lstStyle/>
          <a:p>
            <a:pPr algn="ctr" indent="0" marL="0">
              <a:buNone/>
            </a:pPr>
            <a:r>
              <a:rPr lang="en-US" sz="1200" b="1" dirty="0">
                <a:solidFill>
                  <a:srgbClr val="1E2761"/>
                </a:solidFill>
                <a:latin typeface="Courier New" pitchFamily="34" charset="0"/>
                <a:ea typeface="Courier New" pitchFamily="34" charset="-122"/>
                <a:cs typeface="Courier New" pitchFamily="34" charset="-120"/>
              </a:rPr>
              <a:t>data_clean/</a:t>
            </a:r>
            <a:endParaRPr lang="en-US" sz="1200" dirty="0"/>
          </a:p>
        </p:txBody>
      </p:sp>
      <p:sp>
        <p:nvSpPr>
          <p:cNvPr id="14" name="Text 12"/>
          <p:cNvSpPr/>
          <p:nvPr/>
        </p:nvSpPr>
        <p:spPr>
          <a:xfrm>
            <a:off x="4696816" y="3310128"/>
            <a:ext cx="2798064" cy="1371600"/>
          </a:xfrm>
          <a:prstGeom prst="rect">
            <a:avLst/>
          </a:prstGeom>
          <a:noFill/>
          <a:ln/>
        </p:spPr>
        <p:txBody>
          <a:bodyPr wrap="square" lIns="0" tIns="0" rIns="0" bIns="0" rtlCol="0" anchor="ctr"/>
          <a:lstStyle/>
          <a:p>
            <a:pPr algn="ctr" indent="0" marL="0">
              <a:lnSpc>
                <a:spcPts val="2000"/>
              </a:lnSpc>
              <a:buNone/>
            </a:pPr>
            <a:r>
              <a:rPr lang="en-US" sz="1250" dirty="0">
                <a:solidFill>
                  <a:srgbClr val="FFFFFF"/>
                </a:solidFill>
                <a:latin typeface="Calibri" pitchFamily="34" charset="0"/>
                <a:ea typeface="Calibri" pitchFamily="34" charset="-122"/>
                <a:cs typeface="Calibri" pitchFamily="34" charset="-120"/>
              </a:rPr>
              <a:t>Đã làm sạch</a:t>
            </a:r>
            <a:endParaRPr lang="en-US" sz="1250" dirty="0"/>
          </a:p>
          <a:p>
            <a:pPr algn="ctr" indent="0" marL="0">
              <a:lnSpc>
                <a:spcPts val="2000"/>
              </a:lnSpc>
              <a:buNone/>
            </a:pPr>
            <a:r>
              <a:rPr lang="en-US" sz="1250" dirty="0">
                <a:solidFill>
                  <a:srgbClr val="FFFFFF"/>
                </a:solidFill>
                <a:latin typeface="Calibri" pitchFamily="34" charset="0"/>
                <a:ea typeface="Calibri" pitchFamily="34" charset="-122"/>
                <a:cs typeface="Calibri" pitchFamily="34" charset="-120"/>
              </a:rPr>
              <a:t>84 cột · giữ đủ số dòng</a:t>
            </a:r>
            <a:endParaRPr lang="en-US" sz="1250" dirty="0"/>
          </a:p>
          <a:p>
            <a:pPr algn="ctr" indent="0" marL="0">
              <a:lnSpc>
                <a:spcPts val="2000"/>
              </a:lnSpc>
              <a:buNone/>
            </a:pPr>
            <a:r>
              <a:rPr lang="en-US" sz="1250" dirty="0">
                <a:solidFill>
                  <a:srgbClr val="FFFFFF"/>
                </a:solidFill>
                <a:latin typeface="Calibri" pitchFamily="34" charset="0"/>
                <a:ea typeface="Calibri" pitchFamily="34" charset="-122"/>
                <a:cs typeface="Calibri" pitchFamily="34" charset="-120"/>
              </a:rPr>
              <a:t>Đây là phần em làm</a:t>
            </a:r>
            <a:endParaRPr lang="en-US" sz="1250" dirty="0"/>
          </a:p>
        </p:txBody>
      </p:sp>
      <p:sp>
        <p:nvSpPr>
          <p:cNvPr id="15" name="Text 13"/>
          <p:cNvSpPr/>
          <p:nvPr/>
        </p:nvSpPr>
        <p:spPr>
          <a:xfrm>
            <a:off x="7769200" y="2999232"/>
            <a:ext cx="566928" cy="457200"/>
          </a:xfrm>
          <a:prstGeom prst="rect">
            <a:avLst/>
          </a:prstGeom>
          <a:noFill/>
          <a:ln/>
        </p:spPr>
        <p:txBody>
          <a:bodyPr wrap="square" lIns="0" tIns="0" rIns="0" bIns="0" rtlCol="0" anchor="ctr"/>
          <a:lstStyle/>
          <a:p>
            <a:pPr algn="ctr" indent="0" marL="0">
              <a:buNone/>
            </a:pPr>
            <a:r>
              <a:rPr lang="en-US" sz="2600" dirty="0">
                <a:solidFill>
                  <a:srgbClr val="94A3B8"/>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8336128" y="1700784"/>
            <a:ext cx="3346704" cy="3200400"/>
          </a:xfrm>
          <a:prstGeom prst="roundRect">
            <a:avLst>
              <a:gd name="adj" fmla="val 2857"/>
            </a:avLst>
          </a:prstGeom>
          <a:solidFill>
            <a:srgbClr val="E2E8F0"/>
          </a:solidFill>
          <a:ln w="12700">
            <a:solidFill>
              <a:srgbClr val="CBD5E1"/>
            </a:solidFill>
            <a:prstDash val="solid"/>
          </a:ln>
        </p:spPr>
      </p:sp>
      <p:sp>
        <p:nvSpPr>
          <p:cNvPr id="17" name="Text 15"/>
          <p:cNvSpPr/>
          <p:nvPr/>
        </p:nvSpPr>
        <p:spPr>
          <a:xfrm>
            <a:off x="8336128" y="1938528"/>
            <a:ext cx="3346704" cy="402336"/>
          </a:xfrm>
          <a:prstGeom prst="rect">
            <a:avLst/>
          </a:prstGeom>
          <a:noFill/>
          <a:ln/>
        </p:spPr>
        <p:txBody>
          <a:bodyPr wrap="square" lIns="0" tIns="0" rIns="0" bIns="0" rtlCol="0" anchor="ctr"/>
          <a:lstStyle/>
          <a:p>
            <a:pPr algn="ctr" indent="0" marL="0">
              <a:buNone/>
            </a:pPr>
            <a:r>
              <a:rPr lang="en-US" sz="2200" b="1" spc="200" kern="0" dirty="0">
                <a:solidFill>
                  <a:srgbClr val="475569"/>
                </a:solidFill>
                <a:latin typeface="Cambria" pitchFamily="34" charset="0"/>
                <a:ea typeface="Cambria" pitchFamily="34" charset="-122"/>
                <a:cs typeface="Cambria" pitchFamily="34" charset="-120"/>
              </a:rPr>
              <a:t>GOLD</a:t>
            </a:r>
            <a:endParaRPr lang="en-US" sz="2200" dirty="0"/>
          </a:p>
        </p:txBody>
      </p:sp>
      <p:sp>
        <p:nvSpPr>
          <p:cNvPr id="18" name="Text 16"/>
          <p:cNvSpPr/>
          <p:nvPr/>
        </p:nvSpPr>
        <p:spPr>
          <a:xfrm>
            <a:off x="8336128" y="2359152"/>
            <a:ext cx="3346704" cy="274320"/>
          </a:xfrm>
          <a:prstGeom prst="rect">
            <a:avLst/>
          </a:prstGeom>
          <a:noFill/>
          <a:ln/>
        </p:spPr>
        <p:txBody>
          <a:bodyPr wrap="square" lIns="0" tIns="0" rIns="0" bIns="0"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Dữ liệu cho mô hình</a:t>
            </a:r>
            <a:endParaRPr lang="en-US" sz="1300" dirty="0"/>
          </a:p>
        </p:txBody>
      </p:sp>
      <p:sp>
        <p:nvSpPr>
          <p:cNvPr id="19" name="Text 17"/>
          <p:cNvSpPr/>
          <p:nvPr/>
        </p:nvSpPr>
        <p:spPr>
          <a:xfrm>
            <a:off x="9277960" y="2798064"/>
            <a:ext cx="1463040" cy="329184"/>
          </a:xfrm>
          <a:prstGeom prst="rect">
            <a:avLst/>
          </a:prstGeom>
          <a:solidFill>
            <a:srgbClr val="FFFFFF"/>
          </a:solidFill>
          <a:ln/>
        </p:spPr>
        <p:txBody>
          <a:bodyPr wrap="square" lIns="0" tIns="0" rIns="0" bIns="0" rtlCol="0" anchor="ctr"/>
          <a:lstStyle/>
          <a:p>
            <a:pPr algn="ctr" indent="0" marL="0">
              <a:buNone/>
            </a:pPr>
            <a:r>
              <a:rPr lang="en-US" sz="1200" b="1" dirty="0">
                <a:solidFill>
                  <a:srgbClr val="334155"/>
                </a:solidFill>
                <a:latin typeface="Courier New" pitchFamily="34" charset="0"/>
                <a:ea typeface="Courier New" pitchFamily="34" charset="-122"/>
                <a:cs typeface="Courier New" pitchFamily="34" charset="-120"/>
              </a:rPr>
              <a:t>(bước sau)</a:t>
            </a:r>
            <a:endParaRPr lang="en-US" sz="1200" dirty="0"/>
          </a:p>
        </p:txBody>
      </p:sp>
      <p:sp>
        <p:nvSpPr>
          <p:cNvPr id="20" name="Text 18"/>
          <p:cNvSpPr/>
          <p:nvPr/>
        </p:nvSpPr>
        <p:spPr>
          <a:xfrm>
            <a:off x="8610448" y="3310128"/>
            <a:ext cx="2798064" cy="1371600"/>
          </a:xfrm>
          <a:prstGeom prst="rect">
            <a:avLst/>
          </a:prstGeom>
          <a:noFill/>
          <a:ln/>
        </p:spPr>
        <p:txBody>
          <a:bodyPr wrap="square" lIns="0" tIns="0" rIns="0" bIns="0" rtlCol="0" anchor="ctr"/>
          <a:lstStyle/>
          <a:p>
            <a:pPr algn="ctr" indent="0" marL="0">
              <a:lnSpc>
                <a:spcPts val="2000"/>
              </a:lnSpc>
              <a:buNone/>
            </a:pPr>
            <a:r>
              <a:rPr lang="en-US" sz="1250" dirty="0">
                <a:solidFill>
                  <a:srgbClr val="334155"/>
                </a:solidFill>
                <a:latin typeface="Calibri" pitchFamily="34" charset="0"/>
                <a:ea typeface="Calibri" pitchFamily="34" charset="-122"/>
                <a:cs typeface="Calibri" pitchFamily="34" charset="-120"/>
              </a:rPr>
              <a:t>Đặc trưng theo ngày</a:t>
            </a:r>
            <a:endParaRPr lang="en-US" sz="1250" dirty="0"/>
          </a:p>
          <a:p>
            <a:pPr algn="ctr" indent="0" marL="0">
              <a:lnSpc>
                <a:spcPts val="2000"/>
              </a:lnSpc>
              <a:buNone/>
            </a:pPr>
            <a:r>
              <a:rPr lang="en-US" sz="1250" dirty="0">
                <a:solidFill>
                  <a:srgbClr val="334155"/>
                </a:solidFill>
                <a:latin typeface="Calibri" pitchFamily="34" charset="0"/>
                <a:ea typeface="Calibri" pitchFamily="34" charset="-122"/>
                <a:cs typeface="Calibri" pitchFamily="34" charset="-120"/>
              </a:rPr>
              <a:t>Sẵn sàng huấn luyện</a:t>
            </a:r>
            <a:endParaRPr lang="en-US" sz="1250" dirty="0"/>
          </a:p>
          <a:p>
            <a:pPr algn="ctr" indent="0" marL="0">
              <a:lnSpc>
                <a:spcPts val="2000"/>
              </a:lnSpc>
              <a:buNone/>
            </a:pPr>
            <a:r>
              <a:rPr lang="en-US" sz="1250" dirty="0">
                <a:solidFill>
                  <a:srgbClr val="334155"/>
                </a:solidFill>
                <a:latin typeface="Calibri" pitchFamily="34" charset="0"/>
                <a:ea typeface="Calibri" pitchFamily="34" charset="-122"/>
                <a:cs typeface="Calibri" pitchFamily="34" charset="-120"/>
              </a:rPr>
              <a:t>Chưa thực hiện</a:t>
            </a:r>
            <a:endParaRPr lang="en-US" sz="1250" dirty="0"/>
          </a:p>
        </p:txBody>
      </p:sp>
      <p:sp>
        <p:nvSpPr>
          <p:cNvPr id="21" name="Shape 19"/>
          <p:cNvSpPr/>
          <p:nvPr/>
        </p:nvSpPr>
        <p:spPr>
          <a:xfrm>
            <a:off x="566928" y="5175504"/>
            <a:ext cx="11057839" cy="932688"/>
          </a:xfrm>
          <a:prstGeom prst="roundRect">
            <a:avLst>
              <a:gd name="adj" fmla="val 7843"/>
            </a:avLst>
          </a:prstGeom>
          <a:solidFill>
            <a:srgbClr val="EEF2FA"/>
          </a:solidFill>
          <a:ln/>
          <a:effectLst>
            <a:outerShdw sx="100000" sy="100000" kx="0" ky="0" algn="bl" rotWithShape="0" blurRad="127000" dist="25400" dir="5400000">
              <a:srgbClr val="9AA8C0">
                <a:alpha val="28000"/>
              </a:srgbClr>
            </a:outerShdw>
          </a:effectLst>
        </p:spPr>
      </p:sp>
      <p:sp>
        <p:nvSpPr>
          <p:cNvPr id="22" name="Text 20"/>
          <p:cNvSpPr/>
          <p:nvPr/>
        </p:nvSpPr>
        <p:spPr>
          <a:xfrm>
            <a:off x="877824" y="5175504"/>
            <a:ext cx="10436047" cy="932688"/>
          </a:xfrm>
          <a:prstGeom prst="rect">
            <a:avLst/>
          </a:prstGeom>
          <a:noFill/>
          <a:ln/>
        </p:spPr>
        <p:txBody>
          <a:bodyPr wrap="square" lIns="0" tIns="0" rIns="0" bIns="0" rtlCol="0" anchor="ctr"/>
          <a:lstStyle/>
          <a:p>
            <a:pPr indent="0" marL="0">
              <a:lnSpc>
                <a:spcPts val="2000"/>
              </a:lnSpc>
              <a:buNone/>
            </a:pPr>
            <a:r>
              <a:rPr lang="en-US" sz="1350" b="1" dirty="0">
                <a:solidFill>
                  <a:srgbClr val="10203F"/>
                </a:solidFill>
                <a:latin typeface="Calibri" pitchFamily="34" charset="0"/>
                <a:ea typeface="Calibri" pitchFamily="34" charset="-122"/>
                <a:cs typeface="Calibri" pitchFamily="34" charset="-120"/>
              </a:rPr>
              <a:t>Ranh giới trách nhiệm:  </a:t>
            </a:r>
            <a:pPr indent="0" marL="0">
              <a:lnSpc>
                <a:spcPts val="2000"/>
              </a:lnSpc>
              <a:buNone/>
            </a:pPr>
            <a:r>
              <a:rPr lang="en-US" sz="1350" dirty="0">
                <a:solidFill>
                  <a:srgbClr val="334155"/>
                </a:solidFill>
                <a:latin typeface="Calibri" pitchFamily="34" charset="0"/>
                <a:ea typeface="Calibri" pitchFamily="34" charset="-122"/>
                <a:cs typeface="Calibri" pitchFamily="34" charset="-120"/>
              </a:rPr>
              <a:t>lớp Silver chỉ lo dữ liệu có </a:t>
            </a:r>
            <a:pPr indent="0" marL="0">
              <a:lnSpc>
                <a:spcPts val="2000"/>
              </a:lnSpc>
              <a:buNone/>
            </a:pPr>
            <a:r>
              <a:rPr lang="en-US" sz="1350" b="1" dirty="0">
                <a:solidFill>
                  <a:srgbClr val="1E2761"/>
                </a:solidFill>
                <a:latin typeface="Calibri" pitchFamily="34" charset="0"/>
                <a:ea typeface="Calibri" pitchFamily="34" charset="-122"/>
                <a:cs typeface="Calibri" pitchFamily="34" charset="-120"/>
              </a:rPr>
              <a:t>đáng tin</a:t>
            </a:r>
            <a:pPr indent="0" marL="0">
              <a:lnSpc>
                <a:spcPts val="2000"/>
              </a:lnSpc>
              <a:buNone/>
            </a:pPr>
            <a:r>
              <a:rPr lang="en-US" sz="1350" dirty="0">
                <a:solidFill>
                  <a:srgbClr val="334155"/>
                </a:solidFill>
                <a:latin typeface="Calibri" pitchFamily="34" charset="0"/>
                <a:ea typeface="Calibri" pitchFamily="34" charset="-122"/>
                <a:cs typeface="Calibri" pitchFamily="34" charset="-120"/>
              </a:rPr>
              <a:t> hay không. Còn dữ liệu có </a:t>
            </a:r>
            <a:pPr indent="0" marL="0">
              <a:lnSpc>
                <a:spcPts val="2000"/>
              </a:lnSpc>
              <a:buNone/>
            </a:pPr>
            <a:r>
              <a:rPr lang="en-US" sz="1350" b="1" dirty="0">
                <a:solidFill>
                  <a:srgbClr val="1E2761"/>
                </a:solidFill>
                <a:latin typeface="Calibri" pitchFamily="34" charset="0"/>
                <a:ea typeface="Calibri" pitchFamily="34" charset="-122"/>
                <a:cs typeface="Calibri" pitchFamily="34" charset="-120"/>
              </a:rPr>
              <a:t>phù hợp với mô hình</a:t>
            </a:r>
            <a:pPr indent="0" marL="0">
              <a:lnSpc>
                <a:spcPts val="2000"/>
              </a:lnSpc>
              <a:buNone/>
            </a:pPr>
            <a:r>
              <a:rPr lang="en-US" sz="1350" dirty="0">
                <a:solidFill>
                  <a:srgbClr val="334155"/>
                </a:solidFill>
                <a:latin typeface="Calibri" pitchFamily="34" charset="0"/>
                <a:ea typeface="Calibri" pitchFamily="34" charset="-122"/>
                <a:cs typeface="Calibri" pitchFamily="34" charset="-120"/>
              </a:rPr>
              <a:t> hay không là việc của lớp Gold — nên ở đây chưa xử lý ngoại lai, chưa chuẩn hóa thang đo.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Nguyên tắc làm việc</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Điều phân biệt làm sạch có phương pháp với làm sạch theo cảm tính</a:t>
            </a:r>
            <a:endParaRPr lang="en-US" sz="1350" dirty="0"/>
          </a:p>
        </p:txBody>
      </p:sp>
      <p:sp>
        <p:nvSpPr>
          <p:cNvPr id="4" name="Shape 2"/>
          <p:cNvSpPr/>
          <p:nvPr/>
        </p:nvSpPr>
        <p:spPr>
          <a:xfrm>
            <a:off x="566928" y="1517904"/>
            <a:ext cx="11057839" cy="1207008"/>
          </a:xfrm>
          <a:prstGeom prst="roundRect">
            <a:avLst>
              <a:gd name="adj" fmla="val 7576"/>
            </a:avLst>
          </a:prstGeom>
          <a:solidFill>
            <a:srgbClr val="1E2761"/>
          </a:solidFill>
          <a:ln/>
          <a:effectLst>
            <a:outerShdw sx="100000" sy="100000" kx="0" ky="0" algn="bl" rotWithShape="0" blurRad="127000" dist="25400" dir="5400000">
              <a:srgbClr val="9AA8C0">
                <a:alpha val="28000"/>
              </a:srgbClr>
            </a:outerShdw>
          </a:effectLst>
        </p:spPr>
      </p:sp>
      <p:sp>
        <p:nvSpPr>
          <p:cNvPr id="5" name="Text 3"/>
          <p:cNvSpPr/>
          <p:nvPr/>
        </p:nvSpPr>
        <p:spPr>
          <a:xfrm>
            <a:off x="969264" y="1517904"/>
            <a:ext cx="10253167" cy="1207008"/>
          </a:xfrm>
          <a:prstGeom prst="rect">
            <a:avLst/>
          </a:prstGeom>
          <a:noFill/>
          <a:ln/>
        </p:spPr>
        <p:txBody>
          <a:bodyPr wrap="square" lIns="0" tIns="0" rIns="0" bIns="0" rtlCol="0" anchor="ctr"/>
          <a:lstStyle/>
          <a:p>
            <a:pPr indent="0" marL="0">
              <a:lnSpc>
                <a:spcPts val="2600"/>
              </a:lnSpc>
              <a:buNone/>
            </a:pPr>
            <a:r>
              <a:rPr lang="en-US" sz="1700" b="1" dirty="0">
                <a:solidFill>
                  <a:srgbClr val="FFFFFF"/>
                </a:solidFill>
                <a:latin typeface="Calibri" pitchFamily="34" charset="0"/>
                <a:ea typeface="Calibri" pitchFamily="34" charset="-122"/>
                <a:cs typeface="Calibri" pitchFamily="34" charset="-120"/>
              </a:rPr>
              <a:t>Mọi thao tác làm sạch đều phải có căn cứ từ bước Từ điển dữ liệu.</a:t>
            </a:r>
            <a:endParaRPr lang="en-US" sz="1700" dirty="0"/>
          </a:p>
          <a:p>
            <a:pPr indent="0" marL="0">
              <a:lnSpc>
                <a:spcPts val="2600"/>
              </a:lnSpc>
              <a:buNone/>
            </a:pPr>
            <a:r>
              <a:rPr lang="en-US" sz="1400" dirty="0">
                <a:solidFill>
                  <a:srgbClr val="CADCFC"/>
                </a:solidFill>
                <a:latin typeface="Calibri" pitchFamily="34" charset="0"/>
                <a:ea typeface="Calibri" pitchFamily="34" charset="-122"/>
                <a:cs typeface="Calibri" pitchFamily="34" charset="-120"/>
              </a:rPr>
              <a:t>Không xóa cột nào vì cảm tính — mỗi lần xóa đều dẫn ra được một con số đã kiểm chứng.</a:t>
            </a:r>
            <a:endParaRPr lang="en-US" sz="1700" dirty="0"/>
          </a:p>
        </p:txBody>
      </p:sp>
      <p:sp>
        <p:nvSpPr>
          <p:cNvPr id="6" name="Shape 4"/>
          <p:cNvSpPr/>
          <p:nvPr/>
        </p:nvSpPr>
        <p:spPr>
          <a:xfrm>
            <a:off x="566928" y="2962656"/>
            <a:ext cx="2834640" cy="1097280"/>
          </a:xfrm>
          <a:prstGeom prst="roundRect">
            <a:avLst>
              <a:gd name="adj" fmla="val 6667"/>
            </a:avLst>
          </a:prstGeom>
          <a:solidFill>
            <a:srgbClr val="FEF3C7"/>
          </a:solidFill>
          <a:ln/>
          <a:effectLst>
            <a:outerShdw sx="100000" sy="100000" kx="0" ky="0" algn="bl" rotWithShape="0" blurRad="127000" dist="25400" dir="5400000">
              <a:srgbClr val="9AA8C0">
                <a:alpha val="28000"/>
              </a:srgbClr>
            </a:outerShdw>
          </a:effectLst>
        </p:spPr>
      </p:sp>
      <p:sp>
        <p:nvSpPr>
          <p:cNvPr id="7" name="Text 5"/>
          <p:cNvSpPr/>
          <p:nvPr/>
        </p:nvSpPr>
        <p:spPr>
          <a:xfrm>
            <a:off x="566928" y="3054096"/>
            <a:ext cx="2834640" cy="548640"/>
          </a:xfrm>
          <a:prstGeom prst="rect">
            <a:avLst/>
          </a:prstGeom>
          <a:noFill/>
          <a:ln/>
        </p:spPr>
        <p:txBody>
          <a:bodyPr wrap="square" lIns="0" tIns="0" rIns="0" bIns="0" rtlCol="0" anchor="ctr"/>
          <a:lstStyle/>
          <a:p>
            <a:pPr algn="ctr" indent="0" marL="0">
              <a:buNone/>
            </a:pPr>
            <a:r>
              <a:rPr lang="en-US" sz="3000" b="1" dirty="0">
                <a:solidFill>
                  <a:srgbClr val="D97706"/>
                </a:solidFill>
                <a:latin typeface="Cambria" pitchFamily="34" charset="0"/>
                <a:ea typeface="Cambria" pitchFamily="34" charset="-122"/>
                <a:cs typeface="Cambria" pitchFamily="34" charset="-120"/>
              </a:rPr>
              <a:t>17</a:t>
            </a:r>
            <a:endParaRPr lang="en-US" sz="3000" dirty="0"/>
          </a:p>
        </p:txBody>
      </p:sp>
      <p:sp>
        <p:nvSpPr>
          <p:cNvPr id="8" name="Text 6"/>
          <p:cNvSpPr/>
          <p:nvPr/>
        </p:nvSpPr>
        <p:spPr>
          <a:xfrm>
            <a:off x="566928" y="3602736"/>
            <a:ext cx="2834640" cy="274320"/>
          </a:xfrm>
          <a:prstGeom prst="rect">
            <a:avLst/>
          </a:prstGeom>
          <a:noFill/>
          <a:ln/>
        </p:spPr>
        <p:txBody>
          <a:bodyPr wrap="square" lIns="0" tIns="0" rIns="0" bIns="0" rtlCol="0" anchor="ctr"/>
          <a:lstStyle/>
          <a:p>
            <a:pPr algn="ctr" indent="0" marL="0">
              <a:buNone/>
            </a:pPr>
            <a:r>
              <a:rPr lang="en-US" sz="1200" dirty="0">
                <a:solidFill>
                  <a:srgbClr val="92400E"/>
                </a:solidFill>
                <a:latin typeface="Calibri" pitchFamily="34" charset="0"/>
                <a:ea typeface="Calibri" pitchFamily="34" charset="-122"/>
                <a:cs typeface="Calibri" pitchFamily="34" charset="-120"/>
              </a:rPr>
              <a:t>cảnh báo chất lượng</a:t>
            </a:r>
            <a:endParaRPr lang="en-US" sz="1200" dirty="0"/>
          </a:p>
        </p:txBody>
      </p:sp>
      <p:sp>
        <p:nvSpPr>
          <p:cNvPr id="9" name="Text 7"/>
          <p:cNvSpPr/>
          <p:nvPr/>
        </p:nvSpPr>
        <p:spPr>
          <a:xfrm>
            <a:off x="3401568" y="3291840"/>
            <a:ext cx="566928" cy="457200"/>
          </a:xfrm>
          <a:prstGeom prst="rect">
            <a:avLst/>
          </a:prstGeom>
          <a:noFill/>
          <a:ln/>
        </p:spPr>
        <p:txBody>
          <a:bodyPr wrap="square" lIns="0" tIns="0" rIns="0" bIns="0" rtlCol="0" anchor="ctr"/>
          <a:lstStyle/>
          <a:p>
            <a:pPr algn="ctr" indent="0" marL="0">
              <a:buNone/>
            </a:pPr>
            <a:r>
              <a:rPr lang="en-US" sz="2400" dirty="0">
                <a:solidFill>
                  <a:srgbClr val="94A3B8"/>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968496" y="2962656"/>
            <a:ext cx="2834640" cy="1097280"/>
          </a:xfrm>
          <a:prstGeom prst="roundRect">
            <a:avLst>
              <a:gd name="adj" fmla="val 6667"/>
            </a:avLst>
          </a:prstGeom>
          <a:solidFill>
            <a:srgbClr val="DCFCE7"/>
          </a:solidFill>
          <a:ln/>
          <a:effectLst>
            <a:outerShdw sx="100000" sy="100000" kx="0" ky="0" algn="bl" rotWithShape="0" blurRad="127000" dist="25400" dir="5400000">
              <a:srgbClr val="9AA8C0">
                <a:alpha val="28000"/>
              </a:srgbClr>
            </a:outerShdw>
          </a:effectLst>
        </p:spPr>
      </p:sp>
      <p:sp>
        <p:nvSpPr>
          <p:cNvPr id="11" name="Text 9"/>
          <p:cNvSpPr/>
          <p:nvPr/>
        </p:nvSpPr>
        <p:spPr>
          <a:xfrm>
            <a:off x="3968496" y="3054096"/>
            <a:ext cx="2834640" cy="548640"/>
          </a:xfrm>
          <a:prstGeom prst="rect">
            <a:avLst/>
          </a:prstGeom>
          <a:noFill/>
          <a:ln/>
        </p:spPr>
        <p:txBody>
          <a:bodyPr wrap="square" lIns="0" tIns="0" rIns="0" bIns="0" rtlCol="0" anchor="ctr"/>
          <a:lstStyle/>
          <a:p>
            <a:pPr algn="ctr" indent="0" marL="0">
              <a:buNone/>
            </a:pPr>
            <a:r>
              <a:rPr lang="en-US" sz="3000" b="1" dirty="0">
                <a:solidFill>
                  <a:srgbClr val="15803D"/>
                </a:solidFill>
                <a:latin typeface="Cambria" pitchFamily="34" charset="0"/>
                <a:ea typeface="Cambria" pitchFamily="34" charset="-122"/>
                <a:cs typeface="Cambria" pitchFamily="34" charset="-120"/>
              </a:rPr>
              <a:t>17</a:t>
            </a:r>
            <a:endParaRPr lang="en-US" sz="3000" dirty="0"/>
          </a:p>
        </p:txBody>
      </p:sp>
      <p:sp>
        <p:nvSpPr>
          <p:cNvPr id="12" name="Text 10"/>
          <p:cNvSpPr/>
          <p:nvPr/>
        </p:nvSpPr>
        <p:spPr>
          <a:xfrm>
            <a:off x="3968496" y="3602736"/>
            <a:ext cx="2834640" cy="274320"/>
          </a:xfrm>
          <a:prstGeom prst="rect">
            <a:avLst/>
          </a:prstGeom>
          <a:noFill/>
          <a:ln/>
        </p:spPr>
        <p:txBody>
          <a:bodyPr wrap="square" lIns="0" tIns="0" rIns="0" bIns="0" rtlCol="0" anchor="ctr"/>
          <a:lstStyle/>
          <a:p>
            <a:pPr algn="ctr" indent="0" marL="0">
              <a:buNone/>
            </a:pPr>
            <a:r>
              <a:rPr lang="en-US" sz="1200" dirty="0">
                <a:solidFill>
                  <a:srgbClr val="166534"/>
                </a:solidFill>
                <a:latin typeface="Calibri" pitchFamily="34" charset="0"/>
                <a:ea typeface="Calibri" pitchFamily="34" charset="-122"/>
                <a:cs typeface="Calibri" pitchFamily="34" charset="-120"/>
              </a:rPr>
              <a:t>đều được xử lý</a:t>
            </a:r>
            <a:endParaRPr lang="en-US" sz="1200" dirty="0"/>
          </a:p>
        </p:txBody>
      </p:sp>
      <p:sp>
        <p:nvSpPr>
          <p:cNvPr id="13" name="Text 11"/>
          <p:cNvSpPr/>
          <p:nvPr/>
        </p:nvSpPr>
        <p:spPr>
          <a:xfrm>
            <a:off x="566928" y="4169664"/>
            <a:ext cx="6236208" cy="310896"/>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Không thêm thao tác nào tự nghĩ ra, không bỏ sót cảnh báo nào.</a:t>
            </a:r>
            <a:endParaRPr lang="en-US" sz="1250" dirty="0"/>
          </a:p>
        </p:txBody>
      </p:sp>
      <p:sp>
        <p:nvSpPr>
          <p:cNvPr id="14" name="Shape 12"/>
          <p:cNvSpPr/>
          <p:nvPr/>
        </p:nvSpPr>
        <p:spPr>
          <a:xfrm>
            <a:off x="566928" y="4663440"/>
            <a:ext cx="6236208" cy="1444752"/>
          </a:xfrm>
          <a:prstGeom prst="roundRect">
            <a:avLst>
              <a:gd name="adj" fmla="val 5063"/>
            </a:avLst>
          </a:prstGeom>
          <a:solidFill>
            <a:srgbClr val="EEF2FA"/>
          </a:solidFill>
          <a:ln/>
          <a:effectLst>
            <a:outerShdw sx="100000" sy="100000" kx="0" ky="0" algn="bl" rotWithShape="0" blurRad="127000" dist="25400" dir="5400000">
              <a:srgbClr val="9AA8C0">
                <a:alpha val="28000"/>
              </a:srgbClr>
            </a:outerShdw>
          </a:effectLst>
        </p:spPr>
      </p:sp>
      <p:sp>
        <p:nvSpPr>
          <p:cNvPr id="15" name="Text 13"/>
          <p:cNvSpPr/>
          <p:nvPr/>
        </p:nvSpPr>
        <p:spPr>
          <a:xfrm>
            <a:off x="841248" y="4809744"/>
            <a:ext cx="5687568" cy="292608"/>
          </a:xfrm>
          <a:prstGeom prst="rect">
            <a:avLst/>
          </a:prstGeom>
          <a:noFill/>
          <a:ln/>
        </p:spPr>
        <p:txBody>
          <a:bodyPr wrap="square" lIns="0" tIns="0" rIns="0" bIns="0" rtlCol="0" anchor="ctr"/>
          <a:lstStyle/>
          <a:p>
            <a:pPr indent="0" marL="0">
              <a:buNone/>
            </a:pPr>
            <a:r>
              <a:rPr lang="en-US" sz="1350" b="1" dirty="0">
                <a:solidFill>
                  <a:srgbClr val="10203F"/>
                </a:solidFill>
                <a:latin typeface="Calibri" pitchFamily="34" charset="0"/>
                <a:ea typeface="Calibri" pitchFamily="34" charset="-122"/>
                <a:cs typeface="Calibri" pitchFamily="34" charset="-120"/>
              </a:rPr>
              <a:t>17 cảnh báo đó đến từ đâu</a:t>
            </a:r>
            <a:endParaRPr lang="en-US" sz="1350" dirty="0"/>
          </a:p>
        </p:txBody>
      </p:sp>
      <p:sp>
        <p:nvSpPr>
          <p:cNvPr id="16" name="Text 14"/>
          <p:cNvSpPr/>
          <p:nvPr/>
        </p:nvSpPr>
        <p:spPr>
          <a:xfrm>
            <a:off x="841248" y="5138928"/>
            <a:ext cx="5687568" cy="859536"/>
          </a:xfrm>
          <a:prstGeom prst="rect">
            <a:avLst/>
          </a:prstGeom>
          <a:noFill/>
          <a:ln/>
        </p:spPr>
        <p:txBody>
          <a:bodyPr wrap="square" lIns="0" tIns="0" rIns="0" bIns="0" rtlCol="0" anchor="t"/>
          <a:lstStyle/>
          <a:p>
            <a:pPr indent="0" marL="0">
              <a:lnSpc>
                <a:spcPts val="1900"/>
              </a:lnSpc>
              <a:buNone/>
            </a:pPr>
            <a:r>
              <a:rPr lang="en-US" sz="1200" dirty="0">
                <a:solidFill>
                  <a:srgbClr val="334155"/>
                </a:solidFill>
                <a:latin typeface="Calibri" pitchFamily="34" charset="0"/>
                <a:ea typeface="Calibri" pitchFamily="34" charset="-122"/>
                <a:cs typeface="Calibri" pitchFamily="34" charset="-120"/>
              </a:rPr>
              <a:t>Từ bước Từ điển dữ liệu — nơi em khảo sát cả 96 cột, xác định khóa chính từng bảng, đối chiếu toàn vẹn tham chiếu trên 15 quan hệ và thử công thức cho mọi cột nghi là suy diễn.</a:t>
            </a:r>
            <a:endParaRPr lang="en-US" sz="1200" dirty="0"/>
          </a:p>
        </p:txBody>
      </p:sp>
      <p:sp>
        <p:nvSpPr>
          <p:cNvPr id="17" name="Text 15"/>
          <p:cNvSpPr/>
          <p:nvPr/>
        </p:nvSpPr>
        <p:spPr>
          <a:xfrm>
            <a:off x="7260336" y="2907792"/>
            <a:ext cx="4364431" cy="310896"/>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Ba ràng buộc tự đặt ra</a:t>
            </a:r>
            <a:endParaRPr lang="en-US" sz="1500" dirty="0"/>
          </a:p>
        </p:txBody>
      </p:sp>
      <p:sp>
        <p:nvSpPr>
          <p:cNvPr id="18" name="Shape 16"/>
          <p:cNvSpPr/>
          <p:nvPr/>
        </p:nvSpPr>
        <p:spPr>
          <a:xfrm>
            <a:off x="7260336" y="3291840"/>
            <a:ext cx="4364431" cy="877824"/>
          </a:xfrm>
          <a:prstGeom prst="roundRect">
            <a:avLst>
              <a:gd name="adj" fmla="val 8333"/>
            </a:avLst>
          </a:prstGeom>
          <a:solidFill>
            <a:srgbClr val="EEF2FA"/>
          </a:solidFill>
          <a:ln/>
          <a:effectLst>
            <a:outerShdw sx="100000" sy="100000" kx="0" ky="0" algn="bl" rotWithShape="0" blurRad="127000" dist="25400" dir="5400000">
              <a:srgbClr val="9AA8C0">
                <a:alpha val="28000"/>
              </a:srgbClr>
            </a:outerShdw>
          </a:effectLst>
        </p:spPr>
      </p:sp>
      <p:sp>
        <p:nvSpPr>
          <p:cNvPr id="19" name="Shape 17"/>
          <p:cNvSpPr/>
          <p:nvPr/>
        </p:nvSpPr>
        <p:spPr>
          <a:xfrm>
            <a:off x="7461504" y="3529584"/>
            <a:ext cx="402336" cy="402336"/>
          </a:xfrm>
          <a:prstGeom prst="ellipse">
            <a:avLst/>
          </a:prstGeom>
          <a:solidFill>
            <a:srgbClr val="1E2761"/>
          </a:solidFill>
          <a:ln/>
        </p:spPr>
      </p:sp>
      <p:sp>
        <p:nvSpPr>
          <p:cNvPr id="20" name="Text 18"/>
          <p:cNvSpPr/>
          <p:nvPr/>
        </p:nvSpPr>
        <p:spPr>
          <a:xfrm>
            <a:off x="7461504" y="35295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1" name="Text 19"/>
          <p:cNvSpPr/>
          <p:nvPr/>
        </p:nvSpPr>
        <p:spPr>
          <a:xfrm>
            <a:off x="7991856" y="3401568"/>
            <a:ext cx="3431743" cy="310896"/>
          </a:xfrm>
          <a:prstGeom prst="rect">
            <a:avLst/>
          </a:prstGeom>
          <a:noFill/>
          <a:ln/>
        </p:spPr>
        <p:txBody>
          <a:bodyPr wrap="square" lIns="0" tIns="0" rIns="0" bIns="0" rtlCol="0" anchor="ctr"/>
          <a:lstStyle/>
          <a:p>
            <a:pPr indent="0" marL="0">
              <a:buNone/>
            </a:pPr>
            <a:r>
              <a:rPr lang="en-US" sz="1400" b="1" dirty="0">
                <a:solidFill>
                  <a:srgbClr val="10203F"/>
                </a:solidFill>
                <a:latin typeface="Calibri" pitchFamily="34" charset="0"/>
                <a:ea typeface="Calibri" pitchFamily="34" charset="-122"/>
                <a:cs typeface="Calibri" pitchFamily="34" charset="-120"/>
              </a:rPr>
              <a:t>Không xóa dòng nào</a:t>
            </a:r>
            <a:endParaRPr lang="en-US" sz="1400" dirty="0"/>
          </a:p>
        </p:txBody>
      </p:sp>
      <p:sp>
        <p:nvSpPr>
          <p:cNvPr id="22" name="Text 20"/>
          <p:cNvSpPr/>
          <p:nvPr/>
        </p:nvSpPr>
        <p:spPr>
          <a:xfrm>
            <a:off x="7991856" y="3712464"/>
            <a:ext cx="3431743" cy="402336"/>
          </a:xfrm>
          <a:prstGeom prst="rect">
            <a:avLst/>
          </a:prstGeom>
          <a:noFill/>
          <a:ln/>
        </p:spPr>
        <p:txBody>
          <a:bodyPr wrap="square" lIns="0" tIns="0" rIns="0" bIns="0" rtlCol="0" anchor="t"/>
          <a:lstStyle/>
          <a:p>
            <a:pPr indent="0" marL="0">
              <a:lnSpc>
                <a:spcPts val="1500"/>
              </a:lnSpc>
              <a:buNone/>
            </a:pPr>
            <a:r>
              <a:rPr lang="en-US" sz="1100" dirty="0">
                <a:solidFill>
                  <a:srgbClr val="64748B"/>
                </a:solidFill>
                <a:latin typeface="Calibri" pitchFamily="34" charset="0"/>
                <a:ea typeface="Calibri" pitchFamily="34" charset="-122"/>
                <a:cs typeface="Calibri" pitchFamily="34" charset="-120"/>
              </a:rPr>
              <a:t>Dữ liệu bẩn ở đây là cột thừa, không phải dòng lỗi</a:t>
            </a:r>
            <a:endParaRPr lang="en-US" sz="1100" dirty="0"/>
          </a:p>
        </p:txBody>
      </p:sp>
      <p:sp>
        <p:nvSpPr>
          <p:cNvPr id="23" name="Shape 21"/>
          <p:cNvSpPr/>
          <p:nvPr/>
        </p:nvSpPr>
        <p:spPr>
          <a:xfrm>
            <a:off x="7260336" y="4261104"/>
            <a:ext cx="4364431" cy="877824"/>
          </a:xfrm>
          <a:prstGeom prst="roundRect">
            <a:avLst>
              <a:gd name="adj" fmla="val 8333"/>
            </a:avLst>
          </a:prstGeom>
          <a:solidFill>
            <a:srgbClr val="EEF2FA"/>
          </a:solidFill>
          <a:ln/>
          <a:effectLst>
            <a:outerShdw sx="100000" sy="100000" kx="0" ky="0" algn="bl" rotWithShape="0" blurRad="127000" dist="25400" dir="5400000">
              <a:srgbClr val="9AA8C0">
                <a:alpha val="28000"/>
              </a:srgbClr>
            </a:outerShdw>
          </a:effectLst>
        </p:spPr>
      </p:sp>
      <p:sp>
        <p:nvSpPr>
          <p:cNvPr id="24" name="Shape 22"/>
          <p:cNvSpPr/>
          <p:nvPr/>
        </p:nvSpPr>
        <p:spPr>
          <a:xfrm>
            <a:off x="7461504" y="4498848"/>
            <a:ext cx="402336" cy="402336"/>
          </a:xfrm>
          <a:prstGeom prst="ellipse">
            <a:avLst/>
          </a:prstGeom>
          <a:solidFill>
            <a:srgbClr val="1E2761"/>
          </a:solidFill>
          <a:ln/>
        </p:spPr>
      </p:sp>
      <p:sp>
        <p:nvSpPr>
          <p:cNvPr id="25" name="Text 23"/>
          <p:cNvSpPr/>
          <p:nvPr/>
        </p:nvSpPr>
        <p:spPr>
          <a:xfrm>
            <a:off x="7461504" y="4498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6" name="Text 24"/>
          <p:cNvSpPr/>
          <p:nvPr/>
        </p:nvSpPr>
        <p:spPr>
          <a:xfrm>
            <a:off x="7991856" y="4370832"/>
            <a:ext cx="3431743" cy="310896"/>
          </a:xfrm>
          <a:prstGeom prst="rect">
            <a:avLst/>
          </a:prstGeom>
          <a:noFill/>
          <a:ln/>
        </p:spPr>
        <p:txBody>
          <a:bodyPr wrap="square" lIns="0" tIns="0" rIns="0" bIns="0" rtlCol="0" anchor="ctr"/>
          <a:lstStyle/>
          <a:p>
            <a:pPr indent="0" marL="0">
              <a:buNone/>
            </a:pPr>
            <a:r>
              <a:rPr lang="en-US" sz="1400" b="1" dirty="0">
                <a:solidFill>
                  <a:srgbClr val="10203F"/>
                </a:solidFill>
                <a:latin typeface="Calibri" pitchFamily="34" charset="0"/>
                <a:ea typeface="Calibri" pitchFamily="34" charset="-122"/>
                <a:cs typeface="Calibri" pitchFamily="34" charset="-120"/>
              </a:rPr>
              <a:t>Không sửa dữ liệu gốc</a:t>
            </a:r>
            <a:endParaRPr lang="en-US" sz="1400" dirty="0"/>
          </a:p>
        </p:txBody>
      </p:sp>
      <p:sp>
        <p:nvSpPr>
          <p:cNvPr id="27" name="Text 25"/>
          <p:cNvSpPr/>
          <p:nvPr/>
        </p:nvSpPr>
        <p:spPr>
          <a:xfrm>
            <a:off x="7991856" y="4681728"/>
            <a:ext cx="3431743" cy="402336"/>
          </a:xfrm>
          <a:prstGeom prst="rect">
            <a:avLst/>
          </a:prstGeom>
          <a:noFill/>
          <a:ln/>
        </p:spPr>
        <p:txBody>
          <a:bodyPr wrap="square" lIns="0" tIns="0" rIns="0" bIns="0" rtlCol="0" anchor="t"/>
          <a:lstStyle/>
          <a:p>
            <a:pPr indent="0" marL="0">
              <a:lnSpc>
                <a:spcPts val="1500"/>
              </a:lnSpc>
              <a:buNone/>
            </a:pPr>
            <a:r>
              <a:rPr lang="en-US" sz="1100" dirty="0">
                <a:solidFill>
                  <a:srgbClr val="64748B"/>
                </a:solidFill>
                <a:latin typeface="Calibri" pitchFamily="34" charset="0"/>
                <a:ea typeface="Calibri" pitchFamily="34" charset="-122"/>
                <a:cs typeface="Calibri" pitchFamily="34" charset="-120"/>
              </a:rPr>
              <a:t>Ghi ra data_clean/, giữ nguyên data/ để đối chiếu</a:t>
            </a:r>
            <a:endParaRPr lang="en-US" sz="1100" dirty="0"/>
          </a:p>
        </p:txBody>
      </p:sp>
      <p:sp>
        <p:nvSpPr>
          <p:cNvPr id="28" name="Shape 26"/>
          <p:cNvSpPr/>
          <p:nvPr/>
        </p:nvSpPr>
        <p:spPr>
          <a:xfrm>
            <a:off x="7260336" y="5230368"/>
            <a:ext cx="4364431" cy="877824"/>
          </a:xfrm>
          <a:prstGeom prst="roundRect">
            <a:avLst>
              <a:gd name="adj" fmla="val 8333"/>
            </a:avLst>
          </a:prstGeom>
          <a:solidFill>
            <a:srgbClr val="EEF2FA"/>
          </a:solidFill>
          <a:ln/>
          <a:effectLst>
            <a:outerShdw sx="100000" sy="100000" kx="0" ky="0" algn="bl" rotWithShape="0" blurRad="127000" dist="25400" dir="5400000">
              <a:srgbClr val="9AA8C0">
                <a:alpha val="28000"/>
              </a:srgbClr>
            </a:outerShdw>
          </a:effectLst>
        </p:spPr>
      </p:sp>
      <p:sp>
        <p:nvSpPr>
          <p:cNvPr id="29" name="Shape 27"/>
          <p:cNvSpPr/>
          <p:nvPr/>
        </p:nvSpPr>
        <p:spPr>
          <a:xfrm>
            <a:off x="7461504" y="5468112"/>
            <a:ext cx="402336" cy="402336"/>
          </a:xfrm>
          <a:prstGeom prst="ellipse">
            <a:avLst/>
          </a:prstGeom>
          <a:solidFill>
            <a:srgbClr val="1E2761"/>
          </a:solidFill>
          <a:ln/>
        </p:spPr>
      </p:sp>
      <p:sp>
        <p:nvSpPr>
          <p:cNvPr id="30" name="Text 28"/>
          <p:cNvSpPr/>
          <p:nvPr/>
        </p:nvSpPr>
        <p:spPr>
          <a:xfrm>
            <a:off x="7461504" y="5468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1" name="Text 29"/>
          <p:cNvSpPr/>
          <p:nvPr/>
        </p:nvSpPr>
        <p:spPr>
          <a:xfrm>
            <a:off x="7991856" y="5340096"/>
            <a:ext cx="3431743" cy="310896"/>
          </a:xfrm>
          <a:prstGeom prst="rect">
            <a:avLst/>
          </a:prstGeom>
          <a:noFill/>
          <a:ln/>
        </p:spPr>
        <p:txBody>
          <a:bodyPr wrap="square" lIns="0" tIns="0" rIns="0" bIns="0" rtlCol="0" anchor="ctr"/>
          <a:lstStyle/>
          <a:p>
            <a:pPr indent="0" marL="0">
              <a:buNone/>
            </a:pPr>
            <a:r>
              <a:rPr lang="en-US" sz="1400" b="1" dirty="0">
                <a:solidFill>
                  <a:srgbClr val="10203F"/>
                </a:solidFill>
                <a:latin typeface="Calibri" pitchFamily="34" charset="0"/>
                <a:ea typeface="Calibri" pitchFamily="34" charset="-122"/>
                <a:cs typeface="Calibri" pitchFamily="34" charset="-120"/>
              </a:rPr>
              <a:t>Kiểm chứng lại sau khi làm sạch</a:t>
            </a:r>
            <a:endParaRPr lang="en-US" sz="1400" dirty="0"/>
          </a:p>
        </p:txBody>
      </p:sp>
      <p:sp>
        <p:nvSpPr>
          <p:cNvPr id="32" name="Text 30"/>
          <p:cNvSpPr/>
          <p:nvPr/>
        </p:nvSpPr>
        <p:spPr>
          <a:xfrm>
            <a:off x="7991856" y="5650992"/>
            <a:ext cx="3431743" cy="402336"/>
          </a:xfrm>
          <a:prstGeom prst="rect">
            <a:avLst/>
          </a:prstGeom>
          <a:noFill/>
          <a:ln/>
        </p:spPr>
        <p:txBody>
          <a:bodyPr wrap="square" lIns="0" tIns="0" rIns="0" bIns="0" rtlCol="0" anchor="t"/>
          <a:lstStyle/>
          <a:p>
            <a:pPr indent="0" marL="0">
              <a:lnSpc>
                <a:spcPts val="1500"/>
              </a:lnSpc>
              <a:buNone/>
            </a:pPr>
            <a:r>
              <a:rPr lang="en-US" sz="1100" dirty="0">
                <a:solidFill>
                  <a:srgbClr val="64748B"/>
                </a:solidFill>
                <a:latin typeface="Calibri" pitchFamily="34" charset="0"/>
                <a:ea typeface="Calibri" pitchFamily="34" charset="-122"/>
                <a:cs typeface="Calibri" pitchFamily="34" charset="-120"/>
              </a:rPr>
              <a:t>Toàn vẹn tham chiếu và biến mục tiêu không đổi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Tám nhóm thao tác</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Bốn bước có dấu ★ là nơi phải ra quyết định, không chỉ thao tác máy móc</a:t>
            </a:r>
            <a:endParaRPr lang="en-US" sz="1350" dirty="0"/>
          </a:p>
        </p:txBody>
      </p:sp>
      <p:sp>
        <p:nvSpPr>
          <p:cNvPr id="4" name="Shape 2"/>
          <p:cNvSpPr/>
          <p:nvPr/>
        </p:nvSpPr>
        <p:spPr>
          <a:xfrm>
            <a:off x="566928" y="1572768"/>
            <a:ext cx="2572436" cy="1755648"/>
          </a:xfrm>
          <a:prstGeom prst="roundRect">
            <a:avLst>
              <a:gd name="adj" fmla="val 4167"/>
            </a:avLst>
          </a:prstGeom>
          <a:solidFill>
            <a:srgbClr val="EEF2FA"/>
          </a:solidFill>
          <a:ln/>
          <a:effectLst>
            <a:outerShdw sx="100000" sy="100000" kx="0" ky="0" algn="bl" rotWithShape="0" blurRad="127000" dist="25400" dir="5400000">
              <a:srgbClr val="9AA8C0">
                <a:alpha val="28000"/>
              </a:srgbClr>
            </a:outerShdw>
          </a:effectLst>
        </p:spPr>
      </p:sp>
      <p:sp>
        <p:nvSpPr>
          <p:cNvPr id="5" name="Shape 3"/>
          <p:cNvSpPr/>
          <p:nvPr/>
        </p:nvSpPr>
        <p:spPr>
          <a:xfrm>
            <a:off x="786384" y="1792224"/>
            <a:ext cx="420624" cy="420624"/>
          </a:xfrm>
          <a:prstGeom prst="ellipse">
            <a:avLst/>
          </a:prstGeom>
          <a:solidFill>
            <a:srgbClr val="3A4A6B"/>
          </a:solidFill>
          <a:ln/>
        </p:spPr>
      </p:sp>
      <p:sp>
        <p:nvSpPr>
          <p:cNvPr id="6" name="Text 4"/>
          <p:cNvSpPr/>
          <p:nvPr/>
        </p:nvSpPr>
        <p:spPr>
          <a:xfrm>
            <a:off x="786384" y="1792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86384" y="2322576"/>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Ép kiểu ngày</a:t>
            </a:r>
            <a:endParaRPr lang="en-US" sz="1400" dirty="0"/>
          </a:p>
        </p:txBody>
      </p:sp>
      <p:sp>
        <p:nvSpPr>
          <p:cNvPr id="8" name="Text 6"/>
          <p:cNvSpPr/>
          <p:nvPr/>
        </p:nvSpPr>
        <p:spPr>
          <a:xfrm>
            <a:off x="786384" y="2761488"/>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12 cột chuỗi → datetime</a:t>
            </a:r>
            <a:endParaRPr lang="en-US" sz="1150" dirty="0"/>
          </a:p>
        </p:txBody>
      </p:sp>
      <p:sp>
        <p:nvSpPr>
          <p:cNvPr id="9" name="Shape 7"/>
          <p:cNvSpPr/>
          <p:nvPr/>
        </p:nvSpPr>
        <p:spPr>
          <a:xfrm>
            <a:off x="3395396" y="1572768"/>
            <a:ext cx="2572436" cy="1755648"/>
          </a:xfrm>
          <a:prstGeom prst="roundRect">
            <a:avLst>
              <a:gd name="adj" fmla="val 4167"/>
            </a:avLst>
          </a:prstGeom>
          <a:solidFill>
            <a:srgbClr val="CADCFC"/>
          </a:solidFill>
          <a:ln/>
          <a:effectLst>
            <a:outerShdw sx="100000" sy="100000" kx="0" ky="0" algn="bl" rotWithShape="0" blurRad="127000" dist="25400" dir="5400000">
              <a:srgbClr val="9AA8C0">
                <a:alpha val="28000"/>
              </a:srgbClr>
            </a:outerShdw>
          </a:effectLst>
        </p:spPr>
      </p:sp>
      <p:sp>
        <p:nvSpPr>
          <p:cNvPr id="10" name="Shape 8"/>
          <p:cNvSpPr/>
          <p:nvPr/>
        </p:nvSpPr>
        <p:spPr>
          <a:xfrm>
            <a:off x="3614852" y="1792224"/>
            <a:ext cx="420624" cy="420624"/>
          </a:xfrm>
          <a:prstGeom prst="ellipse">
            <a:avLst/>
          </a:prstGeom>
          <a:solidFill>
            <a:srgbClr val="1E2761"/>
          </a:solidFill>
          <a:ln/>
        </p:spPr>
      </p:sp>
      <p:sp>
        <p:nvSpPr>
          <p:cNvPr id="11" name="Text 9"/>
          <p:cNvSpPr/>
          <p:nvPr/>
        </p:nvSpPr>
        <p:spPr>
          <a:xfrm>
            <a:off x="3614852" y="1792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400904" y="1755648"/>
            <a:ext cx="384048" cy="384048"/>
          </a:xfrm>
          <a:prstGeom prst="rect">
            <a:avLst/>
          </a:prstGeom>
          <a:noFill/>
          <a:ln/>
        </p:spPr>
        <p:txBody>
          <a:bodyPr wrap="square" lIns="0" tIns="0" rIns="0" bIns="0" rtlCol="0" anchor="ctr"/>
          <a:lstStyle/>
          <a:p>
            <a:pPr algn="ctr" indent="0" marL="0">
              <a:buNone/>
            </a:pPr>
            <a:r>
              <a:rPr lang="en-US" sz="1700" dirty="0">
                <a:solidFill>
                  <a:srgbClr val="D97706"/>
                </a:solidFill>
                <a:latin typeface="Calibri" pitchFamily="34" charset="0"/>
                <a:ea typeface="Calibri" pitchFamily="34" charset="-122"/>
                <a:cs typeface="Calibri" pitchFamily="34" charset="-120"/>
              </a:rPr>
              <a:t>★</a:t>
            </a:r>
            <a:endParaRPr lang="en-US" sz="1700" dirty="0"/>
          </a:p>
        </p:txBody>
      </p:sp>
      <p:sp>
        <p:nvSpPr>
          <p:cNvPr id="13" name="Text 11"/>
          <p:cNvSpPr/>
          <p:nvPr/>
        </p:nvSpPr>
        <p:spPr>
          <a:xfrm>
            <a:off x="3614852" y="2322576"/>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Thêm khóa thay thế</a:t>
            </a:r>
            <a:endParaRPr lang="en-US" sz="1400" dirty="0"/>
          </a:p>
        </p:txBody>
      </p:sp>
      <p:sp>
        <p:nvSpPr>
          <p:cNvPr id="14" name="Text 12"/>
          <p:cNvSpPr/>
          <p:nvPr/>
        </p:nvSpPr>
        <p:spPr>
          <a:xfrm>
            <a:off x="3614852" y="2761488"/>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order_items có 16 cặp trùng</a:t>
            </a:r>
            <a:endParaRPr lang="en-US" sz="1150" dirty="0"/>
          </a:p>
        </p:txBody>
      </p:sp>
      <p:sp>
        <p:nvSpPr>
          <p:cNvPr id="15" name="Shape 13"/>
          <p:cNvSpPr/>
          <p:nvPr/>
        </p:nvSpPr>
        <p:spPr>
          <a:xfrm>
            <a:off x="6223864" y="1572768"/>
            <a:ext cx="2572436" cy="1755648"/>
          </a:xfrm>
          <a:prstGeom prst="roundRect">
            <a:avLst>
              <a:gd name="adj" fmla="val 4167"/>
            </a:avLst>
          </a:prstGeom>
          <a:solidFill>
            <a:srgbClr val="EEF2FA"/>
          </a:solidFill>
          <a:ln/>
          <a:effectLst>
            <a:outerShdw sx="100000" sy="100000" kx="0" ky="0" algn="bl" rotWithShape="0" blurRad="127000" dist="25400" dir="5400000">
              <a:srgbClr val="9AA8C0">
                <a:alpha val="28000"/>
              </a:srgbClr>
            </a:outerShdw>
          </a:effectLst>
        </p:spPr>
      </p:sp>
      <p:sp>
        <p:nvSpPr>
          <p:cNvPr id="16" name="Shape 14"/>
          <p:cNvSpPr/>
          <p:nvPr/>
        </p:nvSpPr>
        <p:spPr>
          <a:xfrm>
            <a:off x="6443320" y="1792224"/>
            <a:ext cx="420624" cy="420624"/>
          </a:xfrm>
          <a:prstGeom prst="ellipse">
            <a:avLst/>
          </a:prstGeom>
          <a:solidFill>
            <a:srgbClr val="3A4A6B"/>
          </a:solidFill>
          <a:ln/>
        </p:spPr>
      </p:sp>
      <p:sp>
        <p:nvSpPr>
          <p:cNvPr id="17" name="Text 15"/>
          <p:cNvSpPr/>
          <p:nvPr/>
        </p:nvSpPr>
        <p:spPr>
          <a:xfrm>
            <a:off x="6443320" y="1792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6443320" y="2322576"/>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Loại cột hằng số</a:t>
            </a:r>
            <a:endParaRPr lang="en-US" sz="1400" dirty="0"/>
          </a:p>
        </p:txBody>
      </p:sp>
      <p:sp>
        <p:nvSpPr>
          <p:cNvPr id="19" name="Text 17"/>
          <p:cNvSpPr/>
          <p:nvPr/>
        </p:nvSpPr>
        <p:spPr>
          <a:xfrm>
            <a:off x="6443320" y="2761488"/>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1 cột, phương sai bằng 0</a:t>
            </a:r>
            <a:endParaRPr lang="en-US" sz="1150" dirty="0"/>
          </a:p>
        </p:txBody>
      </p:sp>
      <p:sp>
        <p:nvSpPr>
          <p:cNvPr id="20" name="Shape 18"/>
          <p:cNvSpPr/>
          <p:nvPr/>
        </p:nvSpPr>
        <p:spPr>
          <a:xfrm>
            <a:off x="9052331" y="1572768"/>
            <a:ext cx="2572436" cy="1755648"/>
          </a:xfrm>
          <a:prstGeom prst="roundRect">
            <a:avLst>
              <a:gd name="adj" fmla="val 4167"/>
            </a:avLst>
          </a:prstGeom>
          <a:solidFill>
            <a:srgbClr val="EEF2FA"/>
          </a:solidFill>
          <a:ln/>
          <a:effectLst>
            <a:outerShdw sx="100000" sy="100000" kx="0" ky="0" algn="bl" rotWithShape="0" blurRad="127000" dist="25400" dir="5400000">
              <a:srgbClr val="9AA8C0">
                <a:alpha val="28000"/>
              </a:srgbClr>
            </a:outerShdw>
          </a:effectLst>
        </p:spPr>
      </p:sp>
      <p:sp>
        <p:nvSpPr>
          <p:cNvPr id="21" name="Shape 19"/>
          <p:cNvSpPr/>
          <p:nvPr/>
        </p:nvSpPr>
        <p:spPr>
          <a:xfrm>
            <a:off x="9271787" y="1792224"/>
            <a:ext cx="420624" cy="420624"/>
          </a:xfrm>
          <a:prstGeom prst="ellipse">
            <a:avLst/>
          </a:prstGeom>
          <a:solidFill>
            <a:srgbClr val="3A4A6B"/>
          </a:solidFill>
          <a:ln/>
        </p:spPr>
      </p:sp>
      <p:sp>
        <p:nvSpPr>
          <p:cNvPr id="22" name="Text 20"/>
          <p:cNvSpPr/>
          <p:nvPr/>
        </p:nvSpPr>
        <p:spPr>
          <a:xfrm>
            <a:off x="9271787" y="1792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9271787" y="2322576"/>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Loại cột dư thừa</a:t>
            </a:r>
            <a:endParaRPr lang="en-US" sz="1400" dirty="0"/>
          </a:p>
        </p:txBody>
      </p:sp>
      <p:sp>
        <p:nvSpPr>
          <p:cNvPr id="24" name="Text 22"/>
          <p:cNvSpPr/>
          <p:nvPr/>
        </p:nvSpPr>
        <p:spPr>
          <a:xfrm>
            <a:off x="9271787" y="2761488"/>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7 cột, trùng khớp 100%</a:t>
            </a:r>
            <a:endParaRPr lang="en-US" sz="1150" dirty="0"/>
          </a:p>
        </p:txBody>
      </p:sp>
      <p:sp>
        <p:nvSpPr>
          <p:cNvPr id="25" name="Shape 23"/>
          <p:cNvSpPr/>
          <p:nvPr/>
        </p:nvSpPr>
        <p:spPr>
          <a:xfrm>
            <a:off x="566928" y="3602736"/>
            <a:ext cx="2572436" cy="1755648"/>
          </a:xfrm>
          <a:prstGeom prst="roundRect">
            <a:avLst>
              <a:gd name="adj" fmla="val 4167"/>
            </a:avLst>
          </a:prstGeom>
          <a:solidFill>
            <a:srgbClr val="CADCFC"/>
          </a:solidFill>
          <a:ln/>
          <a:effectLst>
            <a:outerShdw sx="100000" sy="100000" kx="0" ky="0" algn="bl" rotWithShape="0" blurRad="127000" dist="25400" dir="5400000">
              <a:srgbClr val="9AA8C0">
                <a:alpha val="28000"/>
              </a:srgbClr>
            </a:outerShdw>
          </a:effectLst>
        </p:spPr>
      </p:sp>
      <p:sp>
        <p:nvSpPr>
          <p:cNvPr id="26" name="Shape 24"/>
          <p:cNvSpPr/>
          <p:nvPr/>
        </p:nvSpPr>
        <p:spPr>
          <a:xfrm>
            <a:off x="786384" y="3822192"/>
            <a:ext cx="420624" cy="420624"/>
          </a:xfrm>
          <a:prstGeom prst="ellipse">
            <a:avLst/>
          </a:prstGeom>
          <a:solidFill>
            <a:srgbClr val="1E2761"/>
          </a:solidFill>
          <a:ln/>
        </p:spPr>
      </p:sp>
      <p:sp>
        <p:nvSpPr>
          <p:cNvPr id="27" name="Text 25"/>
          <p:cNvSpPr/>
          <p:nvPr/>
        </p:nvSpPr>
        <p:spPr>
          <a:xfrm>
            <a:off x="786384" y="38221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2572436" y="3785616"/>
            <a:ext cx="384048" cy="384048"/>
          </a:xfrm>
          <a:prstGeom prst="rect">
            <a:avLst/>
          </a:prstGeom>
          <a:noFill/>
          <a:ln/>
        </p:spPr>
        <p:txBody>
          <a:bodyPr wrap="square" lIns="0" tIns="0" rIns="0" bIns="0" rtlCol="0" anchor="ctr"/>
          <a:lstStyle/>
          <a:p>
            <a:pPr algn="ctr" indent="0" marL="0">
              <a:buNone/>
            </a:pPr>
            <a:r>
              <a:rPr lang="en-US" sz="1700" dirty="0">
                <a:solidFill>
                  <a:srgbClr val="D97706"/>
                </a:solidFill>
                <a:latin typeface="Calibri" pitchFamily="34" charset="0"/>
                <a:ea typeface="Calibri" pitchFamily="34" charset="-122"/>
                <a:cs typeface="Calibri" pitchFamily="34" charset="-120"/>
              </a:rPr>
              <a:t>★</a:t>
            </a:r>
            <a:endParaRPr lang="en-US" sz="1700" dirty="0"/>
          </a:p>
        </p:txBody>
      </p:sp>
      <p:sp>
        <p:nvSpPr>
          <p:cNvPr id="29" name="Text 27"/>
          <p:cNvSpPr/>
          <p:nvPr/>
        </p:nvSpPr>
        <p:spPr>
          <a:xfrm>
            <a:off x="786384" y="4352544"/>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Loại cột suy diễn</a:t>
            </a:r>
            <a:endParaRPr lang="en-US" sz="1400" dirty="0"/>
          </a:p>
        </p:txBody>
      </p:sp>
      <p:sp>
        <p:nvSpPr>
          <p:cNvPr id="30" name="Text 28"/>
          <p:cNvSpPr/>
          <p:nvPr/>
        </p:nvSpPr>
        <p:spPr>
          <a:xfrm>
            <a:off x="786384" y="4791456"/>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7 cột, tính lại được bằng công thức</a:t>
            </a:r>
            <a:endParaRPr lang="en-US" sz="1150" dirty="0"/>
          </a:p>
        </p:txBody>
      </p:sp>
      <p:sp>
        <p:nvSpPr>
          <p:cNvPr id="31" name="Shape 29"/>
          <p:cNvSpPr/>
          <p:nvPr/>
        </p:nvSpPr>
        <p:spPr>
          <a:xfrm>
            <a:off x="3395396" y="3602736"/>
            <a:ext cx="2572436" cy="1755648"/>
          </a:xfrm>
          <a:prstGeom prst="roundRect">
            <a:avLst>
              <a:gd name="adj" fmla="val 4167"/>
            </a:avLst>
          </a:prstGeom>
          <a:solidFill>
            <a:srgbClr val="CADCFC"/>
          </a:solidFill>
          <a:ln/>
          <a:effectLst>
            <a:outerShdw sx="100000" sy="100000" kx="0" ky="0" algn="bl" rotWithShape="0" blurRad="127000" dist="25400" dir="5400000">
              <a:srgbClr val="9AA8C0">
                <a:alpha val="28000"/>
              </a:srgbClr>
            </a:outerShdw>
          </a:effectLst>
        </p:spPr>
      </p:sp>
      <p:sp>
        <p:nvSpPr>
          <p:cNvPr id="32" name="Shape 30"/>
          <p:cNvSpPr/>
          <p:nvPr/>
        </p:nvSpPr>
        <p:spPr>
          <a:xfrm>
            <a:off x="3614852" y="3822192"/>
            <a:ext cx="420624" cy="420624"/>
          </a:xfrm>
          <a:prstGeom prst="ellipse">
            <a:avLst/>
          </a:prstGeom>
          <a:solidFill>
            <a:srgbClr val="1E2761"/>
          </a:solidFill>
          <a:ln/>
        </p:spPr>
      </p:sp>
      <p:sp>
        <p:nvSpPr>
          <p:cNvPr id="33" name="Text 31"/>
          <p:cNvSpPr/>
          <p:nvPr/>
        </p:nvSpPr>
        <p:spPr>
          <a:xfrm>
            <a:off x="3614852" y="38221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5400904" y="3785616"/>
            <a:ext cx="384048" cy="384048"/>
          </a:xfrm>
          <a:prstGeom prst="rect">
            <a:avLst/>
          </a:prstGeom>
          <a:noFill/>
          <a:ln/>
        </p:spPr>
        <p:txBody>
          <a:bodyPr wrap="square" lIns="0" tIns="0" rIns="0" bIns="0" rtlCol="0" anchor="ctr"/>
          <a:lstStyle/>
          <a:p>
            <a:pPr algn="ctr" indent="0" marL="0">
              <a:buNone/>
            </a:pPr>
            <a:r>
              <a:rPr lang="en-US" sz="1700" dirty="0">
                <a:solidFill>
                  <a:srgbClr val="D97706"/>
                </a:solidFill>
                <a:latin typeface="Calibri" pitchFamily="34" charset="0"/>
                <a:ea typeface="Calibri" pitchFamily="34" charset="-122"/>
                <a:cs typeface="Calibri" pitchFamily="34" charset="-120"/>
              </a:rPr>
              <a:t>★</a:t>
            </a:r>
            <a:endParaRPr lang="en-US" sz="1700" dirty="0"/>
          </a:p>
        </p:txBody>
      </p:sp>
      <p:sp>
        <p:nvSpPr>
          <p:cNvPr id="35" name="Text 33"/>
          <p:cNvSpPr/>
          <p:nvPr/>
        </p:nvSpPr>
        <p:spPr>
          <a:xfrm>
            <a:off x="3614852" y="4352544"/>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Giá trị thiếu có ngữ nghĩa</a:t>
            </a:r>
            <a:endParaRPr lang="en-US" sz="1400" dirty="0"/>
          </a:p>
        </p:txBody>
      </p:sp>
      <p:sp>
        <p:nvSpPr>
          <p:cNvPr id="36" name="Text 34"/>
          <p:cNvSpPr/>
          <p:nvPr/>
        </p:nvSpPr>
        <p:spPr>
          <a:xfrm>
            <a:off x="3614852" y="4791456"/>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3 cột, 3 cách xử lý khác nhau</a:t>
            </a:r>
            <a:endParaRPr lang="en-US" sz="1150" dirty="0"/>
          </a:p>
        </p:txBody>
      </p:sp>
      <p:sp>
        <p:nvSpPr>
          <p:cNvPr id="37" name="Shape 35"/>
          <p:cNvSpPr/>
          <p:nvPr/>
        </p:nvSpPr>
        <p:spPr>
          <a:xfrm>
            <a:off x="6223864" y="3602736"/>
            <a:ext cx="2572436" cy="1755648"/>
          </a:xfrm>
          <a:prstGeom prst="roundRect">
            <a:avLst>
              <a:gd name="adj" fmla="val 4167"/>
            </a:avLst>
          </a:prstGeom>
          <a:solidFill>
            <a:srgbClr val="CADCFC"/>
          </a:solidFill>
          <a:ln/>
          <a:effectLst>
            <a:outerShdw sx="100000" sy="100000" kx="0" ky="0" algn="bl" rotWithShape="0" blurRad="127000" dist="25400" dir="5400000">
              <a:srgbClr val="9AA8C0">
                <a:alpha val="28000"/>
              </a:srgbClr>
            </a:outerShdw>
          </a:effectLst>
        </p:spPr>
      </p:sp>
      <p:sp>
        <p:nvSpPr>
          <p:cNvPr id="38" name="Shape 36"/>
          <p:cNvSpPr/>
          <p:nvPr/>
        </p:nvSpPr>
        <p:spPr>
          <a:xfrm>
            <a:off x="6443320" y="3822192"/>
            <a:ext cx="420624" cy="420624"/>
          </a:xfrm>
          <a:prstGeom prst="ellipse">
            <a:avLst/>
          </a:prstGeom>
          <a:solidFill>
            <a:srgbClr val="1E2761"/>
          </a:solidFill>
          <a:ln/>
        </p:spPr>
      </p:sp>
      <p:sp>
        <p:nvSpPr>
          <p:cNvPr id="39" name="Text 37"/>
          <p:cNvSpPr/>
          <p:nvPr/>
        </p:nvSpPr>
        <p:spPr>
          <a:xfrm>
            <a:off x="6443320" y="38221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0" name="Text 38"/>
          <p:cNvSpPr/>
          <p:nvPr/>
        </p:nvSpPr>
        <p:spPr>
          <a:xfrm>
            <a:off x="8229371" y="3785616"/>
            <a:ext cx="384048" cy="384048"/>
          </a:xfrm>
          <a:prstGeom prst="rect">
            <a:avLst/>
          </a:prstGeom>
          <a:noFill/>
          <a:ln/>
        </p:spPr>
        <p:txBody>
          <a:bodyPr wrap="square" lIns="0" tIns="0" rIns="0" bIns="0" rtlCol="0" anchor="ctr"/>
          <a:lstStyle/>
          <a:p>
            <a:pPr algn="ctr" indent="0" marL="0">
              <a:buNone/>
            </a:pPr>
            <a:r>
              <a:rPr lang="en-US" sz="1700" dirty="0">
                <a:solidFill>
                  <a:srgbClr val="D97706"/>
                </a:solidFill>
                <a:latin typeface="Calibri" pitchFamily="34" charset="0"/>
                <a:ea typeface="Calibri" pitchFamily="34" charset="-122"/>
                <a:cs typeface="Calibri" pitchFamily="34" charset="-120"/>
              </a:rPr>
              <a:t>★</a:t>
            </a:r>
            <a:endParaRPr lang="en-US" sz="1700" dirty="0"/>
          </a:p>
        </p:txBody>
      </p:sp>
      <p:sp>
        <p:nvSpPr>
          <p:cNvPr id="41" name="Text 39"/>
          <p:cNvSpPr/>
          <p:nvPr/>
        </p:nvSpPr>
        <p:spPr>
          <a:xfrm>
            <a:off x="6443320" y="4352544"/>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Thay signup_date</a:t>
            </a:r>
            <a:endParaRPr lang="en-US" sz="1400" dirty="0"/>
          </a:p>
        </p:txBody>
      </p:sp>
      <p:sp>
        <p:nvSpPr>
          <p:cNvPr id="42" name="Text 40"/>
          <p:cNvSpPr/>
          <p:nvPr/>
        </p:nvSpPr>
        <p:spPr>
          <a:xfrm>
            <a:off x="6443320" y="4791456"/>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73,8% đơn vi phạm logic thời gian</a:t>
            </a:r>
            <a:endParaRPr lang="en-US" sz="1150" dirty="0"/>
          </a:p>
        </p:txBody>
      </p:sp>
      <p:sp>
        <p:nvSpPr>
          <p:cNvPr id="43" name="Shape 41"/>
          <p:cNvSpPr/>
          <p:nvPr/>
        </p:nvSpPr>
        <p:spPr>
          <a:xfrm>
            <a:off x="9052331" y="3602736"/>
            <a:ext cx="2572436" cy="1755648"/>
          </a:xfrm>
          <a:prstGeom prst="roundRect">
            <a:avLst>
              <a:gd name="adj" fmla="val 4167"/>
            </a:avLst>
          </a:prstGeom>
          <a:solidFill>
            <a:srgbClr val="EEF2FA"/>
          </a:solidFill>
          <a:ln/>
          <a:effectLst>
            <a:outerShdw sx="100000" sy="100000" kx="0" ky="0" algn="bl" rotWithShape="0" blurRad="127000" dist="25400" dir="5400000">
              <a:srgbClr val="9AA8C0">
                <a:alpha val="28000"/>
              </a:srgbClr>
            </a:outerShdw>
          </a:effectLst>
        </p:spPr>
      </p:sp>
      <p:sp>
        <p:nvSpPr>
          <p:cNvPr id="44" name="Shape 42"/>
          <p:cNvSpPr/>
          <p:nvPr/>
        </p:nvSpPr>
        <p:spPr>
          <a:xfrm>
            <a:off x="9271787" y="3822192"/>
            <a:ext cx="420624" cy="420624"/>
          </a:xfrm>
          <a:prstGeom prst="ellipse">
            <a:avLst/>
          </a:prstGeom>
          <a:solidFill>
            <a:srgbClr val="3A4A6B"/>
          </a:solidFill>
          <a:ln/>
        </p:spPr>
      </p:sp>
      <p:sp>
        <p:nvSpPr>
          <p:cNvPr id="45" name="Text 43"/>
          <p:cNvSpPr/>
          <p:nvPr/>
        </p:nvSpPr>
        <p:spPr>
          <a:xfrm>
            <a:off x="9271787" y="38221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6" name="Text 44"/>
          <p:cNvSpPr/>
          <p:nvPr/>
        </p:nvSpPr>
        <p:spPr>
          <a:xfrm>
            <a:off x="9271787" y="4352544"/>
            <a:ext cx="2133524" cy="457200"/>
          </a:xfrm>
          <a:prstGeom prst="rect">
            <a:avLst/>
          </a:prstGeom>
          <a:noFill/>
          <a:ln/>
        </p:spPr>
        <p:txBody>
          <a:bodyPr wrap="square" lIns="0" tIns="0" rIns="0" bIns="0" rtlCol="0" anchor="t"/>
          <a:lstStyle/>
          <a:p>
            <a:pPr indent="0" marL="0">
              <a:buNone/>
            </a:pPr>
            <a:r>
              <a:rPr lang="en-US" sz="1400" b="1" dirty="0">
                <a:solidFill>
                  <a:srgbClr val="10203F"/>
                </a:solidFill>
                <a:latin typeface="Calibri" pitchFamily="34" charset="0"/>
                <a:ea typeface="Calibri" pitchFamily="34" charset="-122"/>
                <a:cs typeface="Calibri" pitchFamily="34" charset="-120"/>
              </a:rPr>
              <a:t>Đánh dấu SKU chết</a:t>
            </a:r>
            <a:endParaRPr lang="en-US" sz="1400" dirty="0"/>
          </a:p>
        </p:txBody>
      </p:sp>
      <p:sp>
        <p:nvSpPr>
          <p:cNvPr id="47" name="Text 45"/>
          <p:cNvSpPr/>
          <p:nvPr/>
        </p:nvSpPr>
        <p:spPr>
          <a:xfrm>
            <a:off x="9271787" y="4791456"/>
            <a:ext cx="2133524" cy="457200"/>
          </a:xfrm>
          <a:prstGeom prst="rect">
            <a:avLst/>
          </a:prstGeom>
          <a:noFill/>
          <a:ln/>
        </p:spPr>
        <p:txBody>
          <a:bodyPr wrap="square" lIns="0" tIns="0" rIns="0" bIns="0" rtlCol="0" anchor="t"/>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814 sản phẩm — giữ lại, không xóa</a:t>
            </a:r>
            <a:endParaRPr lang="en-US" sz="1150" dirty="0"/>
          </a:p>
        </p:txBody>
      </p:sp>
      <p:sp>
        <p:nvSpPr>
          <p:cNvPr id="48" name="Text 46"/>
          <p:cNvSpPr/>
          <p:nvPr/>
        </p:nvSpPr>
        <p:spPr>
          <a:xfrm>
            <a:off x="566928" y="5797296"/>
            <a:ext cx="11057839" cy="347472"/>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Bốn bước đầu nói nhanh — bốn bước có ★ mới là chỗ ghi điểm.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Bước 2 — Thêm khóa thay thế cho order_items</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Lỗi nguy hiểm nhất trong bộ dữ liệu này, vì nó không hề báo lỗi</a:t>
            </a:r>
            <a:endParaRPr lang="en-US" sz="1350" dirty="0"/>
          </a:p>
        </p:txBody>
      </p:sp>
      <p:sp>
        <p:nvSpPr>
          <p:cNvPr id="4" name="Shape 2"/>
          <p:cNvSpPr/>
          <p:nvPr/>
        </p:nvSpPr>
        <p:spPr>
          <a:xfrm>
            <a:off x="566928" y="1554480"/>
            <a:ext cx="5394960" cy="1371600"/>
          </a:xfrm>
          <a:prstGeom prst="roundRect">
            <a:avLst>
              <a:gd name="adj" fmla="val 5333"/>
            </a:avLst>
          </a:prstGeom>
          <a:solidFill>
            <a:srgbClr val="FEF3C7"/>
          </a:solidFill>
          <a:ln/>
          <a:effectLst>
            <a:outerShdw sx="100000" sy="100000" kx="0" ky="0" algn="bl" rotWithShape="0" blurRad="127000" dist="25400" dir="5400000">
              <a:srgbClr val="9AA8C0">
                <a:alpha val="28000"/>
              </a:srgbClr>
            </a:outerShdw>
          </a:effectLst>
        </p:spPr>
      </p:sp>
      <p:sp>
        <p:nvSpPr>
          <p:cNvPr id="5" name="Text 3"/>
          <p:cNvSpPr/>
          <p:nvPr/>
        </p:nvSpPr>
        <p:spPr>
          <a:xfrm>
            <a:off x="877824" y="1700784"/>
            <a:ext cx="4754880" cy="256032"/>
          </a:xfrm>
          <a:prstGeom prst="rect">
            <a:avLst/>
          </a:prstGeom>
          <a:noFill/>
          <a:ln/>
        </p:spPr>
        <p:txBody>
          <a:bodyPr wrap="square" lIns="0" tIns="0" rIns="0" bIns="0" rtlCol="0" anchor="ctr"/>
          <a:lstStyle/>
          <a:p>
            <a:pPr indent="0" marL="0">
              <a:buNone/>
            </a:pPr>
            <a:r>
              <a:rPr lang="en-US" sz="1050" b="1" spc="140" kern="0" dirty="0">
                <a:solidFill>
                  <a:srgbClr val="92400E"/>
                </a:solidFill>
                <a:latin typeface="Calibri" pitchFamily="34" charset="0"/>
                <a:ea typeface="Calibri" pitchFamily="34" charset="-122"/>
                <a:cs typeface="Calibri" pitchFamily="34" charset="-120"/>
              </a:rPr>
              <a:t>CĂN CỨ</a:t>
            </a:r>
            <a:endParaRPr lang="en-US" sz="1050" dirty="0"/>
          </a:p>
        </p:txBody>
      </p:sp>
      <p:sp>
        <p:nvSpPr>
          <p:cNvPr id="6" name="Text 4"/>
          <p:cNvSpPr/>
          <p:nvPr/>
        </p:nvSpPr>
        <p:spPr>
          <a:xfrm>
            <a:off x="877824" y="1956816"/>
            <a:ext cx="4791456" cy="859536"/>
          </a:xfrm>
          <a:prstGeom prst="rect">
            <a:avLst/>
          </a:prstGeom>
          <a:noFill/>
          <a:ln/>
        </p:spPr>
        <p:txBody>
          <a:bodyPr wrap="square" lIns="0" tIns="0" rIns="0" bIns="0" rtlCol="0" anchor="t"/>
          <a:lstStyle/>
          <a:p>
            <a:pPr indent="0" marL="0">
              <a:lnSpc>
                <a:spcPts val="2100"/>
              </a:lnSpc>
              <a:buNone/>
            </a:pPr>
            <a:r>
              <a:rPr lang="en-US" sz="1700" b="1" dirty="0">
                <a:solidFill>
                  <a:srgbClr val="D97706"/>
                </a:solidFill>
                <a:latin typeface="Calibri" pitchFamily="34" charset="0"/>
                <a:ea typeface="Calibri" pitchFamily="34" charset="-122"/>
                <a:cs typeface="Calibri" pitchFamily="34" charset="-120"/>
              </a:rPr>
              <a:t>16 cặp </a:t>
            </a:r>
            <a:pPr indent="0" marL="0">
              <a:lnSpc>
                <a:spcPts val="2100"/>
              </a:lnSpc>
              <a:buNone/>
            </a:pPr>
            <a:r>
              <a:rPr lang="en-US" sz="1350" dirty="0">
                <a:solidFill>
                  <a:srgbClr val="451A03"/>
                </a:solidFill>
                <a:latin typeface="Calibri" pitchFamily="34" charset="0"/>
                <a:ea typeface="Calibri" pitchFamily="34" charset="-122"/>
                <a:cs typeface="Calibri" pitchFamily="34" charset="-120"/>
              </a:rPr>
              <a:t>(order_id, product_id) bị trùng trên 714.669 dòng
</a:t>
            </a:r>
            <a:pPr indent="0" marL="0">
              <a:lnSpc>
                <a:spcPts val="2100"/>
              </a:lnSpc>
              <a:buNone/>
            </a:pPr>
            <a:r>
              <a:rPr lang="en-US" sz="1350" b="1" dirty="0">
                <a:solidFill>
                  <a:srgbClr val="92400E"/>
                </a:solidFill>
                <a:latin typeface="Calibri" pitchFamily="34" charset="0"/>
                <a:ea typeface="Calibri" pitchFamily="34" charset="-122"/>
                <a:cs typeface="Calibri" pitchFamily="34" charset="-120"/>
              </a:rPr>
              <a:t>→ bảng này không có khóa tự nhiên hợp lệ</a:t>
            </a:r>
            <a:endParaRPr lang="en-US" sz="1350" dirty="0"/>
          </a:p>
        </p:txBody>
      </p:sp>
      <p:sp>
        <p:nvSpPr>
          <p:cNvPr id="7" name="Shape 5"/>
          <p:cNvSpPr/>
          <p:nvPr/>
        </p:nvSpPr>
        <p:spPr>
          <a:xfrm>
            <a:off x="566928" y="3072384"/>
            <a:ext cx="5394960" cy="1847088"/>
          </a:xfrm>
          <a:prstGeom prst="roundRect">
            <a:avLst>
              <a:gd name="adj" fmla="val 3960"/>
            </a:avLst>
          </a:prstGeom>
          <a:solidFill>
            <a:srgbClr val="EEF2FA"/>
          </a:solidFill>
          <a:ln/>
          <a:effectLst>
            <a:outerShdw sx="100000" sy="100000" kx="0" ky="0" algn="bl" rotWithShape="0" blurRad="127000" dist="25400" dir="5400000">
              <a:srgbClr val="9AA8C0">
                <a:alpha val="28000"/>
              </a:srgbClr>
            </a:outerShdw>
          </a:effectLst>
        </p:spPr>
      </p:sp>
      <p:sp>
        <p:nvSpPr>
          <p:cNvPr id="8" name="Text 6"/>
          <p:cNvSpPr/>
          <p:nvPr/>
        </p:nvSpPr>
        <p:spPr>
          <a:xfrm>
            <a:off x="877824" y="3218688"/>
            <a:ext cx="4754880" cy="256032"/>
          </a:xfrm>
          <a:prstGeom prst="rect">
            <a:avLst/>
          </a:prstGeom>
          <a:noFill/>
          <a:ln/>
        </p:spPr>
        <p:txBody>
          <a:bodyPr wrap="square" lIns="0" tIns="0" rIns="0" bIns="0" rtlCol="0" anchor="ctr"/>
          <a:lstStyle/>
          <a:p>
            <a:pPr indent="0" marL="0">
              <a:buNone/>
            </a:pPr>
            <a:r>
              <a:rPr lang="en-US" sz="1050" b="1" spc="140" kern="0" dirty="0">
                <a:solidFill>
                  <a:srgbClr val="B91C1C"/>
                </a:solidFill>
                <a:latin typeface="Calibri" pitchFamily="34" charset="0"/>
                <a:ea typeface="Calibri" pitchFamily="34" charset="-122"/>
                <a:cs typeface="Calibri" pitchFamily="34" charset="-120"/>
              </a:rPr>
              <a:t>HẬU QUẢ NẾU BỎ QUA</a:t>
            </a:r>
            <a:endParaRPr lang="en-US" sz="1050" dirty="0"/>
          </a:p>
        </p:txBody>
      </p:sp>
      <p:sp>
        <p:nvSpPr>
          <p:cNvPr id="9" name="Text 7"/>
          <p:cNvSpPr/>
          <p:nvPr/>
        </p:nvSpPr>
        <p:spPr>
          <a:xfrm>
            <a:off x="877824" y="3511296"/>
            <a:ext cx="4791456" cy="1188720"/>
          </a:xfrm>
          <a:prstGeom prst="rect">
            <a:avLst/>
          </a:prstGeom>
          <a:noFill/>
          <a:ln/>
        </p:spPr>
        <p:txBody>
          <a:bodyPr wrap="square" lIns="0" tIns="0" rIns="0" bIns="0" rtlCol="0" anchor="t"/>
          <a:lstStyle/>
          <a:p>
            <a:pPr indent="0" marL="0">
              <a:lnSpc>
                <a:spcPts val="2200"/>
              </a:lnSpc>
              <a:buNone/>
            </a:pPr>
            <a:r>
              <a:rPr lang="en-US" sz="1350" dirty="0">
                <a:solidFill>
                  <a:srgbClr val="334155"/>
                </a:solidFill>
                <a:latin typeface="Calibri" pitchFamily="34" charset="0"/>
                <a:ea typeface="Calibri" pitchFamily="34" charset="-122"/>
                <a:cs typeface="Calibri" pitchFamily="34" charset="-120"/>
              </a:rPr>
              <a:t>Nối bảng bằng cặp đó sẽ làm </a:t>
            </a:r>
            <a:pPr indent="0" marL="0">
              <a:lnSpc>
                <a:spcPts val="2200"/>
              </a:lnSpc>
              <a:buNone/>
            </a:pPr>
            <a:r>
              <a:rPr lang="en-US" sz="1350" b="1" dirty="0">
                <a:solidFill>
                  <a:srgbClr val="B91C1C"/>
                </a:solidFill>
                <a:latin typeface="Calibri" pitchFamily="34" charset="0"/>
                <a:ea typeface="Calibri" pitchFamily="34" charset="-122"/>
                <a:cs typeface="Calibri" pitchFamily="34" charset="-120"/>
              </a:rPr>
              <a:t>nhân dòng</a:t>
            </a:r>
            <a:pPr indent="0" marL="0">
              <a:lnSpc>
                <a:spcPts val="2200"/>
              </a:lnSpc>
              <a:buNone/>
            </a:pPr>
            <a:r>
              <a:rPr lang="en-US" sz="1350" dirty="0">
                <a:solidFill>
                  <a:srgbClr val="334155"/>
                </a:solidFill>
                <a:latin typeface="Calibri" pitchFamily="34" charset="0"/>
                <a:ea typeface="Calibri" pitchFamily="34" charset="-122"/>
                <a:cs typeface="Calibri" pitchFamily="34" charset="-120"/>
              </a:rPr>
              <a:t> — một dòng bên này khớp với hai dòng bên kia.</a:t>
            </a:r>
            <a:endParaRPr lang="en-US" sz="1350" dirty="0"/>
          </a:p>
          <a:p>
            <a:pPr indent="0" marL="0">
              <a:lnSpc>
                <a:spcPts val="2200"/>
              </a:lnSpc>
              <a:buNone/>
            </a:pPr>
            <a:r>
              <a:rPr lang="en-US" sz="1350" dirty="0">
                <a:solidFill>
                  <a:srgbClr val="334155"/>
                </a:solidFill>
                <a:latin typeface="Calibri" pitchFamily="34" charset="0"/>
                <a:ea typeface="Calibri" pitchFamily="34" charset="-122"/>
                <a:cs typeface="Calibri" pitchFamily="34" charset="-120"/>
              </a:rPr>
              <a:t>Doanh thu bị tính lố, mà chương trình </a:t>
            </a:r>
            <a:pPr indent="0" marL="0">
              <a:lnSpc>
                <a:spcPts val="2200"/>
              </a:lnSpc>
              <a:buNone/>
            </a:pPr>
            <a:r>
              <a:rPr lang="en-US" sz="1350" b="1" dirty="0">
                <a:solidFill>
                  <a:srgbClr val="10203F"/>
                </a:solidFill>
                <a:latin typeface="Calibri" pitchFamily="34" charset="0"/>
                <a:ea typeface="Calibri" pitchFamily="34" charset="-122"/>
                <a:cs typeface="Calibri" pitchFamily="34" charset="-120"/>
              </a:rPr>
              <a:t>chạy trơn tru không báo lỗi gì cả.</a:t>
            </a:r>
            <a:endParaRPr lang="en-US" sz="1350" dirty="0"/>
          </a:p>
        </p:txBody>
      </p:sp>
      <p:sp>
        <p:nvSpPr>
          <p:cNvPr id="10" name="Shape 8"/>
          <p:cNvSpPr/>
          <p:nvPr/>
        </p:nvSpPr>
        <p:spPr>
          <a:xfrm>
            <a:off x="566928" y="5065776"/>
            <a:ext cx="5394960" cy="1078992"/>
          </a:xfrm>
          <a:prstGeom prst="roundRect">
            <a:avLst>
              <a:gd name="adj" fmla="val 6780"/>
            </a:avLst>
          </a:prstGeom>
          <a:solidFill>
            <a:srgbClr val="DCFCE7"/>
          </a:solidFill>
          <a:ln/>
          <a:effectLst>
            <a:outerShdw sx="100000" sy="100000" kx="0" ky="0" algn="bl" rotWithShape="0" blurRad="127000" dist="25400" dir="5400000">
              <a:srgbClr val="9AA8C0">
                <a:alpha val="28000"/>
              </a:srgbClr>
            </a:outerShdw>
          </a:effectLst>
        </p:spPr>
      </p:sp>
      <p:sp>
        <p:nvSpPr>
          <p:cNvPr id="11" name="Text 9"/>
          <p:cNvSpPr/>
          <p:nvPr/>
        </p:nvSpPr>
        <p:spPr>
          <a:xfrm>
            <a:off x="877824" y="5193792"/>
            <a:ext cx="4754880" cy="256032"/>
          </a:xfrm>
          <a:prstGeom prst="rect">
            <a:avLst/>
          </a:prstGeom>
          <a:noFill/>
          <a:ln/>
        </p:spPr>
        <p:txBody>
          <a:bodyPr wrap="square" lIns="0" tIns="0" rIns="0" bIns="0" rtlCol="0" anchor="ctr"/>
          <a:lstStyle/>
          <a:p>
            <a:pPr indent="0" marL="0">
              <a:buNone/>
            </a:pPr>
            <a:r>
              <a:rPr lang="en-US" sz="1050" b="1" spc="140" kern="0" dirty="0">
                <a:solidFill>
                  <a:srgbClr val="166534"/>
                </a:solidFill>
                <a:latin typeface="Calibri" pitchFamily="34" charset="0"/>
                <a:ea typeface="Calibri" pitchFamily="34" charset="-122"/>
                <a:cs typeface="Calibri" pitchFamily="34" charset="-120"/>
              </a:rPr>
              <a:t>CÁCH XỬ LÝ</a:t>
            </a:r>
            <a:endParaRPr lang="en-US" sz="1050" dirty="0"/>
          </a:p>
        </p:txBody>
      </p:sp>
      <p:sp>
        <p:nvSpPr>
          <p:cNvPr id="12" name="Text 10"/>
          <p:cNvSpPr/>
          <p:nvPr/>
        </p:nvSpPr>
        <p:spPr>
          <a:xfrm>
            <a:off x="877824" y="5449824"/>
            <a:ext cx="4791456" cy="566928"/>
          </a:xfrm>
          <a:prstGeom prst="rect">
            <a:avLst/>
          </a:prstGeom>
          <a:noFill/>
          <a:ln/>
        </p:spPr>
        <p:txBody>
          <a:bodyPr wrap="square" lIns="0" tIns="0" rIns="0" bIns="0" rtlCol="0" anchor="t"/>
          <a:lstStyle/>
          <a:p>
            <a:pPr indent="0" marL="0">
              <a:lnSpc>
                <a:spcPts val="2000"/>
              </a:lnSpc>
              <a:buNone/>
            </a:pPr>
            <a:r>
              <a:rPr lang="en-US" sz="1350" dirty="0">
                <a:solidFill>
                  <a:srgbClr val="14532D"/>
                </a:solidFill>
                <a:latin typeface="Calibri" pitchFamily="34" charset="0"/>
                <a:ea typeface="Calibri" pitchFamily="34" charset="-122"/>
                <a:cs typeface="Calibri" pitchFamily="34" charset="-120"/>
              </a:rPr>
              <a:t>Thêm cột order_item_id đánh số từ 1 đến 714.669 — mỗi dòng một mã duy nhất.</a:t>
            </a:r>
            <a:endParaRPr lang="en-US" sz="1350" dirty="0"/>
          </a:p>
        </p:txBody>
      </p:sp>
      <p:sp>
        <p:nvSpPr>
          <p:cNvPr id="13" name="Text 11"/>
          <p:cNvSpPr/>
          <p:nvPr/>
        </p:nvSpPr>
        <p:spPr>
          <a:xfrm>
            <a:off x="6345936" y="1572768"/>
            <a:ext cx="5278831" cy="292608"/>
          </a:xfrm>
          <a:prstGeom prst="rect">
            <a:avLst/>
          </a:prstGeom>
          <a:noFill/>
          <a:ln/>
        </p:spPr>
        <p:txBody>
          <a:bodyPr wrap="square" lIns="0" tIns="0" rIns="0" bIns="0" rtlCol="0" anchor="ctr"/>
          <a:lstStyle/>
          <a:p>
            <a:pPr indent="0" marL="0">
              <a:buNone/>
            </a:pPr>
            <a:r>
              <a:rPr lang="en-US" sz="1300" b="1" dirty="0">
                <a:solidFill>
                  <a:srgbClr val="10203F"/>
                </a:solidFill>
                <a:latin typeface="Calibri" pitchFamily="34" charset="0"/>
                <a:ea typeface="Calibri" pitchFamily="34" charset="-122"/>
                <a:cs typeface="Calibri" pitchFamily="34" charset="-120"/>
              </a:rPr>
              <a:t>Minh họa: vì sao trùng khóa lại làm phồng doanh thu</a:t>
            </a:r>
            <a:endParaRPr lang="en-US" sz="1300" dirty="0"/>
          </a:p>
        </p:txBody>
      </p:sp>
      <p:sp>
        <p:nvSpPr>
          <p:cNvPr id="14" name="Text 12"/>
          <p:cNvSpPr/>
          <p:nvPr/>
        </p:nvSpPr>
        <p:spPr>
          <a:xfrm>
            <a:off x="6345936" y="1975104"/>
            <a:ext cx="5278831" cy="256032"/>
          </a:xfrm>
          <a:prstGeom prst="rect">
            <a:avLst/>
          </a:prstGeom>
          <a:noFill/>
          <a:ln/>
        </p:spPr>
        <p:txBody>
          <a:bodyPr wrap="square" lIns="0" tIns="0" rIns="0" bIns="0" rtlCol="0" anchor="ctr"/>
          <a:lstStyle/>
          <a:p>
            <a:pPr indent="0" marL="0">
              <a:buNone/>
            </a:pPr>
            <a:r>
              <a:rPr lang="en-US" sz="1100" b="1" spc="60" kern="0" dirty="0">
                <a:solidFill>
                  <a:srgbClr val="B91C1C"/>
                </a:solidFill>
                <a:latin typeface="Calibri" pitchFamily="34" charset="0"/>
                <a:ea typeface="Calibri" pitchFamily="34" charset="-122"/>
                <a:cs typeface="Calibri" pitchFamily="34" charset="-120"/>
              </a:rPr>
              <a:t>TRƯỚC — hai dòng không phân biệt được</a:t>
            </a:r>
            <a:endParaRPr lang="en-US" sz="1100" dirty="0"/>
          </a:p>
        </p:txBody>
      </p:sp>
      <p:sp>
        <p:nvSpPr>
          <p:cNvPr id="15" name="Shape 13"/>
          <p:cNvSpPr/>
          <p:nvPr/>
        </p:nvSpPr>
        <p:spPr>
          <a:xfrm>
            <a:off x="6345936" y="2286000"/>
            <a:ext cx="5278831" cy="402336"/>
          </a:xfrm>
          <a:prstGeom prst="roundRect">
            <a:avLst>
              <a:gd name="adj" fmla="val 11364"/>
            </a:avLst>
          </a:prstGeom>
          <a:solidFill>
            <a:srgbClr val="FEE2E2"/>
          </a:solidFill>
          <a:ln/>
        </p:spPr>
      </p:sp>
      <p:sp>
        <p:nvSpPr>
          <p:cNvPr id="16" name="Text 14"/>
          <p:cNvSpPr/>
          <p:nvPr/>
        </p:nvSpPr>
        <p:spPr>
          <a:xfrm>
            <a:off x="6528816" y="2286000"/>
            <a:ext cx="1371600" cy="402336"/>
          </a:xfrm>
          <a:prstGeom prst="rect">
            <a:avLst/>
          </a:prstGeom>
          <a:noFill/>
          <a:ln/>
        </p:spPr>
        <p:txBody>
          <a:bodyPr wrap="square" lIns="0" tIns="0" rIns="0" bIns="0" rtlCol="0" anchor="ctr"/>
          <a:lstStyle/>
          <a:p>
            <a:pPr indent="0" marL="0">
              <a:buNone/>
            </a:pPr>
            <a:r>
              <a:rPr lang="en-US" sz="1150" dirty="0">
                <a:solidFill>
                  <a:srgbClr val="7F1D1D"/>
                </a:solidFill>
                <a:latin typeface="Courier New" pitchFamily="34" charset="0"/>
                <a:ea typeface="Courier New" pitchFamily="34" charset="-122"/>
                <a:cs typeface="Courier New" pitchFamily="34" charset="-120"/>
              </a:rPr>
              <a:t>DH-1042</a:t>
            </a:r>
            <a:endParaRPr lang="en-US" sz="1150" dirty="0"/>
          </a:p>
        </p:txBody>
      </p:sp>
      <p:sp>
        <p:nvSpPr>
          <p:cNvPr id="17" name="Text 15"/>
          <p:cNvSpPr/>
          <p:nvPr/>
        </p:nvSpPr>
        <p:spPr>
          <a:xfrm>
            <a:off x="7900416" y="2286000"/>
            <a:ext cx="1097280" cy="402336"/>
          </a:xfrm>
          <a:prstGeom prst="rect">
            <a:avLst/>
          </a:prstGeom>
          <a:noFill/>
          <a:ln/>
        </p:spPr>
        <p:txBody>
          <a:bodyPr wrap="square" lIns="0" tIns="0" rIns="0" bIns="0" rtlCol="0" anchor="ctr"/>
          <a:lstStyle/>
          <a:p>
            <a:pPr indent="0" marL="0">
              <a:buNone/>
            </a:pPr>
            <a:r>
              <a:rPr lang="en-US" sz="1150" dirty="0">
                <a:solidFill>
                  <a:srgbClr val="7F1D1D"/>
                </a:solidFill>
                <a:latin typeface="Courier New" pitchFamily="34" charset="0"/>
                <a:ea typeface="Courier New" pitchFamily="34" charset="-122"/>
                <a:cs typeface="Courier New" pitchFamily="34" charset="-120"/>
              </a:rPr>
              <a:t>SP-77</a:t>
            </a:r>
            <a:endParaRPr lang="en-US" sz="1150" dirty="0"/>
          </a:p>
        </p:txBody>
      </p:sp>
      <p:sp>
        <p:nvSpPr>
          <p:cNvPr id="18" name="Text 16"/>
          <p:cNvSpPr/>
          <p:nvPr/>
        </p:nvSpPr>
        <p:spPr>
          <a:xfrm>
            <a:off x="8997696" y="2286000"/>
            <a:ext cx="2194560" cy="402336"/>
          </a:xfrm>
          <a:prstGeom prst="rect">
            <a:avLst/>
          </a:prstGeom>
          <a:noFill/>
          <a:ln/>
        </p:spPr>
        <p:txBody>
          <a:bodyPr wrap="square" lIns="0" tIns="0" rIns="0" bIns="0" rtlCol="0" anchor="ctr"/>
          <a:lstStyle/>
          <a:p>
            <a:pPr indent="0" marL="0">
              <a:buNone/>
            </a:pPr>
            <a:r>
              <a:rPr lang="en-US" sz="1150" dirty="0">
                <a:solidFill>
                  <a:srgbClr val="7F1D1D"/>
                </a:solidFill>
                <a:latin typeface="Calibri" pitchFamily="34" charset="0"/>
                <a:ea typeface="Calibri" pitchFamily="34" charset="-122"/>
                <a:cs typeface="Calibri" pitchFamily="34" charset="-120"/>
              </a:rPr>
              <a:t>2 × 500.000</a:t>
            </a:r>
            <a:endParaRPr lang="en-US" sz="1150" dirty="0"/>
          </a:p>
        </p:txBody>
      </p:sp>
      <p:sp>
        <p:nvSpPr>
          <p:cNvPr id="19" name="Shape 17"/>
          <p:cNvSpPr/>
          <p:nvPr/>
        </p:nvSpPr>
        <p:spPr>
          <a:xfrm>
            <a:off x="6345936" y="2761488"/>
            <a:ext cx="5278831" cy="402336"/>
          </a:xfrm>
          <a:prstGeom prst="roundRect">
            <a:avLst>
              <a:gd name="adj" fmla="val 11364"/>
            </a:avLst>
          </a:prstGeom>
          <a:solidFill>
            <a:srgbClr val="FEE2E2"/>
          </a:solidFill>
          <a:ln/>
        </p:spPr>
      </p:sp>
      <p:sp>
        <p:nvSpPr>
          <p:cNvPr id="20" name="Text 18"/>
          <p:cNvSpPr/>
          <p:nvPr/>
        </p:nvSpPr>
        <p:spPr>
          <a:xfrm>
            <a:off x="6528816" y="2761488"/>
            <a:ext cx="1371600" cy="402336"/>
          </a:xfrm>
          <a:prstGeom prst="rect">
            <a:avLst/>
          </a:prstGeom>
          <a:noFill/>
          <a:ln/>
        </p:spPr>
        <p:txBody>
          <a:bodyPr wrap="square" lIns="0" tIns="0" rIns="0" bIns="0" rtlCol="0" anchor="ctr"/>
          <a:lstStyle/>
          <a:p>
            <a:pPr indent="0" marL="0">
              <a:buNone/>
            </a:pPr>
            <a:r>
              <a:rPr lang="en-US" sz="1150" dirty="0">
                <a:solidFill>
                  <a:srgbClr val="7F1D1D"/>
                </a:solidFill>
                <a:latin typeface="Courier New" pitchFamily="34" charset="0"/>
                <a:ea typeface="Courier New" pitchFamily="34" charset="-122"/>
                <a:cs typeface="Courier New" pitchFamily="34" charset="-120"/>
              </a:rPr>
              <a:t>DH-1042</a:t>
            </a:r>
            <a:endParaRPr lang="en-US" sz="1150" dirty="0"/>
          </a:p>
        </p:txBody>
      </p:sp>
      <p:sp>
        <p:nvSpPr>
          <p:cNvPr id="21" name="Text 19"/>
          <p:cNvSpPr/>
          <p:nvPr/>
        </p:nvSpPr>
        <p:spPr>
          <a:xfrm>
            <a:off x="7900416" y="2761488"/>
            <a:ext cx="1097280" cy="402336"/>
          </a:xfrm>
          <a:prstGeom prst="rect">
            <a:avLst/>
          </a:prstGeom>
          <a:noFill/>
          <a:ln/>
        </p:spPr>
        <p:txBody>
          <a:bodyPr wrap="square" lIns="0" tIns="0" rIns="0" bIns="0" rtlCol="0" anchor="ctr"/>
          <a:lstStyle/>
          <a:p>
            <a:pPr indent="0" marL="0">
              <a:buNone/>
            </a:pPr>
            <a:r>
              <a:rPr lang="en-US" sz="1150" dirty="0">
                <a:solidFill>
                  <a:srgbClr val="7F1D1D"/>
                </a:solidFill>
                <a:latin typeface="Courier New" pitchFamily="34" charset="0"/>
                <a:ea typeface="Courier New" pitchFamily="34" charset="-122"/>
                <a:cs typeface="Courier New" pitchFamily="34" charset="-120"/>
              </a:rPr>
              <a:t>SP-77</a:t>
            </a:r>
            <a:endParaRPr lang="en-US" sz="1150" dirty="0"/>
          </a:p>
        </p:txBody>
      </p:sp>
      <p:sp>
        <p:nvSpPr>
          <p:cNvPr id="22" name="Text 20"/>
          <p:cNvSpPr/>
          <p:nvPr/>
        </p:nvSpPr>
        <p:spPr>
          <a:xfrm>
            <a:off x="8997696" y="2761488"/>
            <a:ext cx="2194560" cy="402336"/>
          </a:xfrm>
          <a:prstGeom prst="rect">
            <a:avLst/>
          </a:prstGeom>
          <a:noFill/>
          <a:ln/>
        </p:spPr>
        <p:txBody>
          <a:bodyPr wrap="square" lIns="0" tIns="0" rIns="0" bIns="0" rtlCol="0" anchor="ctr"/>
          <a:lstStyle/>
          <a:p>
            <a:pPr indent="0" marL="0">
              <a:buNone/>
            </a:pPr>
            <a:r>
              <a:rPr lang="en-US" sz="1150" dirty="0">
                <a:solidFill>
                  <a:srgbClr val="7F1D1D"/>
                </a:solidFill>
                <a:latin typeface="Calibri" pitchFamily="34" charset="0"/>
                <a:ea typeface="Calibri" pitchFamily="34" charset="-122"/>
                <a:cs typeface="Calibri" pitchFamily="34" charset="-120"/>
              </a:rPr>
              <a:t>1 × 500.000</a:t>
            </a:r>
            <a:endParaRPr lang="en-US" sz="1150" dirty="0"/>
          </a:p>
        </p:txBody>
      </p:sp>
      <p:sp>
        <p:nvSpPr>
          <p:cNvPr id="23" name="Text 21"/>
          <p:cNvSpPr/>
          <p:nvPr/>
        </p:nvSpPr>
        <p:spPr>
          <a:xfrm>
            <a:off x="6345936" y="3273552"/>
            <a:ext cx="5278831" cy="274320"/>
          </a:xfrm>
          <a:prstGeom prst="rect">
            <a:avLst/>
          </a:prstGeom>
          <a:noFill/>
          <a:ln/>
        </p:spPr>
        <p:txBody>
          <a:bodyPr wrap="square" lIns="0" tIns="0" rIns="0" bIns="0" rtlCol="0" anchor="ctr"/>
          <a:lstStyle/>
          <a:p>
            <a:pPr indent="0" marL="0">
              <a:buNone/>
            </a:pPr>
            <a:r>
              <a:rPr lang="en-US" sz="1150" i="1" dirty="0">
                <a:solidFill>
                  <a:srgbClr val="B91C1C"/>
                </a:solidFill>
                <a:latin typeface="Calibri" pitchFamily="34" charset="0"/>
                <a:ea typeface="Calibri" pitchFamily="34" charset="-122"/>
                <a:cs typeface="Calibri" pitchFamily="34" charset="-120"/>
              </a:rPr>
              <a:t>Nối bảng → 2 dòng thành 4 dòng → doanh thu gấp đôi</a:t>
            </a:r>
            <a:endParaRPr lang="en-US" sz="1150" dirty="0"/>
          </a:p>
        </p:txBody>
      </p:sp>
      <p:sp>
        <p:nvSpPr>
          <p:cNvPr id="24" name="Text 22"/>
          <p:cNvSpPr/>
          <p:nvPr/>
        </p:nvSpPr>
        <p:spPr>
          <a:xfrm>
            <a:off x="6345936" y="3712464"/>
            <a:ext cx="5278831" cy="256032"/>
          </a:xfrm>
          <a:prstGeom prst="rect">
            <a:avLst/>
          </a:prstGeom>
          <a:noFill/>
          <a:ln/>
        </p:spPr>
        <p:txBody>
          <a:bodyPr wrap="square" lIns="0" tIns="0" rIns="0" bIns="0" rtlCol="0" anchor="ctr"/>
          <a:lstStyle/>
          <a:p>
            <a:pPr indent="0" marL="0">
              <a:buNone/>
            </a:pPr>
            <a:r>
              <a:rPr lang="en-US" sz="1100" b="1" spc="60" kern="0" dirty="0">
                <a:solidFill>
                  <a:srgbClr val="15803D"/>
                </a:solidFill>
                <a:latin typeface="Calibri" pitchFamily="34" charset="0"/>
                <a:ea typeface="Calibri" pitchFamily="34" charset="-122"/>
                <a:cs typeface="Calibri" pitchFamily="34" charset="-120"/>
              </a:rPr>
              <a:t>SAU — mỗi dòng có mã riêng</a:t>
            </a:r>
            <a:endParaRPr lang="en-US" sz="1100" dirty="0"/>
          </a:p>
        </p:txBody>
      </p:sp>
      <p:sp>
        <p:nvSpPr>
          <p:cNvPr id="25" name="Shape 23"/>
          <p:cNvSpPr/>
          <p:nvPr/>
        </p:nvSpPr>
        <p:spPr>
          <a:xfrm>
            <a:off x="6345936" y="4023360"/>
            <a:ext cx="5278831" cy="402336"/>
          </a:xfrm>
          <a:prstGeom prst="roundRect">
            <a:avLst>
              <a:gd name="adj" fmla="val 11364"/>
            </a:avLst>
          </a:prstGeom>
          <a:solidFill>
            <a:srgbClr val="DCFCE7"/>
          </a:solidFill>
          <a:ln/>
        </p:spPr>
      </p:sp>
      <p:sp>
        <p:nvSpPr>
          <p:cNvPr id="26" name="Text 24"/>
          <p:cNvSpPr/>
          <p:nvPr/>
        </p:nvSpPr>
        <p:spPr>
          <a:xfrm>
            <a:off x="6492240" y="4023360"/>
            <a:ext cx="457200" cy="402336"/>
          </a:xfrm>
          <a:prstGeom prst="rect">
            <a:avLst/>
          </a:prstGeom>
          <a:noFill/>
          <a:ln/>
        </p:spPr>
        <p:txBody>
          <a:bodyPr wrap="square" lIns="0" tIns="0" rIns="0" bIns="0" rtlCol="0" anchor="ctr"/>
          <a:lstStyle/>
          <a:p>
            <a:pPr indent="0" marL="0">
              <a:buNone/>
            </a:pPr>
            <a:r>
              <a:rPr lang="en-US" sz="1150" b="1" dirty="0">
                <a:solidFill>
                  <a:srgbClr val="15803D"/>
                </a:solidFill>
                <a:latin typeface="Courier New" pitchFamily="34" charset="0"/>
                <a:ea typeface="Courier New" pitchFamily="34" charset="-122"/>
                <a:cs typeface="Courier New" pitchFamily="34" charset="-120"/>
              </a:rPr>
              <a:t>1</a:t>
            </a:r>
            <a:endParaRPr lang="en-US" sz="1150" dirty="0"/>
          </a:p>
        </p:txBody>
      </p:sp>
      <p:sp>
        <p:nvSpPr>
          <p:cNvPr id="27" name="Text 25"/>
          <p:cNvSpPr/>
          <p:nvPr/>
        </p:nvSpPr>
        <p:spPr>
          <a:xfrm>
            <a:off x="6949440" y="4023360"/>
            <a:ext cx="1371600" cy="402336"/>
          </a:xfrm>
          <a:prstGeom prst="rect">
            <a:avLst/>
          </a:prstGeom>
          <a:noFill/>
          <a:ln/>
        </p:spPr>
        <p:txBody>
          <a:bodyPr wrap="square" lIns="0" tIns="0" rIns="0" bIns="0" rtlCol="0" anchor="ctr"/>
          <a:lstStyle/>
          <a:p>
            <a:pPr indent="0" marL="0">
              <a:buNone/>
            </a:pPr>
            <a:r>
              <a:rPr lang="en-US" sz="1150" dirty="0">
                <a:solidFill>
                  <a:srgbClr val="14532D"/>
                </a:solidFill>
                <a:latin typeface="Courier New" pitchFamily="34" charset="0"/>
                <a:ea typeface="Courier New" pitchFamily="34" charset="-122"/>
                <a:cs typeface="Courier New" pitchFamily="34" charset="-120"/>
              </a:rPr>
              <a:t>DH-1042</a:t>
            </a:r>
            <a:endParaRPr lang="en-US" sz="1150" dirty="0"/>
          </a:p>
        </p:txBody>
      </p:sp>
      <p:sp>
        <p:nvSpPr>
          <p:cNvPr id="28" name="Text 26"/>
          <p:cNvSpPr/>
          <p:nvPr/>
        </p:nvSpPr>
        <p:spPr>
          <a:xfrm>
            <a:off x="8321040" y="4023360"/>
            <a:ext cx="1097280" cy="402336"/>
          </a:xfrm>
          <a:prstGeom prst="rect">
            <a:avLst/>
          </a:prstGeom>
          <a:noFill/>
          <a:ln/>
        </p:spPr>
        <p:txBody>
          <a:bodyPr wrap="square" lIns="0" tIns="0" rIns="0" bIns="0" rtlCol="0" anchor="ctr"/>
          <a:lstStyle/>
          <a:p>
            <a:pPr indent="0" marL="0">
              <a:buNone/>
            </a:pPr>
            <a:r>
              <a:rPr lang="en-US" sz="1150" dirty="0">
                <a:solidFill>
                  <a:srgbClr val="14532D"/>
                </a:solidFill>
                <a:latin typeface="Courier New" pitchFamily="34" charset="0"/>
                <a:ea typeface="Courier New" pitchFamily="34" charset="-122"/>
                <a:cs typeface="Courier New" pitchFamily="34" charset="-120"/>
              </a:rPr>
              <a:t>SP-77</a:t>
            </a:r>
            <a:endParaRPr lang="en-US" sz="1150" dirty="0"/>
          </a:p>
        </p:txBody>
      </p:sp>
      <p:sp>
        <p:nvSpPr>
          <p:cNvPr id="29" name="Text 27"/>
          <p:cNvSpPr/>
          <p:nvPr/>
        </p:nvSpPr>
        <p:spPr>
          <a:xfrm>
            <a:off x="9418320" y="4023360"/>
            <a:ext cx="1828800" cy="402336"/>
          </a:xfrm>
          <a:prstGeom prst="rect">
            <a:avLst/>
          </a:prstGeom>
          <a:noFill/>
          <a:ln/>
        </p:spPr>
        <p:txBody>
          <a:bodyPr wrap="square" lIns="0" tIns="0" rIns="0" bIns="0" rtlCol="0" anchor="ctr"/>
          <a:lstStyle/>
          <a:p>
            <a:pPr indent="0" marL="0">
              <a:buNone/>
            </a:pPr>
            <a:r>
              <a:rPr lang="en-US" sz="1150" dirty="0">
                <a:solidFill>
                  <a:srgbClr val="14532D"/>
                </a:solidFill>
                <a:latin typeface="Calibri" pitchFamily="34" charset="0"/>
                <a:ea typeface="Calibri" pitchFamily="34" charset="-122"/>
                <a:cs typeface="Calibri" pitchFamily="34" charset="-120"/>
              </a:rPr>
              <a:t>2 × 500.000</a:t>
            </a:r>
            <a:endParaRPr lang="en-US" sz="1150" dirty="0"/>
          </a:p>
        </p:txBody>
      </p:sp>
      <p:sp>
        <p:nvSpPr>
          <p:cNvPr id="30" name="Shape 28"/>
          <p:cNvSpPr/>
          <p:nvPr/>
        </p:nvSpPr>
        <p:spPr>
          <a:xfrm>
            <a:off x="6345936" y="4498848"/>
            <a:ext cx="5278831" cy="402336"/>
          </a:xfrm>
          <a:prstGeom prst="roundRect">
            <a:avLst>
              <a:gd name="adj" fmla="val 11364"/>
            </a:avLst>
          </a:prstGeom>
          <a:solidFill>
            <a:srgbClr val="DCFCE7"/>
          </a:solidFill>
          <a:ln/>
        </p:spPr>
      </p:sp>
      <p:sp>
        <p:nvSpPr>
          <p:cNvPr id="31" name="Text 29"/>
          <p:cNvSpPr/>
          <p:nvPr/>
        </p:nvSpPr>
        <p:spPr>
          <a:xfrm>
            <a:off x="6492240" y="4498848"/>
            <a:ext cx="457200" cy="402336"/>
          </a:xfrm>
          <a:prstGeom prst="rect">
            <a:avLst/>
          </a:prstGeom>
          <a:noFill/>
          <a:ln/>
        </p:spPr>
        <p:txBody>
          <a:bodyPr wrap="square" lIns="0" tIns="0" rIns="0" bIns="0" rtlCol="0" anchor="ctr"/>
          <a:lstStyle/>
          <a:p>
            <a:pPr indent="0" marL="0">
              <a:buNone/>
            </a:pPr>
            <a:r>
              <a:rPr lang="en-US" sz="1150" b="1" dirty="0">
                <a:solidFill>
                  <a:srgbClr val="15803D"/>
                </a:solidFill>
                <a:latin typeface="Courier New" pitchFamily="34" charset="0"/>
                <a:ea typeface="Courier New" pitchFamily="34" charset="-122"/>
                <a:cs typeface="Courier New" pitchFamily="34" charset="-120"/>
              </a:rPr>
              <a:t>2</a:t>
            </a:r>
            <a:endParaRPr lang="en-US" sz="1150" dirty="0"/>
          </a:p>
        </p:txBody>
      </p:sp>
      <p:sp>
        <p:nvSpPr>
          <p:cNvPr id="32" name="Text 30"/>
          <p:cNvSpPr/>
          <p:nvPr/>
        </p:nvSpPr>
        <p:spPr>
          <a:xfrm>
            <a:off x="6949440" y="4498848"/>
            <a:ext cx="1371600" cy="402336"/>
          </a:xfrm>
          <a:prstGeom prst="rect">
            <a:avLst/>
          </a:prstGeom>
          <a:noFill/>
          <a:ln/>
        </p:spPr>
        <p:txBody>
          <a:bodyPr wrap="square" lIns="0" tIns="0" rIns="0" bIns="0" rtlCol="0" anchor="ctr"/>
          <a:lstStyle/>
          <a:p>
            <a:pPr indent="0" marL="0">
              <a:buNone/>
            </a:pPr>
            <a:r>
              <a:rPr lang="en-US" sz="1150" dirty="0">
                <a:solidFill>
                  <a:srgbClr val="14532D"/>
                </a:solidFill>
                <a:latin typeface="Courier New" pitchFamily="34" charset="0"/>
                <a:ea typeface="Courier New" pitchFamily="34" charset="-122"/>
                <a:cs typeface="Courier New" pitchFamily="34" charset="-120"/>
              </a:rPr>
              <a:t>DH-1042</a:t>
            </a:r>
            <a:endParaRPr lang="en-US" sz="1150" dirty="0"/>
          </a:p>
        </p:txBody>
      </p:sp>
      <p:sp>
        <p:nvSpPr>
          <p:cNvPr id="33" name="Text 31"/>
          <p:cNvSpPr/>
          <p:nvPr/>
        </p:nvSpPr>
        <p:spPr>
          <a:xfrm>
            <a:off x="8321040" y="4498848"/>
            <a:ext cx="1097280" cy="402336"/>
          </a:xfrm>
          <a:prstGeom prst="rect">
            <a:avLst/>
          </a:prstGeom>
          <a:noFill/>
          <a:ln/>
        </p:spPr>
        <p:txBody>
          <a:bodyPr wrap="square" lIns="0" tIns="0" rIns="0" bIns="0" rtlCol="0" anchor="ctr"/>
          <a:lstStyle/>
          <a:p>
            <a:pPr indent="0" marL="0">
              <a:buNone/>
            </a:pPr>
            <a:r>
              <a:rPr lang="en-US" sz="1150" dirty="0">
                <a:solidFill>
                  <a:srgbClr val="14532D"/>
                </a:solidFill>
                <a:latin typeface="Courier New" pitchFamily="34" charset="0"/>
                <a:ea typeface="Courier New" pitchFamily="34" charset="-122"/>
                <a:cs typeface="Courier New" pitchFamily="34" charset="-120"/>
              </a:rPr>
              <a:t>SP-77</a:t>
            </a:r>
            <a:endParaRPr lang="en-US" sz="1150" dirty="0"/>
          </a:p>
        </p:txBody>
      </p:sp>
      <p:sp>
        <p:nvSpPr>
          <p:cNvPr id="34" name="Text 32"/>
          <p:cNvSpPr/>
          <p:nvPr/>
        </p:nvSpPr>
        <p:spPr>
          <a:xfrm>
            <a:off x="9418320" y="4498848"/>
            <a:ext cx="1828800" cy="402336"/>
          </a:xfrm>
          <a:prstGeom prst="rect">
            <a:avLst/>
          </a:prstGeom>
          <a:noFill/>
          <a:ln/>
        </p:spPr>
        <p:txBody>
          <a:bodyPr wrap="square" lIns="0" tIns="0" rIns="0" bIns="0" rtlCol="0" anchor="ctr"/>
          <a:lstStyle/>
          <a:p>
            <a:pPr indent="0" marL="0">
              <a:buNone/>
            </a:pPr>
            <a:r>
              <a:rPr lang="en-US" sz="1150" dirty="0">
                <a:solidFill>
                  <a:srgbClr val="14532D"/>
                </a:solidFill>
                <a:latin typeface="Calibri" pitchFamily="34" charset="0"/>
                <a:ea typeface="Calibri" pitchFamily="34" charset="-122"/>
                <a:cs typeface="Calibri" pitchFamily="34" charset="-120"/>
              </a:rPr>
              <a:t>1 × 500.000</a:t>
            </a:r>
            <a:endParaRPr lang="en-US" sz="1150" dirty="0"/>
          </a:p>
        </p:txBody>
      </p:sp>
      <p:sp>
        <p:nvSpPr>
          <p:cNvPr id="35" name="Text 33"/>
          <p:cNvSpPr/>
          <p:nvPr/>
        </p:nvSpPr>
        <p:spPr>
          <a:xfrm>
            <a:off x="6345936" y="5010912"/>
            <a:ext cx="5278831" cy="274320"/>
          </a:xfrm>
          <a:prstGeom prst="rect">
            <a:avLst/>
          </a:prstGeom>
          <a:noFill/>
          <a:ln/>
        </p:spPr>
        <p:txBody>
          <a:bodyPr wrap="square" lIns="0" tIns="0" rIns="0" bIns="0" rtlCol="0" anchor="ctr"/>
          <a:lstStyle/>
          <a:p>
            <a:pPr indent="0" marL="0">
              <a:buNone/>
            </a:pPr>
            <a:r>
              <a:rPr lang="en-US" sz="1150" i="1" dirty="0">
                <a:solidFill>
                  <a:srgbClr val="15803D"/>
                </a:solidFill>
                <a:latin typeface="Calibri" pitchFamily="34" charset="0"/>
                <a:ea typeface="Calibri" pitchFamily="34" charset="-122"/>
                <a:cs typeface="Calibri" pitchFamily="34" charset="-120"/>
              </a:rPr>
              <a:t>Nối bảng → vẫn 2 dòng → doanh thu đúng</a:t>
            </a:r>
            <a:endParaRPr lang="en-US" sz="1150" dirty="0"/>
          </a:p>
        </p:txBody>
      </p:sp>
      <p:sp>
        <p:nvSpPr>
          <p:cNvPr id="36" name="Shape 34"/>
          <p:cNvSpPr/>
          <p:nvPr/>
        </p:nvSpPr>
        <p:spPr>
          <a:xfrm>
            <a:off x="6345936" y="5431536"/>
            <a:ext cx="5278831" cy="713232"/>
          </a:xfrm>
          <a:prstGeom prst="roundRect">
            <a:avLst>
              <a:gd name="adj" fmla="val 10256"/>
            </a:avLst>
          </a:prstGeom>
          <a:solidFill>
            <a:srgbClr val="EEF2FA"/>
          </a:solidFill>
          <a:ln/>
          <a:effectLst>
            <a:outerShdw sx="100000" sy="100000" kx="0" ky="0" algn="bl" rotWithShape="0" blurRad="127000" dist="25400" dir="5400000">
              <a:srgbClr val="9AA8C0">
                <a:alpha val="28000"/>
              </a:srgbClr>
            </a:outerShdw>
          </a:effectLst>
        </p:spPr>
      </p:sp>
      <p:sp>
        <p:nvSpPr>
          <p:cNvPr id="37" name="Text 35"/>
          <p:cNvSpPr/>
          <p:nvPr/>
        </p:nvSpPr>
        <p:spPr>
          <a:xfrm>
            <a:off x="6601968" y="5431536"/>
            <a:ext cx="4766767" cy="713232"/>
          </a:xfrm>
          <a:prstGeom prst="rect">
            <a:avLst/>
          </a:prstGeom>
          <a:noFill/>
          <a:ln/>
        </p:spPr>
        <p:txBody>
          <a:bodyPr wrap="square" lIns="0" tIns="0" rIns="0" bIns="0" rtlCol="0" anchor="ctr"/>
          <a:lstStyle/>
          <a:p>
            <a:pPr indent="0" marL="0">
              <a:lnSpc>
                <a:spcPts val="1800"/>
              </a:lnSpc>
              <a:buNone/>
            </a:pPr>
            <a:r>
              <a:rPr lang="en-US" sz="1250" dirty="0">
                <a:solidFill>
                  <a:srgbClr val="10203F"/>
                </a:solidFill>
                <a:latin typeface="Calibri" pitchFamily="34" charset="0"/>
                <a:ea typeface="Calibri" pitchFamily="34" charset="-122"/>
                <a:cs typeface="Calibri" pitchFamily="34" charset="-120"/>
              </a:rPr>
              <a:t>Đây là lý do phải xác định khóa chính ở bước Từ điển, trước khi thực hiện bất kỳ phép nối bảng nào.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Bước 3–5 — Loại 15 cột không mang thông tin độc lập</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Ba lý do khác nhau, cùng một tiêu chí: tái tạo lại được thì không cần lưu</a:t>
            </a:r>
            <a:endParaRPr lang="en-US" sz="1350" dirty="0"/>
          </a:p>
        </p:txBody>
      </p:sp>
      <p:sp>
        <p:nvSpPr>
          <p:cNvPr id="4" name="Shape 2"/>
          <p:cNvSpPr/>
          <p:nvPr/>
        </p:nvSpPr>
        <p:spPr>
          <a:xfrm>
            <a:off x="566928" y="1554480"/>
            <a:ext cx="3503066" cy="3346704"/>
          </a:xfrm>
          <a:prstGeom prst="roundRect">
            <a:avLst>
              <a:gd name="adj" fmla="val 2186"/>
            </a:avLst>
          </a:prstGeom>
          <a:solidFill>
            <a:srgbClr val="FEF3C7"/>
          </a:solidFill>
          <a:ln/>
          <a:effectLst>
            <a:outerShdw sx="100000" sy="100000" kx="0" ky="0" algn="bl" rotWithShape="0" blurRad="127000" dist="25400" dir="5400000">
              <a:srgbClr val="9AA8C0">
                <a:alpha val="28000"/>
              </a:srgbClr>
            </a:outerShdw>
          </a:effectLst>
        </p:spPr>
      </p:sp>
      <p:sp>
        <p:nvSpPr>
          <p:cNvPr id="5" name="Text 3"/>
          <p:cNvSpPr/>
          <p:nvPr/>
        </p:nvSpPr>
        <p:spPr>
          <a:xfrm>
            <a:off x="841248" y="1737360"/>
            <a:ext cx="2222906" cy="329184"/>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Cột hằng số</a:t>
            </a:r>
            <a:endParaRPr lang="en-US" sz="1500" dirty="0"/>
          </a:p>
        </p:txBody>
      </p:sp>
      <p:sp>
        <p:nvSpPr>
          <p:cNvPr id="6" name="Shape 4"/>
          <p:cNvSpPr/>
          <p:nvPr/>
        </p:nvSpPr>
        <p:spPr>
          <a:xfrm>
            <a:off x="3064154" y="1755648"/>
            <a:ext cx="731520" cy="292608"/>
          </a:xfrm>
          <a:prstGeom prst="roundRect">
            <a:avLst>
              <a:gd name="adj" fmla="val 15625"/>
            </a:avLst>
          </a:prstGeom>
          <a:solidFill>
            <a:srgbClr val="A16207"/>
          </a:solidFill>
          <a:ln/>
        </p:spPr>
      </p:sp>
      <p:sp>
        <p:nvSpPr>
          <p:cNvPr id="7" name="Text 5"/>
          <p:cNvSpPr/>
          <p:nvPr/>
        </p:nvSpPr>
        <p:spPr>
          <a:xfrm>
            <a:off x="3064154" y="1755648"/>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cột</a:t>
            </a:r>
            <a:endParaRPr lang="en-US" sz="1100" dirty="0"/>
          </a:p>
        </p:txBody>
      </p:sp>
      <p:sp>
        <p:nvSpPr>
          <p:cNvPr id="8" name="Text 6"/>
          <p:cNvSpPr/>
          <p:nvPr/>
        </p:nvSpPr>
        <p:spPr>
          <a:xfrm>
            <a:off x="841248" y="2157984"/>
            <a:ext cx="2954426" cy="1225296"/>
          </a:xfrm>
          <a:prstGeom prst="rect">
            <a:avLst/>
          </a:prstGeom>
          <a:noFill/>
          <a:ln/>
        </p:spPr>
        <p:txBody>
          <a:bodyPr wrap="square" lIns="0" tIns="0" rIns="0" bIns="0" rtlCol="0" anchor="t"/>
          <a:lstStyle/>
          <a:p>
            <a:pPr indent="0" marL="0">
              <a:lnSpc>
                <a:spcPts val="1900"/>
              </a:lnSpc>
              <a:buNone/>
            </a:pPr>
            <a:r>
              <a:rPr lang="en-US" sz="1250" dirty="0">
                <a:solidFill>
                  <a:srgbClr val="334155"/>
                </a:solidFill>
                <a:latin typeface="Calibri" pitchFamily="34" charset="0"/>
                <a:ea typeface="Calibri" pitchFamily="34" charset="-122"/>
                <a:cs typeface="Calibri" pitchFamily="34" charset="-120"/>
              </a:rPr>
              <a:t>inventory.reorder_flag luôn bằng 0 trên toàn bộ 60.247 dòng.</a:t>
            </a:r>
            <a:endParaRPr lang="en-US" sz="1250" dirty="0"/>
          </a:p>
          <a:p>
            <a:pPr indent="0" marL="0">
              <a:lnSpc>
                <a:spcPts val="1900"/>
              </a:lnSpc>
              <a:buNone/>
            </a:pPr>
            <a:r>
              <a:rPr lang="en-US" sz="1250" dirty="0">
                <a:solidFill>
                  <a:srgbClr val="334155"/>
                </a:solidFill>
                <a:latin typeface="Calibri" pitchFamily="34" charset="0"/>
                <a:ea typeface="Calibri" pitchFamily="34" charset="-122"/>
                <a:cs typeface="Calibri" pitchFamily="34" charset="-120"/>
              </a:rPr>
              <a:t>Phương sai bằng 0 — không phân biệt được dòng nào với dòng nào.</a:t>
            </a:r>
            <a:endParaRPr lang="en-US" sz="1250" dirty="0"/>
          </a:p>
        </p:txBody>
      </p:sp>
      <p:sp>
        <p:nvSpPr>
          <p:cNvPr id="9" name="Text 7"/>
          <p:cNvSpPr/>
          <p:nvPr/>
        </p:nvSpPr>
        <p:spPr>
          <a:xfrm>
            <a:off x="841248" y="3438144"/>
            <a:ext cx="2954426" cy="1371600"/>
          </a:xfrm>
          <a:prstGeom prst="rect">
            <a:avLst/>
          </a:prstGeom>
          <a:noFill/>
          <a:ln/>
        </p:spPr>
        <p:txBody>
          <a:bodyPr wrap="square" lIns="0" tIns="0" rIns="0" bIns="0" rtlCol="0" anchor="t"/>
          <a:lstStyle/>
          <a:p>
            <a:pPr indent="0" marL="0">
              <a:lnSpc>
                <a:spcPts val="1900"/>
              </a:lnSpc>
              <a:buNone/>
            </a:pPr>
            <a:r>
              <a:rPr lang="en-US" sz="1200" i="1" dirty="0">
                <a:solidFill>
                  <a:srgbClr val="64748B"/>
                </a:solidFill>
                <a:latin typeface="Calibri" pitchFamily="34" charset="0"/>
                <a:ea typeface="Calibri" pitchFamily="34" charset="-122"/>
                <a:cs typeface="Calibri" pitchFamily="34" charset="-120"/>
              </a:rPr>
              <a:t>Notebook quét tự động cả 96 cột thay vì liệt kê tay, để chắc không sót.</a:t>
            </a:r>
            <a:endParaRPr lang="en-US" sz="1200" dirty="0"/>
          </a:p>
        </p:txBody>
      </p:sp>
      <p:sp>
        <p:nvSpPr>
          <p:cNvPr id="10" name="Shape 8"/>
          <p:cNvSpPr/>
          <p:nvPr/>
        </p:nvSpPr>
        <p:spPr>
          <a:xfrm>
            <a:off x="4344314" y="1554480"/>
            <a:ext cx="3503066" cy="3346704"/>
          </a:xfrm>
          <a:prstGeom prst="roundRect">
            <a:avLst>
              <a:gd name="adj" fmla="val 2186"/>
            </a:avLst>
          </a:prstGeom>
          <a:solidFill>
            <a:srgbClr val="EEF2FA"/>
          </a:solidFill>
          <a:ln/>
          <a:effectLst>
            <a:outerShdw sx="100000" sy="100000" kx="0" ky="0" algn="bl" rotWithShape="0" blurRad="127000" dist="25400" dir="5400000">
              <a:srgbClr val="9AA8C0">
                <a:alpha val="28000"/>
              </a:srgbClr>
            </a:outerShdw>
          </a:effectLst>
        </p:spPr>
      </p:sp>
      <p:sp>
        <p:nvSpPr>
          <p:cNvPr id="11" name="Text 9"/>
          <p:cNvSpPr/>
          <p:nvPr/>
        </p:nvSpPr>
        <p:spPr>
          <a:xfrm>
            <a:off x="4618634" y="1737360"/>
            <a:ext cx="2222906" cy="329184"/>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Cột dư thừa</a:t>
            </a:r>
            <a:endParaRPr lang="en-US" sz="1500" dirty="0"/>
          </a:p>
        </p:txBody>
      </p:sp>
      <p:sp>
        <p:nvSpPr>
          <p:cNvPr id="12" name="Shape 10"/>
          <p:cNvSpPr/>
          <p:nvPr/>
        </p:nvSpPr>
        <p:spPr>
          <a:xfrm>
            <a:off x="6841541" y="1755648"/>
            <a:ext cx="731520" cy="292608"/>
          </a:xfrm>
          <a:prstGeom prst="roundRect">
            <a:avLst>
              <a:gd name="adj" fmla="val 15625"/>
            </a:avLst>
          </a:prstGeom>
          <a:solidFill>
            <a:srgbClr val="3A4A6B"/>
          </a:solidFill>
          <a:ln/>
        </p:spPr>
      </p:sp>
      <p:sp>
        <p:nvSpPr>
          <p:cNvPr id="13" name="Text 11"/>
          <p:cNvSpPr/>
          <p:nvPr/>
        </p:nvSpPr>
        <p:spPr>
          <a:xfrm>
            <a:off x="6841541" y="1755648"/>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cột</a:t>
            </a:r>
            <a:endParaRPr lang="en-US" sz="1100" dirty="0"/>
          </a:p>
        </p:txBody>
      </p:sp>
      <p:sp>
        <p:nvSpPr>
          <p:cNvPr id="14" name="Text 12"/>
          <p:cNvSpPr/>
          <p:nvPr/>
        </p:nvSpPr>
        <p:spPr>
          <a:xfrm>
            <a:off x="4618634" y="2157984"/>
            <a:ext cx="2954426" cy="1225296"/>
          </a:xfrm>
          <a:prstGeom prst="rect">
            <a:avLst/>
          </a:prstGeom>
          <a:noFill/>
          <a:ln/>
        </p:spPr>
        <p:txBody>
          <a:bodyPr wrap="square" lIns="0" tIns="0" rIns="0" bIns="0" rtlCol="0" anchor="t"/>
          <a:lstStyle/>
          <a:p>
            <a:pPr indent="0" marL="0">
              <a:lnSpc>
                <a:spcPts val="1900"/>
              </a:lnSpc>
              <a:buNone/>
            </a:pPr>
            <a:r>
              <a:rPr lang="en-US" sz="1250" dirty="0">
                <a:solidFill>
                  <a:srgbClr val="334155"/>
                </a:solidFill>
                <a:latin typeface="Calibri" pitchFamily="34" charset="0"/>
                <a:ea typeface="Calibri" pitchFamily="34" charset="-122"/>
                <a:cs typeface="Calibri" pitchFamily="34" charset="-120"/>
              </a:rPr>
              <a:t>Bản sao nguyên văn của cột ở bảng khác, đã kiểm chứng trùng khớp 100%.</a:t>
            </a:r>
            <a:endParaRPr lang="en-US" sz="1250" dirty="0"/>
          </a:p>
        </p:txBody>
      </p:sp>
      <p:sp>
        <p:nvSpPr>
          <p:cNvPr id="15" name="Text 13"/>
          <p:cNvSpPr/>
          <p:nvPr/>
        </p:nvSpPr>
        <p:spPr>
          <a:xfrm>
            <a:off x="4618634" y="3438144"/>
            <a:ext cx="2954426" cy="1371600"/>
          </a:xfrm>
          <a:prstGeom prst="rect">
            <a:avLst/>
          </a:prstGeom>
          <a:noFill/>
          <a:ln/>
        </p:spPr>
        <p:txBody>
          <a:bodyPr wrap="square" lIns="0" tIns="0" rIns="0" bIns="0" rtlCol="0" anchor="t"/>
          <a:lstStyle/>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orders.zip ≡ customers.zip</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payments.payment_method ≡ orders.payment_method</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customers.city ← geography.city</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reviews.customer_id ← orders.customer_id</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inventory lặp 3 cột từ products</a:t>
            </a:r>
            <a:endParaRPr lang="en-US" sz="950" dirty="0"/>
          </a:p>
        </p:txBody>
      </p:sp>
      <p:sp>
        <p:nvSpPr>
          <p:cNvPr id="16" name="Shape 14"/>
          <p:cNvSpPr/>
          <p:nvPr/>
        </p:nvSpPr>
        <p:spPr>
          <a:xfrm>
            <a:off x="8121701" y="1554480"/>
            <a:ext cx="3503066" cy="3346704"/>
          </a:xfrm>
          <a:prstGeom prst="roundRect">
            <a:avLst>
              <a:gd name="adj" fmla="val 2186"/>
            </a:avLst>
          </a:prstGeom>
          <a:solidFill>
            <a:srgbClr val="CADCFC"/>
          </a:solidFill>
          <a:ln/>
          <a:effectLst>
            <a:outerShdw sx="100000" sy="100000" kx="0" ky="0" algn="bl" rotWithShape="0" blurRad="127000" dist="25400" dir="5400000">
              <a:srgbClr val="9AA8C0">
                <a:alpha val="28000"/>
              </a:srgbClr>
            </a:outerShdw>
          </a:effectLst>
        </p:spPr>
      </p:sp>
      <p:sp>
        <p:nvSpPr>
          <p:cNvPr id="17" name="Text 15"/>
          <p:cNvSpPr/>
          <p:nvPr/>
        </p:nvSpPr>
        <p:spPr>
          <a:xfrm>
            <a:off x="8396021" y="1737360"/>
            <a:ext cx="2222906" cy="329184"/>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Cột suy diễn ★</a:t>
            </a:r>
            <a:endParaRPr lang="en-US" sz="1500" dirty="0"/>
          </a:p>
        </p:txBody>
      </p:sp>
      <p:sp>
        <p:nvSpPr>
          <p:cNvPr id="18" name="Shape 16"/>
          <p:cNvSpPr/>
          <p:nvPr/>
        </p:nvSpPr>
        <p:spPr>
          <a:xfrm>
            <a:off x="10618927" y="1755648"/>
            <a:ext cx="731520" cy="292608"/>
          </a:xfrm>
          <a:prstGeom prst="roundRect">
            <a:avLst>
              <a:gd name="adj" fmla="val 15625"/>
            </a:avLst>
          </a:prstGeom>
          <a:solidFill>
            <a:srgbClr val="1E2761"/>
          </a:solidFill>
          <a:ln/>
        </p:spPr>
      </p:sp>
      <p:sp>
        <p:nvSpPr>
          <p:cNvPr id="19" name="Text 17"/>
          <p:cNvSpPr/>
          <p:nvPr/>
        </p:nvSpPr>
        <p:spPr>
          <a:xfrm>
            <a:off x="10618927" y="1755648"/>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cột</a:t>
            </a:r>
            <a:endParaRPr lang="en-US" sz="1100" dirty="0"/>
          </a:p>
        </p:txBody>
      </p:sp>
      <p:sp>
        <p:nvSpPr>
          <p:cNvPr id="20" name="Text 18"/>
          <p:cNvSpPr/>
          <p:nvPr/>
        </p:nvSpPr>
        <p:spPr>
          <a:xfrm>
            <a:off x="8396021" y="2157984"/>
            <a:ext cx="2954426" cy="1225296"/>
          </a:xfrm>
          <a:prstGeom prst="rect">
            <a:avLst/>
          </a:prstGeom>
          <a:noFill/>
          <a:ln/>
        </p:spPr>
        <p:txBody>
          <a:bodyPr wrap="square" lIns="0" tIns="0" rIns="0" bIns="0" rtlCol="0" anchor="t"/>
          <a:lstStyle/>
          <a:p>
            <a:pPr indent="0" marL="0">
              <a:lnSpc>
                <a:spcPts val="1900"/>
              </a:lnSpc>
              <a:buNone/>
            </a:pPr>
            <a:r>
              <a:rPr lang="en-US" sz="1250" dirty="0">
                <a:solidFill>
                  <a:srgbClr val="334155"/>
                </a:solidFill>
                <a:latin typeface="Calibri" pitchFamily="34" charset="0"/>
                <a:ea typeface="Calibri" pitchFamily="34" charset="-122"/>
                <a:cs typeface="Calibri" pitchFamily="34" charset="-120"/>
              </a:rPr>
              <a:t>Tính lại được bằng công thức, đã xác nhận khớp 100% trên toàn bộ dữ liệu.</a:t>
            </a:r>
            <a:endParaRPr lang="en-US" sz="1250" dirty="0"/>
          </a:p>
        </p:txBody>
      </p:sp>
      <p:sp>
        <p:nvSpPr>
          <p:cNvPr id="21" name="Text 19"/>
          <p:cNvSpPr/>
          <p:nvPr/>
        </p:nvSpPr>
        <p:spPr>
          <a:xfrm>
            <a:off x="8396021" y="3438144"/>
            <a:ext cx="2954426" cy="1371600"/>
          </a:xfrm>
          <a:prstGeom prst="rect">
            <a:avLst/>
          </a:prstGeom>
          <a:noFill/>
          <a:ln/>
        </p:spPr>
        <p:txBody>
          <a:bodyPr wrap="square" lIns="0" tIns="0" rIns="0" bIns="0" rtlCol="0" anchor="t"/>
          <a:lstStyle/>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fill_rate = 1 − stockout_days/30</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stockout_flag = stockout_days &gt; 0</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sell_through_rate = units_sold/(stock_on_hand+units_sold)</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days_of_supply = round(stock_on_hand/(units_sold/30),1)</a:t>
            </a:r>
            <a:endParaRPr lang="en-US" sz="950" dirty="0"/>
          </a:p>
          <a:p>
            <a:pPr indent="0" marL="0">
              <a:lnSpc>
                <a:spcPts val="1300"/>
              </a:lnSpc>
              <a:buNone/>
            </a:pPr>
            <a:r>
              <a:rPr lang="en-US" sz="950" dirty="0">
                <a:solidFill>
                  <a:srgbClr val="1E293B"/>
                </a:solidFill>
                <a:latin typeface="Courier New" pitchFamily="34" charset="0"/>
                <a:ea typeface="Courier New" pitchFamily="34" charset="-122"/>
                <a:cs typeface="Courier New" pitchFamily="34" charset="-120"/>
              </a:rPr>
              <a:t>payment_value = Σ(qty × price − discount)</a:t>
            </a:r>
            <a:endParaRPr lang="en-US" sz="950" dirty="0"/>
          </a:p>
        </p:txBody>
      </p:sp>
      <p:sp>
        <p:nvSpPr>
          <p:cNvPr id="22" name="Shape 20"/>
          <p:cNvSpPr/>
          <p:nvPr/>
        </p:nvSpPr>
        <p:spPr>
          <a:xfrm>
            <a:off x="566928" y="5084064"/>
            <a:ext cx="11057839" cy="1060704"/>
          </a:xfrm>
          <a:prstGeom prst="roundRect">
            <a:avLst>
              <a:gd name="adj" fmla="val 6897"/>
            </a:avLst>
          </a:prstGeom>
          <a:solidFill>
            <a:srgbClr val="FEF3C7"/>
          </a:solidFill>
          <a:ln/>
          <a:effectLst>
            <a:outerShdw sx="100000" sy="100000" kx="0" ky="0" algn="bl" rotWithShape="0" blurRad="127000" dist="25400" dir="5400000">
              <a:srgbClr val="9AA8C0">
                <a:alpha val="28000"/>
              </a:srgbClr>
            </a:outerShdw>
          </a:effectLst>
        </p:spPr>
      </p:sp>
      <p:sp>
        <p:nvSpPr>
          <p:cNvPr id="23" name="Text 21"/>
          <p:cNvSpPr/>
          <p:nvPr/>
        </p:nvSpPr>
        <p:spPr>
          <a:xfrm>
            <a:off x="877824" y="5084064"/>
            <a:ext cx="10436047" cy="1060704"/>
          </a:xfrm>
          <a:prstGeom prst="rect">
            <a:avLst/>
          </a:prstGeom>
          <a:noFill/>
          <a:ln/>
        </p:spPr>
        <p:txBody>
          <a:bodyPr wrap="square" lIns="0" tIns="0" rIns="0" bIns="0" rtlCol="0" anchor="ctr"/>
          <a:lstStyle/>
          <a:p>
            <a:pPr indent="0" marL="0">
              <a:lnSpc>
                <a:spcPts val="2000"/>
              </a:lnSpc>
              <a:buNone/>
            </a:pPr>
            <a:r>
              <a:rPr lang="en-US" sz="1350" b="1" dirty="0">
                <a:solidFill>
                  <a:srgbClr val="92400E"/>
                </a:solidFill>
                <a:latin typeface="Calibri" pitchFamily="34" charset="0"/>
                <a:ea typeface="Calibri" pitchFamily="34" charset="-122"/>
                <a:cs typeface="Calibri" pitchFamily="34" charset="-120"/>
              </a:rPr>
              <a:t>Vì sao phải loại cột suy diễn:  </a:t>
            </a:r>
            <a:pPr indent="0" marL="0">
              <a:lnSpc>
                <a:spcPts val="2000"/>
              </a:lnSpc>
              <a:buNone/>
            </a:pPr>
            <a:r>
              <a:rPr lang="en-US" sz="1350" dirty="0">
                <a:solidFill>
                  <a:srgbClr val="451A03"/>
                </a:solidFill>
                <a:latin typeface="Calibri" pitchFamily="34" charset="0"/>
                <a:ea typeface="Calibri" pitchFamily="34" charset="-122"/>
                <a:cs typeface="Calibri" pitchFamily="34" charset="-120"/>
              </a:rPr>
              <a:t>hai cột tương quan hoàn hảo gây </a:t>
            </a:r>
            <a:pPr indent="0" marL="0">
              <a:lnSpc>
                <a:spcPts val="2000"/>
              </a:lnSpc>
              <a:buNone/>
            </a:pPr>
            <a:r>
              <a:rPr lang="en-US" sz="1350" b="1" dirty="0">
                <a:solidFill>
                  <a:srgbClr val="D97706"/>
                </a:solidFill>
                <a:latin typeface="Calibri" pitchFamily="34" charset="0"/>
                <a:ea typeface="Calibri" pitchFamily="34" charset="-122"/>
                <a:cs typeface="Calibri" pitchFamily="34" charset="-120"/>
              </a:rPr>
              <a:t>đa cộng tuyến</a:t>
            </a:r>
            <a:pPr indent="0" marL="0">
              <a:lnSpc>
                <a:spcPts val="2000"/>
              </a:lnSpc>
              <a:buNone/>
            </a:pPr>
            <a:r>
              <a:rPr lang="en-US" sz="1350" dirty="0">
                <a:solidFill>
                  <a:srgbClr val="451A03"/>
                </a:solidFill>
                <a:latin typeface="Calibri" pitchFamily="34" charset="0"/>
                <a:ea typeface="Calibri" pitchFamily="34" charset="-122"/>
                <a:cs typeface="Calibri" pitchFamily="34" charset="-120"/>
              </a:rPr>
              <a:t> — trọng số mô hình bất ổn định, và biểu đồ tầm quan trọng đặc trưng cho ra kết quả sai lệch. Giữ lại không thêm thông tin, chỉ thêm rủi ro.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Bước 6 — Giá trị thiếu có ngữ nghĩa</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Chỗ dễ sai nhất: không phải giá trị thiếu nào cũng là lỗi</a:t>
            </a:r>
            <a:endParaRPr lang="en-US" sz="1350" dirty="0"/>
          </a:p>
        </p:txBody>
      </p:sp>
      <p:sp>
        <p:nvSpPr>
          <p:cNvPr id="4" name="Shape 2"/>
          <p:cNvSpPr/>
          <p:nvPr/>
        </p:nvSpPr>
        <p:spPr>
          <a:xfrm>
            <a:off x="566928" y="1572768"/>
            <a:ext cx="11057839" cy="932688"/>
          </a:xfrm>
          <a:prstGeom prst="roundRect">
            <a:avLst>
              <a:gd name="adj" fmla="val 7843"/>
            </a:avLst>
          </a:prstGeom>
          <a:solidFill>
            <a:srgbClr val="DCFCE7"/>
          </a:solidFill>
          <a:ln/>
          <a:effectLst>
            <a:outerShdw sx="100000" sy="100000" kx="0" ky="0" algn="bl" rotWithShape="0" blurRad="127000" dist="25400" dir="5400000">
              <a:srgbClr val="9AA8C0">
                <a:alpha val="28000"/>
              </a:srgbClr>
            </a:outerShdw>
          </a:effectLst>
        </p:spPr>
      </p:sp>
      <p:sp>
        <p:nvSpPr>
          <p:cNvPr id="5" name="Text 3"/>
          <p:cNvSpPr/>
          <p:nvPr/>
        </p:nvSpPr>
        <p:spPr>
          <a:xfrm>
            <a:off x="841248" y="1627632"/>
            <a:ext cx="2926080" cy="402336"/>
          </a:xfrm>
          <a:prstGeom prst="rect">
            <a:avLst/>
          </a:prstGeom>
          <a:noFill/>
          <a:ln/>
        </p:spPr>
        <p:txBody>
          <a:bodyPr wrap="square" lIns="0" tIns="0" rIns="0" bIns="0" rtlCol="0" anchor="ctr"/>
          <a:lstStyle/>
          <a:p>
            <a:pPr indent="0" marL="0">
              <a:buNone/>
            </a:pPr>
            <a:r>
              <a:rPr lang="en-US" sz="1250" b="1" dirty="0">
                <a:solidFill>
                  <a:srgbClr val="10203F"/>
                </a:solidFill>
                <a:latin typeface="Courier New" pitchFamily="34" charset="0"/>
                <a:ea typeface="Courier New" pitchFamily="34" charset="-122"/>
                <a:cs typeface="Courier New" pitchFamily="34" charset="-120"/>
              </a:rPr>
              <a:t>order_items.promo_id</a:t>
            </a:r>
            <a:endParaRPr lang="en-US" sz="1250" dirty="0"/>
          </a:p>
        </p:txBody>
      </p:sp>
      <p:sp>
        <p:nvSpPr>
          <p:cNvPr id="6" name="Text 4"/>
          <p:cNvSpPr/>
          <p:nvPr/>
        </p:nvSpPr>
        <p:spPr>
          <a:xfrm>
            <a:off x="841248" y="2029968"/>
            <a:ext cx="2926080" cy="329184"/>
          </a:xfrm>
          <a:prstGeom prst="rect">
            <a:avLst/>
          </a:prstGeom>
          <a:noFill/>
          <a:ln/>
        </p:spPr>
        <p:txBody>
          <a:bodyPr wrap="square" lIns="0" tIns="0" rIns="0" bIns="0" rtlCol="0" anchor="ctr"/>
          <a:lstStyle/>
          <a:p>
            <a:pPr indent="0" marL="0">
              <a:buNone/>
            </a:pPr>
            <a:r>
              <a:rPr lang="en-US" sz="1200" b="1" dirty="0">
                <a:solidFill>
                  <a:srgbClr val="15803D"/>
                </a:solidFill>
                <a:latin typeface="Calibri" pitchFamily="34" charset="0"/>
                <a:ea typeface="Calibri" pitchFamily="34" charset="-122"/>
                <a:cs typeface="Calibri" pitchFamily="34" charset="-120"/>
              </a:rPr>
              <a:t>thiếu 61,3%</a:t>
            </a:r>
            <a:endParaRPr lang="en-US" sz="1200" dirty="0"/>
          </a:p>
        </p:txBody>
      </p:sp>
      <p:sp>
        <p:nvSpPr>
          <p:cNvPr id="7" name="Text 5"/>
          <p:cNvSpPr/>
          <p:nvPr/>
        </p:nvSpPr>
        <p:spPr>
          <a:xfrm>
            <a:off x="3950208" y="1664208"/>
            <a:ext cx="3291840" cy="256032"/>
          </a:xfrm>
          <a:prstGeom prst="rect">
            <a:avLst/>
          </a:prstGeom>
          <a:noFill/>
          <a:ln/>
        </p:spPr>
        <p:txBody>
          <a:bodyPr wrap="square" lIns="0" tIns="0" rIns="0" bIns="0" rtlCol="0" anchor="ctr"/>
          <a:lstStyle/>
          <a:p>
            <a:pPr indent="0" marL="0">
              <a:buNone/>
            </a:pPr>
            <a:r>
              <a:rPr lang="en-US" sz="1000" spc="80" kern="0" dirty="0">
                <a:solidFill>
                  <a:srgbClr val="64748B"/>
                </a:solidFill>
                <a:latin typeface="Calibri" pitchFamily="34" charset="0"/>
                <a:ea typeface="Calibri" pitchFamily="34" charset="-122"/>
                <a:cs typeface="Calibri" pitchFamily="34" charset="-120"/>
              </a:rPr>
              <a:t>Nghĩa thật</a:t>
            </a:r>
            <a:endParaRPr lang="en-US" sz="1000" dirty="0"/>
          </a:p>
        </p:txBody>
      </p:sp>
      <p:sp>
        <p:nvSpPr>
          <p:cNvPr id="8" name="Text 6"/>
          <p:cNvSpPr/>
          <p:nvPr/>
        </p:nvSpPr>
        <p:spPr>
          <a:xfrm>
            <a:off x="3950208" y="1901952"/>
            <a:ext cx="3291840" cy="512064"/>
          </a:xfrm>
          <a:prstGeom prst="rect">
            <a:avLst/>
          </a:prstGeom>
          <a:noFill/>
          <a:ln/>
        </p:spPr>
        <p:txBody>
          <a:bodyPr wrap="square" lIns="0" tIns="0" rIns="0" bIns="0" rtlCol="0" anchor="t"/>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Dòng hàng không có khuyến mại</a:t>
            </a:r>
            <a:endParaRPr lang="en-US" sz="1250" dirty="0"/>
          </a:p>
        </p:txBody>
      </p:sp>
      <p:sp>
        <p:nvSpPr>
          <p:cNvPr id="9" name="Text 7"/>
          <p:cNvSpPr/>
          <p:nvPr/>
        </p:nvSpPr>
        <p:spPr>
          <a:xfrm>
            <a:off x="7516368" y="1664208"/>
            <a:ext cx="3834079" cy="256032"/>
          </a:xfrm>
          <a:prstGeom prst="rect">
            <a:avLst/>
          </a:prstGeom>
          <a:noFill/>
          <a:ln/>
        </p:spPr>
        <p:txBody>
          <a:bodyPr wrap="square" lIns="0" tIns="0" rIns="0" bIns="0" rtlCol="0" anchor="ctr"/>
          <a:lstStyle/>
          <a:p>
            <a:pPr indent="0" marL="0">
              <a:buNone/>
            </a:pPr>
            <a:r>
              <a:rPr lang="en-US" sz="1000" spc="80" kern="0" dirty="0">
                <a:solidFill>
                  <a:srgbClr val="64748B"/>
                </a:solidFill>
                <a:latin typeface="Calibri" pitchFamily="34" charset="0"/>
                <a:ea typeface="Calibri" pitchFamily="34" charset="-122"/>
                <a:cs typeface="Calibri" pitchFamily="34" charset="-120"/>
              </a:rPr>
              <a:t>Cách xử lý</a:t>
            </a:r>
            <a:endParaRPr lang="en-US" sz="1000" dirty="0"/>
          </a:p>
        </p:txBody>
      </p:sp>
      <p:sp>
        <p:nvSpPr>
          <p:cNvPr id="10" name="Text 8"/>
          <p:cNvSpPr/>
          <p:nvPr/>
        </p:nvSpPr>
        <p:spPr>
          <a:xfrm>
            <a:off x="7516368" y="1901952"/>
            <a:ext cx="3834079" cy="512064"/>
          </a:xfrm>
          <a:prstGeom prst="rect">
            <a:avLst/>
          </a:prstGeom>
          <a:noFill/>
          <a:ln/>
        </p:spPr>
        <p:txBody>
          <a:bodyPr wrap="square" lIns="0" tIns="0" rIns="0" bIns="0" rtlCol="0" anchor="t"/>
          <a:lstStyle/>
          <a:p>
            <a:pPr indent="0" marL="0">
              <a:lnSpc>
                <a:spcPts val="1700"/>
              </a:lnSpc>
              <a:buNone/>
            </a:pPr>
            <a:r>
              <a:rPr lang="en-US" sz="1250" b="1" dirty="0">
                <a:solidFill>
                  <a:srgbClr val="10203F"/>
                </a:solidFill>
                <a:latin typeface="Calibri" pitchFamily="34" charset="0"/>
                <a:ea typeface="Calibri" pitchFamily="34" charset="-122"/>
                <a:cs typeface="Calibri" pitchFamily="34" charset="-120"/>
              </a:rPr>
              <a:t>Thêm cờ nhị phân, GIỮ NGUYÊN cột gốc</a:t>
            </a:r>
            <a:endParaRPr lang="en-US" sz="1250" dirty="0"/>
          </a:p>
        </p:txBody>
      </p:sp>
      <p:sp>
        <p:nvSpPr>
          <p:cNvPr id="11" name="Shape 9"/>
          <p:cNvSpPr/>
          <p:nvPr/>
        </p:nvSpPr>
        <p:spPr>
          <a:xfrm>
            <a:off x="566928" y="2633472"/>
            <a:ext cx="11057839" cy="932688"/>
          </a:xfrm>
          <a:prstGeom prst="roundRect">
            <a:avLst>
              <a:gd name="adj" fmla="val 7843"/>
            </a:avLst>
          </a:prstGeom>
          <a:solidFill>
            <a:srgbClr val="EEF2FA"/>
          </a:solidFill>
          <a:ln/>
          <a:effectLst>
            <a:outerShdw sx="100000" sy="100000" kx="0" ky="0" algn="bl" rotWithShape="0" blurRad="127000" dist="25400" dir="5400000">
              <a:srgbClr val="9AA8C0">
                <a:alpha val="28000"/>
              </a:srgbClr>
            </a:outerShdw>
          </a:effectLst>
        </p:spPr>
      </p:sp>
      <p:sp>
        <p:nvSpPr>
          <p:cNvPr id="12" name="Text 10"/>
          <p:cNvSpPr/>
          <p:nvPr/>
        </p:nvSpPr>
        <p:spPr>
          <a:xfrm>
            <a:off x="841248" y="2688336"/>
            <a:ext cx="2926080" cy="402336"/>
          </a:xfrm>
          <a:prstGeom prst="rect">
            <a:avLst/>
          </a:prstGeom>
          <a:noFill/>
          <a:ln/>
        </p:spPr>
        <p:txBody>
          <a:bodyPr wrap="square" lIns="0" tIns="0" rIns="0" bIns="0" rtlCol="0" anchor="ctr"/>
          <a:lstStyle/>
          <a:p>
            <a:pPr indent="0" marL="0">
              <a:buNone/>
            </a:pPr>
            <a:r>
              <a:rPr lang="en-US" sz="1250" b="1" dirty="0">
                <a:solidFill>
                  <a:srgbClr val="10203F"/>
                </a:solidFill>
                <a:latin typeface="Courier New" pitchFamily="34" charset="0"/>
                <a:ea typeface="Courier New" pitchFamily="34" charset="-122"/>
                <a:cs typeface="Courier New" pitchFamily="34" charset="-120"/>
              </a:rPr>
              <a:t>order_items.promo_id_2</a:t>
            </a:r>
            <a:endParaRPr lang="en-US" sz="1250" dirty="0"/>
          </a:p>
        </p:txBody>
      </p:sp>
      <p:sp>
        <p:nvSpPr>
          <p:cNvPr id="13" name="Text 11"/>
          <p:cNvSpPr/>
          <p:nvPr/>
        </p:nvSpPr>
        <p:spPr>
          <a:xfrm>
            <a:off x="841248" y="3090672"/>
            <a:ext cx="2926080" cy="329184"/>
          </a:xfrm>
          <a:prstGeom prst="rect">
            <a:avLst/>
          </a:prstGeom>
          <a:noFill/>
          <a:ln/>
        </p:spPr>
        <p:txBody>
          <a:bodyPr wrap="square" lIns="0" tIns="0" rIns="0" bIns="0" rtlCol="0" anchor="ctr"/>
          <a:lstStyle/>
          <a:p>
            <a:pPr indent="0" marL="0">
              <a:buNone/>
            </a:pPr>
            <a:r>
              <a:rPr lang="en-US" sz="1200" b="1" dirty="0">
                <a:solidFill>
                  <a:srgbClr val="3A4A6B"/>
                </a:solidFill>
                <a:latin typeface="Calibri" pitchFamily="34" charset="0"/>
                <a:ea typeface="Calibri" pitchFamily="34" charset="-122"/>
                <a:cs typeface="Calibri" pitchFamily="34" charset="-120"/>
              </a:rPr>
              <a:t>thiếu 99,97%</a:t>
            </a:r>
            <a:endParaRPr lang="en-US" sz="1200" dirty="0"/>
          </a:p>
        </p:txBody>
      </p:sp>
      <p:sp>
        <p:nvSpPr>
          <p:cNvPr id="14" name="Text 12"/>
          <p:cNvSpPr/>
          <p:nvPr/>
        </p:nvSpPr>
        <p:spPr>
          <a:xfrm>
            <a:off x="3950208" y="2724912"/>
            <a:ext cx="3291840" cy="256032"/>
          </a:xfrm>
          <a:prstGeom prst="rect">
            <a:avLst/>
          </a:prstGeom>
          <a:noFill/>
          <a:ln/>
        </p:spPr>
        <p:txBody>
          <a:bodyPr wrap="square" lIns="0" tIns="0" rIns="0" bIns="0" rtlCol="0" anchor="ctr"/>
          <a:lstStyle/>
          <a:p>
            <a:pPr indent="0" marL="0">
              <a:buNone/>
            </a:pPr>
            <a:r>
              <a:rPr lang="en-US" sz="1000" spc="80" kern="0" dirty="0">
                <a:solidFill>
                  <a:srgbClr val="64748B"/>
                </a:solidFill>
                <a:latin typeface="Calibri" pitchFamily="34" charset="0"/>
                <a:ea typeface="Calibri" pitchFamily="34" charset="-122"/>
                <a:cs typeface="Calibri" pitchFamily="34" charset="-120"/>
              </a:rPr>
              <a:t>Nghĩa thật</a:t>
            </a:r>
            <a:endParaRPr lang="en-US" sz="1000" dirty="0"/>
          </a:p>
        </p:txBody>
      </p:sp>
      <p:sp>
        <p:nvSpPr>
          <p:cNvPr id="15" name="Text 13"/>
          <p:cNvSpPr/>
          <p:nvPr/>
        </p:nvSpPr>
        <p:spPr>
          <a:xfrm>
            <a:off x="3950208" y="2962656"/>
            <a:ext cx="3291840" cy="512064"/>
          </a:xfrm>
          <a:prstGeom prst="rect">
            <a:avLst/>
          </a:prstGeom>
          <a:noFill/>
          <a:ln/>
        </p:spPr>
        <p:txBody>
          <a:bodyPr wrap="square" lIns="0" tIns="0" rIns="0" bIns="0" rtlCol="0" anchor="t"/>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Khuyến mại cộng dồn — chỉ 206 dòng có giá trị</a:t>
            </a:r>
            <a:endParaRPr lang="en-US" sz="1250" dirty="0"/>
          </a:p>
        </p:txBody>
      </p:sp>
      <p:sp>
        <p:nvSpPr>
          <p:cNvPr id="16" name="Text 14"/>
          <p:cNvSpPr/>
          <p:nvPr/>
        </p:nvSpPr>
        <p:spPr>
          <a:xfrm>
            <a:off x="7516368" y="2724912"/>
            <a:ext cx="3834079" cy="256032"/>
          </a:xfrm>
          <a:prstGeom prst="rect">
            <a:avLst/>
          </a:prstGeom>
          <a:noFill/>
          <a:ln/>
        </p:spPr>
        <p:txBody>
          <a:bodyPr wrap="square" lIns="0" tIns="0" rIns="0" bIns="0" rtlCol="0" anchor="ctr"/>
          <a:lstStyle/>
          <a:p>
            <a:pPr indent="0" marL="0">
              <a:buNone/>
            </a:pPr>
            <a:r>
              <a:rPr lang="en-US" sz="1000" spc="80" kern="0" dirty="0">
                <a:solidFill>
                  <a:srgbClr val="64748B"/>
                </a:solidFill>
                <a:latin typeface="Calibri" pitchFamily="34" charset="0"/>
                <a:ea typeface="Calibri" pitchFamily="34" charset="-122"/>
                <a:cs typeface="Calibri" pitchFamily="34" charset="-120"/>
              </a:rPr>
              <a:t>Cách xử lý</a:t>
            </a:r>
            <a:endParaRPr lang="en-US" sz="1000" dirty="0"/>
          </a:p>
        </p:txBody>
      </p:sp>
      <p:sp>
        <p:nvSpPr>
          <p:cNvPr id="17" name="Text 15"/>
          <p:cNvSpPr/>
          <p:nvPr/>
        </p:nvSpPr>
        <p:spPr>
          <a:xfrm>
            <a:off x="7516368" y="2962656"/>
            <a:ext cx="3834079" cy="512064"/>
          </a:xfrm>
          <a:prstGeom prst="rect">
            <a:avLst/>
          </a:prstGeom>
          <a:noFill/>
          <a:ln/>
        </p:spPr>
        <p:txBody>
          <a:bodyPr wrap="square" lIns="0" tIns="0" rIns="0" bIns="0" rtlCol="0" anchor="t"/>
          <a:lstStyle/>
          <a:p>
            <a:pPr indent="0" marL="0">
              <a:lnSpc>
                <a:spcPts val="1700"/>
              </a:lnSpc>
              <a:buNone/>
            </a:pPr>
            <a:r>
              <a:rPr lang="en-US" sz="1250" b="1" dirty="0">
                <a:solidFill>
                  <a:srgbClr val="10203F"/>
                </a:solidFill>
                <a:latin typeface="Calibri" pitchFamily="34" charset="0"/>
                <a:ea typeface="Calibri" pitchFamily="34" charset="-122"/>
                <a:cs typeface="Calibri" pitchFamily="34" charset="-120"/>
              </a:rPr>
              <a:t>Loại bỏ cột</a:t>
            </a:r>
            <a:endParaRPr lang="en-US" sz="1250" dirty="0"/>
          </a:p>
        </p:txBody>
      </p:sp>
      <p:sp>
        <p:nvSpPr>
          <p:cNvPr id="18" name="Shape 16"/>
          <p:cNvSpPr/>
          <p:nvPr/>
        </p:nvSpPr>
        <p:spPr>
          <a:xfrm>
            <a:off x="566928" y="3694176"/>
            <a:ext cx="11057839" cy="932688"/>
          </a:xfrm>
          <a:prstGeom prst="roundRect">
            <a:avLst>
              <a:gd name="adj" fmla="val 7843"/>
            </a:avLst>
          </a:prstGeom>
          <a:solidFill>
            <a:srgbClr val="FEF3C7"/>
          </a:solidFill>
          <a:ln/>
          <a:effectLst>
            <a:outerShdw sx="100000" sy="100000" kx="0" ky="0" algn="bl" rotWithShape="0" blurRad="127000" dist="25400" dir="5400000">
              <a:srgbClr val="9AA8C0">
                <a:alpha val="28000"/>
              </a:srgbClr>
            </a:outerShdw>
          </a:effectLst>
        </p:spPr>
      </p:sp>
      <p:sp>
        <p:nvSpPr>
          <p:cNvPr id="19" name="Text 17"/>
          <p:cNvSpPr/>
          <p:nvPr/>
        </p:nvSpPr>
        <p:spPr>
          <a:xfrm>
            <a:off x="841248" y="3749040"/>
            <a:ext cx="2926080" cy="402336"/>
          </a:xfrm>
          <a:prstGeom prst="rect">
            <a:avLst/>
          </a:prstGeom>
          <a:noFill/>
          <a:ln/>
        </p:spPr>
        <p:txBody>
          <a:bodyPr wrap="square" lIns="0" tIns="0" rIns="0" bIns="0" rtlCol="0" anchor="ctr"/>
          <a:lstStyle/>
          <a:p>
            <a:pPr indent="0" marL="0">
              <a:buNone/>
            </a:pPr>
            <a:r>
              <a:rPr lang="en-US" sz="1250" b="1" dirty="0">
                <a:solidFill>
                  <a:srgbClr val="10203F"/>
                </a:solidFill>
                <a:latin typeface="Courier New" pitchFamily="34" charset="0"/>
                <a:ea typeface="Courier New" pitchFamily="34" charset="-122"/>
                <a:cs typeface="Courier New" pitchFamily="34" charset="-120"/>
              </a:rPr>
              <a:t>promotions.applicable_category</a:t>
            </a:r>
            <a:endParaRPr lang="en-US" sz="1250" dirty="0"/>
          </a:p>
        </p:txBody>
      </p:sp>
      <p:sp>
        <p:nvSpPr>
          <p:cNvPr id="20" name="Text 18"/>
          <p:cNvSpPr/>
          <p:nvPr/>
        </p:nvSpPr>
        <p:spPr>
          <a:xfrm>
            <a:off x="841248" y="4151376"/>
            <a:ext cx="2926080" cy="329184"/>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thiếu 80%</a:t>
            </a:r>
            <a:endParaRPr lang="en-US" sz="1200" dirty="0"/>
          </a:p>
        </p:txBody>
      </p:sp>
      <p:sp>
        <p:nvSpPr>
          <p:cNvPr id="21" name="Text 19"/>
          <p:cNvSpPr/>
          <p:nvPr/>
        </p:nvSpPr>
        <p:spPr>
          <a:xfrm>
            <a:off x="3950208" y="3785616"/>
            <a:ext cx="3291840" cy="256032"/>
          </a:xfrm>
          <a:prstGeom prst="rect">
            <a:avLst/>
          </a:prstGeom>
          <a:noFill/>
          <a:ln/>
        </p:spPr>
        <p:txBody>
          <a:bodyPr wrap="square" lIns="0" tIns="0" rIns="0" bIns="0" rtlCol="0" anchor="ctr"/>
          <a:lstStyle/>
          <a:p>
            <a:pPr indent="0" marL="0">
              <a:buNone/>
            </a:pPr>
            <a:r>
              <a:rPr lang="en-US" sz="1000" spc="80" kern="0" dirty="0">
                <a:solidFill>
                  <a:srgbClr val="64748B"/>
                </a:solidFill>
                <a:latin typeface="Calibri" pitchFamily="34" charset="0"/>
                <a:ea typeface="Calibri" pitchFamily="34" charset="-122"/>
                <a:cs typeface="Calibri" pitchFamily="34" charset="-120"/>
              </a:rPr>
              <a:t>Nghĩa thật</a:t>
            </a:r>
            <a:endParaRPr lang="en-US" sz="1000" dirty="0"/>
          </a:p>
        </p:txBody>
      </p:sp>
      <p:sp>
        <p:nvSpPr>
          <p:cNvPr id="22" name="Text 20"/>
          <p:cNvSpPr/>
          <p:nvPr/>
        </p:nvSpPr>
        <p:spPr>
          <a:xfrm>
            <a:off x="3950208" y="4023360"/>
            <a:ext cx="3291840" cy="512064"/>
          </a:xfrm>
          <a:prstGeom prst="rect">
            <a:avLst/>
          </a:prstGeom>
          <a:noFill/>
          <a:ln/>
        </p:spPr>
        <p:txBody>
          <a:bodyPr wrap="square" lIns="0" tIns="0" rIns="0" bIns="0" rtlCol="0" anchor="t"/>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Áp dụng cho MỌI danh mục</a:t>
            </a:r>
            <a:endParaRPr lang="en-US" sz="1250" dirty="0"/>
          </a:p>
        </p:txBody>
      </p:sp>
      <p:sp>
        <p:nvSpPr>
          <p:cNvPr id="23" name="Text 21"/>
          <p:cNvSpPr/>
          <p:nvPr/>
        </p:nvSpPr>
        <p:spPr>
          <a:xfrm>
            <a:off x="7516368" y="3785616"/>
            <a:ext cx="3834079" cy="256032"/>
          </a:xfrm>
          <a:prstGeom prst="rect">
            <a:avLst/>
          </a:prstGeom>
          <a:noFill/>
          <a:ln/>
        </p:spPr>
        <p:txBody>
          <a:bodyPr wrap="square" lIns="0" tIns="0" rIns="0" bIns="0" rtlCol="0" anchor="ctr"/>
          <a:lstStyle/>
          <a:p>
            <a:pPr indent="0" marL="0">
              <a:buNone/>
            </a:pPr>
            <a:r>
              <a:rPr lang="en-US" sz="1000" spc="80" kern="0" dirty="0">
                <a:solidFill>
                  <a:srgbClr val="64748B"/>
                </a:solidFill>
                <a:latin typeface="Calibri" pitchFamily="34" charset="0"/>
                <a:ea typeface="Calibri" pitchFamily="34" charset="-122"/>
                <a:cs typeface="Calibri" pitchFamily="34" charset="-120"/>
              </a:rPr>
              <a:t>Cách xử lý</a:t>
            </a:r>
            <a:endParaRPr lang="en-US" sz="1000" dirty="0"/>
          </a:p>
        </p:txBody>
      </p:sp>
      <p:sp>
        <p:nvSpPr>
          <p:cNvPr id="24" name="Text 22"/>
          <p:cNvSpPr/>
          <p:nvPr/>
        </p:nvSpPr>
        <p:spPr>
          <a:xfrm>
            <a:off x="7516368" y="4023360"/>
            <a:ext cx="3834079" cy="512064"/>
          </a:xfrm>
          <a:prstGeom prst="rect">
            <a:avLst/>
          </a:prstGeom>
          <a:noFill/>
          <a:ln/>
        </p:spPr>
        <p:txBody>
          <a:bodyPr wrap="square" lIns="0" tIns="0" rIns="0" bIns="0" rtlCol="0" anchor="t"/>
          <a:lstStyle/>
          <a:p>
            <a:pPr indent="0" marL="0">
              <a:lnSpc>
                <a:spcPts val="1700"/>
              </a:lnSpc>
              <a:buNone/>
            </a:pPr>
            <a:r>
              <a:rPr lang="en-US" sz="1250" b="1" dirty="0">
                <a:solidFill>
                  <a:srgbClr val="10203F"/>
                </a:solidFill>
                <a:latin typeface="Calibri" pitchFamily="34" charset="0"/>
                <a:ea typeface="Calibri" pitchFamily="34" charset="-122"/>
                <a:cs typeface="Calibri" pitchFamily="34" charset="-120"/>
              </a:rPr>
              <a:t>Điền nhãn tường minh ALL — tuyệt đối không xóa dòng</a:t>
            </a:r>
            <a:endParaRPr lang="en-US" sz="1250" dirty="0"/>
          </a:p>
        </p:txBody>
      </p:sp>
      <p:sp>
        <p:nvSpPr>
          <p:cNvPr id="25" name="Shape 23"/>
          <p:cNvSpPr/>
          <p:nvPr/>
        </p:nvSpPr>
        <p:spPr>
          <a:xfrm>
            <a:off x="566928" y="4828032"/>
            <a:ext cx="11057839" cy="1316736"/>
          </a:xfrm>
          <a:prstGeom prst="roundRect">
            <a:avLst>
              <a:gd name="adj" fmla="val 6944"/>
            </a:avLst>
          </a:prstGeom>
          <a:solidFill>
            <a:srgbClr val="1E2761"/>
          </a:solidFill>
          <a:ln/>
          <a:effectLst>
            <a:outerShdw sx="100000" sy="100000" kx="0" ky="0" algn="bl" rotWithShape="0" blurRad="127000" dist="25400" dir="5400000">
              <a:srgbClr val="9AA8C0">
                <a:alpha val="28000"/>
              </a:srgbClr>
            </a:outerShdw>
          </a:effectLst>
        </p:spPr>
      </p:sp>
      <p:sp>
        <p:nvSpPr>
          <p:cNvPr id="26" name="Text 24"/>
          <p:cNvSpPr/>
          <p:nvPr/>
        </p:nvSpPr>
        <p:spPr>
          <a:xfrm>
            <a:off x="969264" y="4828032"/>
            <a:ext cx="10253167" cy="1316736"/>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Calibri" pitchFamily="34" charset="0"/>
                <a:ea typeface="Calibri" pitchFamily="34" charset="-122"/>
                <a:cs typeface="Calibri" pitchFamily="34" charset="-120"/>
              </a:rPr>
              <a:t>Trường hợp thứ ba là ví dụ đáng nhớ nhất.</a:t>
            </a:r>
            <a:endParaRPr lang="en-US" sz="1400" dirty="0"/>
          </a:p>
          <a:p>
            <a:pPr indent="0" marL="0">
              <a:lnSpc>
                <a:spcPts val="2400"/>
              </a:lnSpc>
              <a:buNone/>
            </a:pPr>
            <a:r>
              <a:rPr lang="en-US" sz="1400" dirty="0">
                <a:solidFill>
                  <a:srgbClr val="FFFFFF"/>
                </a:solidFill>
                <a:latin typeface="Calibri" pitchFamily="34" charset="0"/>
                <a:ea typeface="Calibri" pitchFamily="34" charset="-122"/>
                <a:cs typeface="Calibri" pitchFamily="34" charset="-120"/>
              </a:rPr>
              <a:t>Ô trống ở đây mang nghĩa </a:t>
            </a:r>
            <a:pPr indent="0" marL="0">
              <a:lnSpc>
                <a:spcPts val="2400"/>
              </a:lnSpc>
              <a:buNone/>
            </a:pPr>
            <a:r>
              <a:rPr lang="en-US" sz="1400" b="1" dirty="0">
                <a:solidFill>
                  <a:srgbClr val="86EFAC"/>
                </a:solidFill>
                <a:latin typeface="Calibri" pitchFamily="34" charset="0"/>
                <a:ea typeface="Calibri" pitchFamily="34" charset="-122"/>
                <a:cs typeface="Calibri" pitchFamily="34" charset="-120"/>
              </a:rPr>
              <a:t>rộng nhất</a:t>
            </a:r>
            <a:pPr indent="0" marL="0">
              <a:lnSpc>
                <a:spcPts val="2400"/>
              </a:lnSpc>
              <a:buNone/>
            </a:pPr>
            <a:r>
              <a:rPr lang="en-US" sz="1400" dirty="0">
                <a:solidFill>
                  <a:srgbClr val="FFFFFF"/>
                </a:solidFill>
                <a:latin typeface="Calibri" pitchFamily="34" charset="0"/>
                <a:ea typeface="Calibri" pitchFamily="34" charset="-122"/>
                <a:cs typeface="Calibri" pitchFamily="34" charset="-120"/>
              </a:rPr>
              <a:t> — áp dụng mọi danh mục. Nếu điền giá trị phổ biến nhất vào theo quán tính, ta gán cho nó nghĩa </a:t>
            </a:r>
            <a:pPr indent="0" marL="0">
              <a:lnSpc>
                <a:spcPts val="2400"/>
              </a:lnSpc>
              <a:buNone/>
            </a:pPr>
            <a:r>
              <a:rPr lang="en-US" sz="1400" b="1" dirty="0">
                <a:solidFill>
                  <a:srgbClr val="FCA5A5"/>
                </a:solidFill>
                <a:latin typeface="Calibri" pitchFamily="34" charset="0"/>
                <a:ea typeface="Calibri" pitchFamily="34" charset="-122"/>
                <a:cs typeface="Calibri" pitchFamily="34" charset="-120"/>
              </a:rPr>
              <a:t>hẹp nhất</a:t>
            </a:r>
            <a:pPr indent="0" marL="0">
              <a:lnSpc>
                <a:spcPts val="2400"/>
              </a:lnSpc>
              <a:buNone/>
            </a:pPr>
            <a:r>
              <a:rPr lang="en-US" sz="1400" dirty="0">
                <a:solidFill>
                  <a:srgbClr val="FFFFFF"/>
                </a:solidFill>
                <a:latin typeface="Calibri" pitchFamily="34" charset="0"/>
                <a:ea typeface="Calibri" pitchFamily="34" charset="-122"/>
                <a:cs typeface="Calibri" pitchFamily="34" charset="-120"/>
              </a:rPr>
              <a:t>. Sai ngược hoàn toàn.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Bước 7 — Thay signup_date bằng first_order_date</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Mâu thuẫn logic thời gian: không thể mua hàng trước khi có tài khoản</a:t>
            </a:r>
            <a:endParaRPr lang="en-US" sz="1350" dirty="0"/>
          </a:p>
        </p:txBody>
      </p:sp>
      <p:sp>
        <p:nvSpPr>
          <p:cNvPr id="4" name="Shape 2"/>
          <p:cNvSpPr/>
          <p:nvPr/>
        </p:nvSpPr>
        <p:spPr>
          <a:xfrm>
            <a:off x="566928" y="1572768"/>
            <a:ext cx="3749040" cy="2084832"/>
          </a:xfrm>
          <a:prstGeom prst="roundRect">
            <a:avLst>
              <a:gd name="adj" fmla="val 3509"/>
            </a:avLst>
          </a:prstGeom>
          <a:solidFill>
            <a:srgbClr val="FEE2E2"/>
          </a:solidFill>
          <a:ln/>
          <a:effectLst>
            <a:outerShdw sx="100000" sy="100000" kx="0" ky="0" algn="bl" rotWithShape="0" blurRad="127000" dist="25400" dir="5400000">
              <a:srgbClr val="9AA8C0">
                <a:alpha val="28000"/>
              </a:srgbClr>
            </a:outerShdw>
          </a:effectLst>
        </p:spPr>
      </p:sp>
      <p:sp>
        <p:nvSpPr>
          <p:cNvPr id="5" name="Text 3"/>
          <p:cNvSpPr/>
          <p:nvPr/>
        </p:nvSpPr>
        <p:spPr>
          <a:xfrm>
            <a:off x="566928" y="1792224"/>
            <a:ext cx="3749040" cy="804672"/>
          </a:xfrm>
          <a:prstGeom prst="rect">
            <a:avLst/>
          </a:prstGeom>
          <a:noFill/>
          <a:ln/>
        </p:spPr>
        <p:txBody>
          <a:bodyPr wrap="square" lIns="0" tIns="0" rIns="0" bIns="0" rtlCol="0" anchor="ctr"/>
          <a:lstStyle/>
          <a:p>
            <a:pPr algn="ctr" indent="0" marL="0">
              <a:buNone/>
            </a:pPr>
            <a:r>
              <a:rPr lang="en-US" sz="5000" b="1" dirty="0">
                <a:solidFill>
                  <a:srgbClr val="B91C1C"/>
                </a:solidFill>
                <a:latin typeface="Cambria" pitchFamily="34" charset="0"/>
                <a:ea typeface="Cambria" pitchFamily="34" charset="-122"/>
                <a:cs typeface="Cambria" pitchFamily="34" charset="-120"/>
              </a:rPr>
              <a:t>73,8%</a:t>
            </a:r>
            <a:endParaRPr lang="en-US" sz="5000" dirty="0"/>
          </a:p>
        </p:txBody>
      </p:sp>
      <p:sp>
        <p:nvSpPr>
          <p:cNvPr id="6" name="Text 4"/>
          <p:cNvSpPr/>
          <p:nvPr/>
        </p:nvSpPr>
        <p:spPr>
          <a:xfrm>
            <a:off x="566928" y="2596896"/>
            <a:ext cx="3749040" cy="621792"/>
          </a:xfrm>
          <a:prstGeom prst="rect">
            <a:avLst/>
          </a:prstGeom>
          <a:noFill/>
          <a:ln/>
        </p:spPr>
        <p:txBody>
          <a:bodyPr wrap="square" lIns="0" tIns="0" rIns="0" bIns="0" rtlCol="0" anchor="ctr"/>
          <a:lstStyle/>
          <a:p>
            <a:pPr algn="ctr" indent="0" marL="0">
              <a:lnSpc>
                <a:spcPts val="1900"/>
              </a:lnSpc>
              <a:buNone/>
            </a:pPr>
            <a:r>
              <a:rPr lang="en-US" sz="1300" dirty="0">
                <a:solidFill>
                  <a:srgbClr val="7F1D1D"/>
                </a:solidFill>
                <a:latin typeface="Calibri" pitchFamily="34" charset="0"/>
                <a:ea typeface="Calibri" pitchFamily="34" charset="-122"/>
                <a:cs typeface="Calibri" pitchFamily="34" charset="-120"/>
              </a:rPr>
              <a:t>đơn hàng đặt TRƯỚC</a:t>
            </a:r>
            <a:endParaRPr lang="en-US" sz="1300" dirty="0"/>
          </a:p>
          <a:p>
            <a:pPr algn="ctr" indent="0" marL="0">
              <a:lnSpc>
                <a:spcPts val="1900"/>
              </a:lnSpc>
              <a:buNone/>
            </a:pPr>
            <a:r>
              <a:rPr lang="en-US" sz="1300" dirty="0">
                <a:solidFill>
                  <a:srgbClr val="7F1D1D"/>
                </a:solidFill>
                <a:latin typeface="Calibri" pitchFamily="34" charset="0"/>
                <a:ea typeface="Calibri" pitchFamily="34" charset="-122"/>
                <a:cs typeface="Calibri" pitchFamily="34" charset="-120"/>
              </a:rPr>
              <a:t>ngày đăng ký tài khoản</a:t>
            </a:r>
            <a:endParaRPr lang="en-US" sz="1300" dirty="0"/>
          </a:p>
        </p:txBody>
      </p:sp>
      <p:sp>
        <p:nvSpPr>
          <p:cNvPr id="7" name="Text 5"/>
          <p:cNvSpPr/>
          <p:nvPr/>
        </p:nvSpPr>
        <p:spPr>
          <a:xfrm>
            <a:off x="566928" y="3200400"/>
            <a:ext cx="3749040" cy="274320"/>
          </a:xfrm>
          <a:prstGeom prst="rect">
            <a:avLst/>
          </a:prstGeom>
          <a:noFill/>
          <a:ln/>
        </p:spPr>
        <p:txBody>
          <a:bodyPr wrap="square" lIns="0" tIns="0" rIns="0" bIns="0" rtlCol="0" anchor="ctr"/>
          <a:lstStyle/>
          <a:p>
            <a:pPr algn="ctr" indent="0" marL="0">
              <a:buNone/>
            </a:pPr>
            <a:r>
              <a:rPr lang="en-US" sz="1150" i="1" dirty="0">
                <a:solidFill>
                  <a:srgbClr val="991B1B"/>
                </a:solidFill>
                <a:latin typeface="Calibri" pitchFamily="34" charset="0"/>
                <a:ea typeface="Calibri" pitchFamily="34" charset="-122"/>
                <a:cs typeface="Calibri" pitchFamily="34" charset="-120"/>
              </a:rPr>
              <a:t>477.453 / 646.945 đơn</a:t>
            </a:r>
            <a:endParaRPr lang="en-US" sz="1150" dirty="0"/>
          </a:p>
        </p:txBody>
      </p:sp>
      <p:sp>
        <p:nvSpPr>
          <p:cNvPr id="8" name="Text 6"/>
          <p:cNvSpPr/>
          <p:nvPr/>
        </p:nvSpPr>
        <p:spPr>
          <a:xfrm>
            <a:off x="4608576" y="1609344"/>
            <a:ext cx="7016191" cy="274320"/>
          </a:xfrm>
          <a:prstGeom prst="rect">
            <a:avLst/>
          </a:prstGeom>
          <a:noFill/>
          <a:ln/>
        </p:spPr>
        <p:txBody>
          <a:bodyPr wrap="square" lIns="0" tIns="0" rIns="0" bIns="0" rtlCol="0" anchor="ctr"/>
          <a:lstStyle/>
          <a:p>
            <a:pPr indent="0" marL="0">
              <a:buNone/>
            </a:pPr>
            <a:r>
              <a:rPr lang="en-US" sz="1300" b="1" dirty="0">
                <a:solidFill>
                  <a:srgbClr val="10203F"/>
                </a:solidFill>
                <a:latin typeface="Calibri" pitchFamily="34" charset="0"/>
                <a:ea typeface="Calibri" pitchFamily="34" charset="-122"/>
                <a:cs typeface="Calibri" pitchFamily="34" charset="-120"/>
              </a:rPr>
              <a:t>Điều dữ liệu đang nói</a:t>
            </a:r>
            <a:endParaRPr lang="en-US" sz="1300" dirty="0"/>
          </a:p>
        </p:txBody>
      </p:sp>
      <p:sp>
        <p:nvSpPr>
          <p:cNvPr id="9" name="Shape 7"/>
          <p:cNvSpPr/>
          <p:nvPr/>
        </p:nvSpPr>
        <p:spPr>
          <a:xfrm>
            <a:off x="5321808" y="2395728"/>
            <a:ext cx="5754319" cy="0"/>
          </a:xfrm>
          <a:prstGeom prst="line">
            <a:avLst/>
          </a:prstGeom>
          <a:noFill/>
          <a:ln w="25400">
            <a:solidFill>
              <a:srgbClr val="CBD5E1"/>
            </a:solidFill>
            <a:prstDash val="solid"/>
          </a:ln>
        </p:spPr>
      </p:sp>
      <p:sp>
        <p:nvSpPr>
          <p:cNvPr id="10" name="Shape 8"/>
          <p:cNvSpPr/>
          <p:nvPr/>
        </p:nvSpPr>
        <p:spPr>
          <a:xfrm>
            <a:off x="5239512" y="2313432"/>
            <a:ext cx="164592" cy="164592"/>
          </a:xfrm>
          <a:prstGeom prst="ellipse">
            <a:avLst/>
          </a:prstGeom>
          <a:solidFill>
            <a:srgbClr val="B91C1C"/>
          </a:solidFill>
          <a:ln/>
        </p:spPr>
      </p:sp>
      <p:sp>
        <p:nvSpPr>
          <p:cNvPr id="11" name="Text 9"/>
          <p:cNvSpPr/>
          <p:nvPr/>
        </p:nvSpPr>
        <p:spPr>
          <a:xfrm>
            <a:off x="4636008" y="2011680"/>
            <a:ext cx="1371600" cy="256032"/>
          </a:xfrm>
          <a:prstGeom prst="rect">
            <a:avLst/>
          </a:prstGeom>
          <a:noFill/>
          <a:ln/>
        </p:spPr>
        <p:txBody>
          <a:bodyPr wrap="square" lIns="0" tIns="0" rIns="0" bIns="0" rtlCol="0" anchor="ctr"/>
          <a:lstStyle/>
          <a:p>
            <a:pPr algn="ctr" indent="0" marL="0">
              <a:buNone/>
            </a:pPr>
            <a:r>
              <a:rPr lang="en-US" sz="1150" b="1" dirty="0">
                <a:solidFill>
                  <a:srgbClr val="B91C1C"/>
                </a:solidFill>
                <a:latin typeface="Calibri" pitchFamily="34" charset="0"/>
                <a:ea typeface="Calibri" pitchFamily="34" charset="-122"/>
                <a:cs typeface="Calibri" pitchFamily="34" charset="-120"/>
              </a:rPr>
              <a:t>05/03/2019</a:t>
            </a:r>
            <a:endParaRPr lang="en-US" sz="1150" dirty="0"/>
          </a:p>
        </p:txBody>
      </p:sp>
      <p:sp>
        <p:nvSpPr>
          <p:cNvPr id="12" name="Text 10"/>
          <p:cNvSpPr/>
          <p:nvPr/>
        </p:nvSpPr>
        <p:spPr>
          <a:xfrm>
            <a:off x="4636008" y="2542032"/>
            <a:ext cx="1371600" cy="25603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Đặt đơn hàng</a:t>
            </a:r>
            <a:endParaRPr lang="en-US" sz="1150" dirty="0"/>
          </a:p>
        </p:txBody>
      </p:sp>
      <p:sp>
        <p:nvSpPr>
          <p:cNvPr id="13" name="Shape 11"/>
          <p:cNvSpPr/>
          <p:nvPr/>
        </p:nvSpPr>
        <p:spPr>
          <a:xfrm>
            <a:off x="8461931" y="2313432"/>
            <a:ext cx="164592" cy="164592"/>
          </a:xfrm>
          <a:prstGeom prst="ellipse">
            <a:avLst/>
          </a:prstGeom>
          <a:solidFill>
            <a:srgbClr val="3A4A6B"/>
          </a:solidFill>
          <a:ln/>
        </p:spPr>
      </p:sp>
      <p:sp>
        <p:nvSpPr>
          <p:cNvPr id="14" name="Text 12"/>
          <p:cNvSpPr/>
          <p:nvPr/>
        </p:nvSpPr>
        <p:spPr>
          <a:xfrm>
            <a:off x="7858427" y="2011680"/>
            <a:ext cx="1371600" cy="256032"/>
          </a:xfrm>
          <a:prstGeom prst="rect">
            <a:avLst/>
          </a:prstGeom>
          <a:noFill/>
          <a:ln/>
        </p:spPr>
        <p:txBody>
          <a:bodyPr wrap="square" lIns="0" tIns="0" rIns="0" bIns="0" rtlCol="0" anchor="ctr"/>
          <a:lstStyle/>
          <a:p>
            <a:pPr algn="ctr" indent="0" marL="0">
              <a:buNone/>
            </a:pPr>
            <a:r>
              <a:rPr lang="en-US" sz="1150" b="1" dirty="0">
                <a:solidFill>
                  <a:srgbClr val="3A4A6B"/>
                </a:solidFill>
                <a:latin typeface="Calibri" pitchFamily="34" charset="0"/>
                <a:ea typeface="Calibri" pitchFamily="34" charset="-122"/>
                <a:cs typeface="Calibri" pitchFamily="34" charset="-120"/>
              </a:rPr>
              <a:t>20/06/2019</a:t>
            </a:r>
            <a:endParaRPr lang="en-US" sz="1150" dirty="0"/>
          </a:p>
        </p:txBody>
      </p:sp>
      <p:sp>
        <p:nvSpPr>
          <p:cNvPr id="15" name="Text 13"/>
          <p:cNvSpPr/>
          <p:nvPr/>
        </p:nvSpPr>
        <p:spPr>
          <a:xfrm>
            <a:off x="7858427" y="2542032"/>
            <a:ext cx="1371600" cy="25603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Mở tài khoản</a:t>
            </a:r>
            <a:endParaRPr lang="en-US" sz="1150" dirty="0"/>
          </a:p>
        </p:txBody>
      </p:sp>
      <p:sp>
        <p:nvSpPr>
          <p:cNvPr id="16" name="Text 14"/>
          <p:cNvSpPr/>
          <p:nvPr/>
        </p:nvSpPr>
        <p:spPr>
          <a:xfrm>
            <a:off x="4608576" y="2962656"/>
            <a:ext cx="7016191" cy="310896"/>
          </a:xfrm>
          <a:prstGeom prst="rect">
            <a:avLst/>
          </a:prstGeom>
          <a:noFill/>
          <a:ln/>
        </p:spPr>
        <p:txBody>
          <a:bodyPr wrap="square" lIns="0" tIns="0" rIns="0" bIns="0"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Bất khả thi về nghiệp vụ — cột này không dùng được</a:t>
            </a:r>
            <a:endParaRPr lang="en-US" sz="1300" dirty="0"/>
          </a:p>
        </p:txBody>
      </p:sp>
      <p:sp>
        <p:nvSpPr>
          <p:cNvPr id="17" name="Text 15"/>
          <p:cNvSpPr/>
          <p:nvPr/>
        </p:nvSpPr>
        <p:spPr>
          <a:xfrm>
            <a:off x="4608576" y="3273552"/>
            <a:ext cx="7016191" cy="31089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Nhưng bỏ hẳn thì mất thông tin về thâm niên khách hàng.</a:t>
            </a:r>
            <a:endParaRPr lang="en-US" sz="1250" dirty="0"/>
          </a:p>
        </p:txBody>
      </p:sp>
      <p:sp>
        <p:nvSpPr>
          <p:cNvPr id="18" name="Shape 16"/>
          <p:cNvSpPr/>
          <p:nvPr/>
        </p:nvSpPr>
        <p:spPr>
          <a:xfrm>
            <a:off x="566928" y="3858768"/>
            <a:ext cx="11057839" cy="2286000"/>
          </a:xfrm>
          <a:prstGeom prst="roundRect">
            <a:avLst>
              <a:gd name="adj" fmla="val 3200"/>
            </a:avLst>
          </a:prstGeom>
          <a:solidFill>
            <a:srgbClr val="DCFCE7"/>
          </a:solidFill>
          <a:ln/>
          <a:effectLst>
            <a:outerShdw sx="100000" sy="100000" kx="0" ky="0" algn="bl" rotWithShape="0" blurRad="127000" dist="25400" dir="5400000">
              <a:srgbClr val="9AA8C0">
                <a:alpha val="28000"/>
              </a:srgbClr>
            </a:outerShdw>
          </a:effectLst>
        </p:spPr>
      </p:sp>
      <p:sp>
        <p:nvSpPr>
          <p:cNvPr id="19" name="Text 17"/>
          <p:cNvSpPr/>
          <p:nvPr/>
        </p:nvSpPr>
        <p:spPr>
          <a:xfrm>
            <a:off x="896112" y="4023360"/>
            <a:ext cx="10399471" cy="292608"/>
          </a:xfrm>
          <a:prstGeom prst="rect">
            <a:avLst/>
          </a:prstGeom>
          <a:noFill/>
          <a:ln/>
        </p:spPr>
        <p:txBody>
          <a:bodyPr wrap="square" lIns="0" tIns="0" rIns="0" bIns="0" rtlCol="0" anchor="ctr"/>
          <a:lstStyle/>
          <a:p>
            <a:pPr indent="0" marL="0">
              <a:buNone/>
            </a:pPr>
            <a:r>
              <a:rPr lang="en-US" sz="1100" b="1" spc="120" kern="0" dirty="0">
                <a:solidFill>
                  <a:srgbClr val="166534"/>
                </a:solidFill>
                <a:latin typeface="Calibri" pitchFamily="34" charset="0"/>
                <a:ea typeface="Calibri" pitchFamily="34" charset="-122"/>
                <a:cs typeface="Calibri" pitchFamily="34" charset="-120"/>
              </a:rPr>
              <a:t>CÁCH XỬ LÝ — thay thế, không xóa</a:t>
            </a:r>
            <a:endParaRPr lang="en-US" sz="1100" dirty="0"/>
          </a:p>
        </p:txBody>
      </p:sp>
      <p:sp>
        <p:nvSpPr>
          <p:cNvPr id="20" name="Shape 18"/>
          <p:cNvSpPr/>
          <p:nvPr/>
        </p:nvSpPr>
        <p:spPr>
          <a:xfrm>
            <a:off x="896112" y="4389120"/>
            <a:ext cx="5035144" cy="1572768"/>
          </a:xfrm>
          <a:prstGeom prst="roundRect">
            <a:avLst>
              <a:gd name="adj" fmla="val 4070"/>
            </a:avLst>
          </a:prstGeom>
          <a:solidFill>
            <a:srgbClr val="FFFFFF"/>
          </a:solidFill>
          <a:ln/>
        </p:spPr>
      </p:sp>
      <p:sp>
        <p:nvSpPr>
          <p:cNvPr id="21" name="Text 19"/>
          <p:cNvSpPr/>
          <p:nvPr/>
        </p:nvSpPr>
        <p:spPr>
          <a:xfrm>
            <a:off x="1115568" y="4517136"/>
            <a:ext cx="4596232" cy="310896"/>
          </a:xfrm>
          <a:prstGeom prst="rect">
            <a:avLst/>
          </a:prstGeom>
          <a:noFill/>
          <a:ln/>
        </p:spPr>
        <p:txBody>
          <a:bodyPr wrap="square" lIns="0" tIns="0" rIns="0" bIns="0" rtlCol="0" anchor="ctr"/>
          <a:lstStyle/>
          <a:p>
            <a:pPr indent="0" marL="0">
              <a:buNone/>
            </a:pPr>
            <a:r>
              <a:rPr lang="en-US" sz="1300" b="1" dirty="0">
                <a:solidFill>
                  <a:srgbClr val="15803D"/>
                </a:solidFill>
                <a:latin typeface="Courier New" pitchFamily="34" charset="0"/>
                <a:ea typeface="Courier New" pitchFamily="34" charset="-122"/>
                <a:cs typeface="Courier New" pitchFamily="34" charset="-120"/>
              </a:rPr>
              <a:t>first_order_date</a:t>
            </a:r>
            <a:endParaRPr lang="en-US" sz="1300" dirty="0"/>
          </a:p>
        </p:txBody>
      </p:sp>
      <p:sp>
        <p:nvSpPr>
          <p:cNvPr id="22" name="Text 20"/>
          <p:cNvSpPr/>
          <p:nvPr/>
        </p:nvSpPr>
        <p:spPr>
          <a:xfrm>
            <a:off x="1115568" y="4846320"/>
            <a:ext cx="4596232" cy="1005840"/>
          </a:xfrm>
          <a:prstGeom prst="rect">
            <a:avLst/>
          </a:prstGeom>
          <a:noFill/>
          <a:ln/>
        </p:spPr>
        <p:txBody>
          <a:bodyPr wrap="square" lIns="0" tIns="0" rIns="0" bIns="0" rtlCol="0" anchor="t"/>
          <a:lstStyle/>
          <a:p>
            <a:pPr indent="0" marL="0">
              <a:lnSpc>
                <a:spcPts val="1900"/>
              </a:lnSpc>
              <a:buNone/>
            </a:pPr>
            <a:r>
              <a:rPr lang="en-US" sz="1250" dirty="0">
                <a:solidFill>
                  <a:srgbClr val="334155"/>
                </a:solidFill>
                <a:latin typeface="Calibri" pitchFamily="34" charset="0"/>
                <a:ea typeface="Calibri" pitchFamily="34" charset="-122"/>
                <a:cs typeface="Calibri" pitchFamily="34" charset="-120"/>
              </a:rPr>
              <a:t>Ngày đặt hàng đầu tiên, tính trực tiếp từ bảng orders — nguồn đáng tin hơn. Nhất quán về thời gian, dùng được ngay cho đặc trưng thâm niên khách hàng.</a:t>
            </a:r>
            <a:endParaRPr lang="en-US" sz="1250" dirty="0"/>
          </a:p>
        </p:txBody>
      </p:sp>
      <p:sp>
        <p:nvSpPr>
          <p:cNvPr id="23" name="Shape 21"/>
          <p:cNvSpPr/>
          <p:nvPr/>
        </p:nvSpPr>
        <p:spPr>
          <a:xfrm>
            <a:off x="6260440" y="4389120"/>
            <a:ext cx="5035144" cy="1572768"/>
          </a:xfrm>
          <a:prstGeom prst="roundRect">
            <a:avLst>
              <a:gd name="adj" fmla="val 4070"/>
            </a:avLst>
          </a:prstGeom>
          <a:solidFill>
            <a:srgbClr val="FFFFFF"/>
          </a:solidFill>
          <a:ln/>
        </p:spPr>
      </p:sp>
      <p:sp>
        <p:nvSpPr>
          <p:cNvPr id="24" name="Text 22"/>
          <p:cNvSpPr/>
          <p:nvPr/>
        </p:nvSpPr>
        <p:spPr>
          <a:xfrm>
            <a:off x="6479896" y="4517136"/>
            <a:ext cx="4596232" cy="310896"/>
          </a:xfrm>
          <a:prstGeom prst="rect">
            <a:avLst/>
          </a:prstGeom>
          <a:noFill/>
          <a:ln/>
        </p:spPr>
        <p:txBody>
          <a:bodyPr wrap="square" lIns="0" tIns="0" rIns="0" bIns="0" rtlCol="0" anchor="ctr"/>
          <a:lstStyle/>
          <a:p>
            <a:pPr indent="0" marL="0">
              <a:buNone/>
            </a:pPr>
            <a:r>
              <a:rPr lang="en-US" sz="1300" b="1" dirty="0">
                <a:solidFill>
                  <a:srgbClr val="15803D"/>
                </a:solidFill>
                <a:latin typeface="Courier New" pitchFamily="34" charset="0"/>
                <a:ea typeface="Courier New" pitchFamily="34" charset="-122"/>
                <a:cs typeface="Courier New" pitchFamily="34" charset="-120"/>
              </a:rPr>
              <a:t>da_tung_mua (0/1)</a:t>
            </a:r>
            <a:endParaRPr lang="en-US" sz="1300" dirty="0"/>
          </a:p>
        </p:txBody>
      </p:sp>
      <p:sp>
        <p:nvSpPr>
          <p:cNvPr id="25" name="Text 23"/>
          <p:cNvSpPr/>
          <p:nvPr/>
        </p:nvSpPr>
        <p:spPr>
          <a:xfrm>
            <a:off x="6479896" y="4846320"/>
            <a:ext cx="4596232" cy="1005840"/>
          </a:xfrm>
          <a:prstGeom prst="rect">
            <a:avLst/>
          </a:prstGeom>
          <a:noFill/>
          <a:ln/>
        </p:spPr>
        <p:txBody>
          <a:bodyPr wrap="square" lIns="0" tIns="0" rIns="0" bIns="0" rtlCol="0" anchor="t"/>
          <a:lstStyle/>
          <a:p>
            <a:pPr indent="0" marL="0">
              <a:lnSpc>
                <a:spcPts val="1900"/>
              </a:lnSpc>
              <a:buNone/>
            </a:pPr>
            <a:r>
              <a:rPr lang="en-US" sz="1250" dirty="0">
                <a:solidFill>
                  <a:srgbClr val="334155"/>
                </a:solidFill>
                <a:latin typeface="Calibri" pitchFamily="34" charset="0"/>
                <a:ea typeface="Calibri" pitchFamily="34" charset="-122"/>
                <a:cs typeface="Calibri" pitchFamily="34" charset="-120"/>
              </a:rPr>
              <a:t>Cờ phân biệt khách đã giao dịch với khách chỉ đăng ký. Cần thiết vì 31.684 khách — tức 26,0% — chưa từng đặt đơn nào.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Bước 8 — Đánh dấu 814 SKU chết, không xóa</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Xóa để sửa một lỗi lại tạo ra lỗi nghiêm trọng hơn</a:t>
            </a:r>
            <a:endParaRPr lang="en-US" sz="1350" dirty="0"/>
          </a:p>
        </p:txBody>
      </p:sp>
      <p:sp>
        <p:nvSpPr>
          <p:cNvPr id="4" name="Shape 2"/>
          <p:cNvSpPr/>
          <p:nvPr/>
        </p:nvSpPr>
        <p:spPr>
          <a:xfrm>
            <a:off x="566928" y="1572768"/>
            <a:ext cx="3566160" cy="2103120"/>
          </a:xfrm>
          <a:prstGeom prst="roundRect">
            <a:avLst>
              <a:gd name="adj" fmla="val 3478"/>
            </a:avLst>
          </a:prstGeom>
          <a:solidFill>
            <a:srgbClr val="EEF2FA"/>
          </a:solidFill>
          <a:ln/>
          <a:effectLst>
            <a:outerShdw sx="100000" sy="100000" kx="0" ky="0" algn="bl" rotWithShape="0" blurRad="127000" dist="25400" dir="5400000">
              <a:srgbClr val="9AA8C0">
                <a:alpha val="28000"/>
              </a:srgbClr>
            </a:outerShdw>
          </a:effectLst>
        </p:spPr>
      </p:sp>
      <p:sp>
        <p:nvSpPr>
          <p:cNvPr id="5" name="Text 3"/>
          <p:cNvSpPr/>
          <p:nvPr/>
        </p:nvSpPr>
        <p:spPr>
          <a:xfrm>
            <a:off x="566928" y="1810512"/>
            <a:ext cx="3566160" cy="64008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814 / 2.412</a:t>
            </a:r>
            <a:endParaRPr lang="en-US" sz="3400" dirty="0"/>
          </a:p>
        </p:txBody>
      </p:sp>
      <p:sp>
        <p:nvSpPr>
          <p:cNvPr id="6" name="Text 4"/>
          <p:cNvSpPr/>
          <p:nvPr/>
        </p:nvSpPr>
        <p:spPr>
          <a:xfrm>
            <a:off x="566928" y="2450592"/>
            <a:ext cx="3566160" cy="603504"/>
          </a:xfrm>
          <a:prstGeom prst="rect">
            <a:avLst/>
          </a:prstGeom>
          <a:noFill/>
          <a:ln/>
        </p:spPr>
        <p:txBody>
          <a:bodyPr wrap="square" lIns="0" tIns="0" rIns="0" bIns="0" rtlCol="0" anchor="ctr"/>
          <a:lstStyle/>
          <a:p>
            <a:pPr algn="ctr" indent="0" marL="0">
              <a:lnSpc>
                <a:spcPts val="1900"/>
              </a:lnSpc>
              <a:buNone/>
            </a:pPr>
            <a:r>
              <a:rPr lang="en-US" sz="1300" dirty="0">
                <a:solidFill>
                  <a:srgbClr val="334155"/>
                </a:solidFill>
                <a:latin typeface="Calibri" pitchFamily="34" charset="0"/>
                <a:ea typeface="Calibri" pitchFamily="34" charset="-122"/>
                <a:cs typeface="Calibri" pitchFamily="34" charset="-120"/>
              </a:rPr>
              <a:t>sản phẩm chưa từng</a:t>
            </a:r>
            <a:endParaRPr lang="en-US" sz="1300" dirty="0"/>
          </a:p>
          <a:p>
            <a:pPr algn="ctr" indent="0" marL="0">
              <a:lnSpc>
                <a:spcPts val="1900"/>
              </a:lnSpc>
              <a:buNone/>
            </a:pPr>
            <a:r>
              <a:rPr lang="en-US" sz="1300" dirty="0">
                <a:solidFill>
                  <a:srgbClr val="334155"/>
                </a:solidFill>
                <a:latin typeface="Calibri" pitchFamily="34" charset="0"/>
                <a:ea typeface="Calibri" pitchFamily="34" charset="-122"/>
                <a:cs typeface="Calibri" pitchFamily="34" charset="-120"/>
              </a:rPr>
              <a:t>phát sinh giao dịch</a:t>
            </a:r>
            <a:endParaRPr lang="en-US" sz="1300" dirty="0"/>
          </a:p>
        </p:txBody>
      </p:sp>
      <p:sp>
        <p:nvSpPr>
          <p:cNvPr id="7" name="Text 5"/>
          <p:cNvSpPr/>
          <p:nvPr/>
        </p:nvSpPr>
        <p:spPr>
          <a:xfrm>
            <a:off x="786384" y="3072384"/>
            <a:ext cx="3127248" cy="457200"/>
          </a:xfrm>
          <a:prstGeom prst="rect">
            <a:avLst/>
          </a:prstGeom>
          <a:noFill/>
          <a:ln/>
        </p:spPr>
        <p:txBody>
          <a:bodyPr wrap="square" lIns="0" tIns="0" rIns="0" bIns="0" rtlCol="0" anchor="ctr"/>
          <a:lstStyle/>
          <a:p>
            <a:pPr algn="ctr" indent="0" marL="0">
              <a:lnSpc>
                <a:spcPts val="1600"/>
              </a:lnSpc>
              <a:buNone/>
            </a:pPr>
            <a:r>
              <a:rPr lang="en-US" sz="1150" i="1" dirty="0">
                <a:solidFill>
                  <a:srgbClr val="D97706"/>
                </a:solidFill>
                <a:latin typeface="Calibri" pitchFamily="34" charset="0"/>
                <a:ea typeface="Calibri" pitchFamily="34" charset="-122"/>
                <a:cs typeface="Calibri" pitchFamily="34" charset="-120"/>
              </a:rPr>
              <a:t>trong đó 654 sản phẩm có giá bất thường dưới 100</a:t>
            </a:r>
            <a:endParaRPr lang="en-US" sz="1150" dirty="0"/>
          </a:p>
        </p:txBody>
      </p:sp>
      <p:sp>
        <p:nvSpPr>
          <p:cNvPr id="8" name="Text 6"/>
          <p:cNvSpPr/>
          <p:nvPr/>
        </p:nvSpPr>
        <p:spPr>
          <a:xfrm>
            <a:off x="4407408" y="1609344"/>
            <a:ext cx="7217359" cy="310896"/>
          </a:xfrm>
          <a:prstGeom prst="rect">
            <a:avLst/>
          </a:prstGeom>
          <a:noFill/>
          <a:ln/>
        </p:spPr>
        <p:txBody>
          <a:bodyPr wrap="square" lIns="0" tIns="0" rIns="0" bIns="0" rtlCol="0" anchor="ctr"/>
          <a:lstStyle/>
          <a:p>
            <a:pPr indent="0" marL="0">
              <a:buNone/>
            </a:pPr>
            <a:r>
              <a:rPr lang="en-US" sz="1500" b="1" dirty="0">
                <a:solidFill>
                  <a:srgbClr val="10203F"/>
                </a:solidFill>
                <a:latin typeface="Calibri" pitchFamily="34" charset="0"/>
                <a:ea typeface="Calibri" pitchFamily="34" charset="-122"/>
                <a:cs typeface="Calibri" pitchFamily="34" charset="-120"/>
              </a:rPr>
              <a:t>Vì sao không được xóa</a:t>
            </a:r>
            <a:endParaRPr lang="en-US" sz="1500" dirty="0"/>
          </a:p>
        </p:txBody>
      </p:sp>
      <p:sp>
        <p:nvSpPr>
          <p:cNvPr id="9" name="Shape 7"/>
          <p:cNvSpPr/>
          <p:nvPr/>
        </p:nvSpPr>
        <p:spPr>
          <a:xfrm>
            <a:off x="4407408" y="2048256"/>
            <a:ext cx="2286000" cy="694944"/>
          </a:xfrm>
          <a:prstGeom prst="roundRect">
            <a:avLst>
              <a:gd name="adj" fmla="val 9211"/>
            </a:avLst>
          </a:prstGeom>
          <a:solidFill>
            <a:srgbClr val="CADCFC"/>
          </a:solidFill>
          <a:ln/>
        </p:spPr>
      </p:sp>
      <p:sp>
        <p:nvSpPr>
          <p:cNvPr id="10" name="Text 8"/>
          <p:cNvSpPr/>
          <p:nvPr/>
        </p:nvSpPr>
        <p:spPr>
          <a:xfrm>
            <a:off x="4407408" y="2048256"/>
            <a:ext cx="2286000" cy="365760"/>
          </a:xfrm>
          <a:prstGeom prst="rect">
            <a:avLst/>
          </a:prstGeom>
          <a:noFill/>
          <a:ln/>
        </p:spPr>
        <p:txBody>
          <a:bodyPr wrap="square" lIns="0" tIns="0" rIns="0" bIns="0" rtlCol="0" anchor="ctr"/>
          <a:lstStyle/>
          <a:p>
            <a:pPr algn="ctr" indent="0" marL="0">
              <a:buNone/>
            </a:pPr>
            <a:r>
              <a:rPr lang="en-US" sz="1250" b="1" dirty="0">
                <a:solidFill>
                  <a:srgbClr val="10203F"/>
                </a:solidFill>
                <a:latin typeface="Courier New" pitchFamily="34" charset="0"/>
                <a:ea typeface="Courier New" pitchFamily="34" charset="-122"/>
                <a:cs typeface="Courier New" pitchFamily="34" charset="-120"/>
              </a:rPr>
              <a:t>inventory</a:t>
            </a:r>
            <a:endParaRPr lang="en-US" sz="1250" dirty="0"/>
          </a:p>
        </p:txBody>
      </p:sp>
      <p:sp>
        <p:nvSpPr>
          <p:cNvPr id="11" name="Text 9"/>
          <p:cNvSpPr/>
          <p:nvPr/>
        </p:nvSpPr>
        <p:spPr>
          <a:xfrm>
            <a:off x="4407408" y="2377440"/>
            <a:ext cx="228600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60.247 dòng</a:t>
            </a:r>
            <a:endParaRPr lang="en-US" sz="1050" dirty="0"/>
          </a:p>
        </p:txBody>
      </p:sp>
      <p:sp>
        <p:nvSpPr>
          <p:cNvPr id="12" name="Text 10"/>
          <p:cNvSpPr/>
          <p:nvPr/>
        </p:nvSpPr>
        <p:spPr>
          <a:xfrm>
            <a:off x="6693408" y="2048256"/>
            <a:ext cx="1371600" cy="694944"/>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tham chiếu →</a:t>
            </a:r>
            <a:endParaRPr lang="en-US" sz="1100" dirty="0"/>
          </a:p>
        </p:txBody>
      </p:sp>
      <p:sp>
        <p:nvSpPr>
          <p:cNvPr id="13" name="Shape 11"/>
          <p:cNvSpPr/>
          <p:nvPr/>
        </p:nvSpPr>
        <p:spPr>
          <a:xfrm>
            <a:off x="8065008" y="2048256"/>
            <a:ext cx="2286000" cy="694944"/>
          </a:xfrm>
          <a:prstGeom prst="roundRect">
            <a:avLst>
              <a:gd name="adj" fmla="val 9211"/>
            </a:avLst>
          </a:prstGeom>
          <a:solidFill>
            <a:srgbClr val="FEE2E2"/>
          </a:solidFill>
          <a:ln/>
        </p:spPr>
      </p:sp>
      <p:sp>
        <p:nvSpPr>
          <p:cNvPr id="14" name="Text 12"/>
          <p:cNvSpPr/>
          <p:nvPr/>
        </p:nvSpPr>
        <p:spPr>
          <a:xfrm>
            <a:off x="8065008" y="2048256"/>
            <a:ext cx="2286000" cy="365760"/>
          </a:xfrm>
          <a:prstGeom prst="rect">
            <a:avLst/>
          </a:prstGeom>
          <a:noFill/>
          <a:ln/>
        </p:spPr>
        <p:txBody>
          <a:bodyPr wrap="square" lIns="0" tIns="0" rIns="0" bIns="0" rtlCol="0" anchor="ctr"/>
          <a:lstStyle/>
          <a:p>
            <a:pPr algn="ctr" indent="0" marL="0">
              <a:buNone/>
            </a:pPr>
            <a:r>
              <a:rPr lang="en-US" sz="1250" b="1" dirty="0">
                <a:solidFill>
                  <a:srgbClr val="7F1D1D"/>
                </a:solidFill>
                <a:latin typeface="Courier New" pitchFamily="34" charset="0"/>
                <a:ea typeface="Courier New" pitchFamily="34" charset="-122"/>
                <a:cs typeface="Courier New" pitchFamily="34" charset="-120"/>
              </a:rPr>
              <a:t>products</a:t>
            </a:r>
            <a:endParaRPr lang="en-US" sz="1250" dirty="0"/>
          </a:p>
        </p:txBody>
      </p:sp>
      <p:sp>
        <p:nvSpPr>
          <p:cNvPr id="15" name="Text 13"/>
          <p:cNvSpPr/>
          <p:nvPr/>
        </p:nvSpPr>
        <p:spPr>
          <a:xfrm>
            <a:off x="8065008" y="2377440"/>
            <a:ext cx="2286000" cy="274320"/>
          </a:xfrm>
          <a:prstGeom prst="rect">
            <a:avLst/>
          </a:prstGeom>
          <a:noFill/>
          <a:ln/>
        </p:spPr>
        <p:txBody>
          <a:bodyPr wrap="square" lIns="0" tIns="0" rIns="0" bIns="0" rtlCol="0" anchor="ctr"/>
          <a:lstStyle/>
          <a:p>
            <a:pPr algn="ctr" indent="0" marL="0">
              <a:buNone/>
            </a:pPr>
            <a:r>
              <a:rPr lang="en-US" sz="1050" dirty="0">
                <a:solidFill>
                  <a:srgbClr val="B91C1C"/>
                </a:solidFill>
                <a:latin typeface="Calibri" pitchFamily="34" charset="0"/>
                <a:ea typeface="Calibri" pitchFamily="34" charset="-122"/>
                <a:cs typeface="Calibri" pitchFamily="34" charset="-120"/>
              </a:rPr>
              <a:t>814 SKU chết ở đây</a:t>
            </a:r>
            <a:endParaRPr lang="en-US" sz="1050" dirty="0"/>
          </a:p>
        </p:txBody>
      </p:sp>
      <p:sp>
        <p:nvSpPr>
          <p:cNvPr id="16" name="Text 14"/>
          <p:cNvSpPr/>
          <p:nvPr/>
        </p:nvSpPr>
        <p:spPr>
          <a:xfrm>
            <a:off x="4407408" y="2944368"/>
            <a:ext cx="7217359" cy="786384"/>
          </a:xfrm>
          <a:prstGeom prst="rect">
            <a:avLst/>
          </a:prstGeom>
          <a:noFill/>
          <a:ln/>
        </p:spPr>
        <p:txBody>
          <a:bodyPr wrap="square" lIns="0" tIns="0" rIns="0" bIns="0" rtlCol="0" anchor="t"/>
          <a:lstStyle/>
          <a:p>
            <a:pPr indent="0" marL="0">
              <a:lnSpc>
                <a:spcPts val="2000"/>
              </a:lnSpc>
              <a:buNone/>
            </a:pPr>
            <a:r>
              <a:rPr lang="en-US" sz="1300" dirty="0">
                <a:solidFill>
                  <a:srgbClr val="334155"/>
                </a:solidFill>
                <a:latin typeface="Calibri" pitchFamily="34" charset="0"/>
                <a:ea typeface="Calibri" pitchFamily="34" charset="-122"/>
                <a:cs typeface="Calibri" pitchFamily="34" charset="-120"/>
              </a:rPr>
              <a:t>Xóa 814 dòng này đi thì inventory sẽ trỏ vào sản phẩm không còn tồn tại — đó chính là bản ghi mồ côi. Sửa lỗi thống kê giá lại phá vỡ toàn vẹn tham chiếu.</a:t>
            </a:r>
            <a:endParaRPr lang="en-US" sz="1300" dirty="0"/>
          </a:p>
        </p:txBody>
      </p:sp>
      <p:sp>
        <p:nvSpPr>
          <p:cNvPr id="17" name="Shape 15"/>
          <p:cNvSpPr/>
          <p:nvPr/>
        </p:nvSpPr>
        <p:spPr>
          <a:xfrm>
            <a:off x="566928" y="3986784"/>
            <a:ext cx="11057839" cy="2157984"/>
          </a:xfrm>
          <a:prstGeom prst="roundRect">
            <a:avLst>
              <a:gd name="adj" fmla="val 3390"/>
            </a:avLst>
          </a:prstGeom>
          <a:solidFill>
            <a:srgbClr val="DCFCE7"/>
          </a:solidFill>
          <a:ln/>
          <a:effectLst>
            <a:outerShdw sx="100000" sy="100000" kx="0" ky="0" algn="bl" rotWithShape="0" blurRad="127000" dist="25400" dir="5400000">
              <a:srgbClr val="9AA8C0">
                <a:alpha val="28000"/>
              </a:srgbClr>
            </a:outerShdw>
          </a:effectLst>
        </p:spPr>
      </p:sp>
      <p:sp>
        <p:nvSpPr>
          <p:cNvPr id="18" name="Text 16"/>
          <p:cNvSpPr/>
          <p:nvPr/>
        </p:nvSpPr>
        <p:spPr>
          <a:xfrm>
            <a:off x="896112" y="4151376"/>
            <a:ext cx="10399471" cy="292608"/>
          </a:xfrm>
          <a:prstGeom prst="rect">
            <a:avLst/>
          </a:prstGeom>
          <a:noFill/>
          <a:ln/>
        </p:spPr>
        <p:txBody>
          <a:bodyPr wrap="square" lIns="0" tIns="0" rIns="0" bIns="0" rtlCol="0" anchor="ctr"/>
          <a:lstStyle/>
          <a:p>
            <a:pPr indent="0" marL="0">
              <a:buNone/>
            </a:pPr>
            <a:r>
              <a:rPr lang="en-US" sz="1100" b="1" spc="120" kern="0" dirty="0">
                <a:solidFill>
                  <a:srgbClr val="166534"/>
                </a:solidFill>
                <a:latin typeface="Calibri" pitchFamily="34" charset="0"/>
                <a:ea typeface="Calibri" pitchFamily="34" charset="-122"/>
                <a:cs typeface="Calibri" pitchFamily="34" charset="-120"/>
              </a:rPr>
              <a:t>CÁCH XỬ LÝ — đánh dấu thay vì xóa</a:t>
            </a:r>
            <a:endParaRPr lang="en-US" sz="1100" dirty="0"/>
          </a:p>
        </p:txBody>
      </p:sp>
      <p:sp>
        <p:nvSpPr>
          <p:cNvPr id="19" name="Text 17"/>
          <p:cNvSpPr/>
          <p:nvPr/>
        </p:nvSpPr>
        <p:spPr>
          <a:xfrm>
            <a:off x="896112" y="4517136"/>
            <a:ext cx="10399471" cy="969264"/>
          </a:xfrm>
          <a:prstGeom prst="rect">
            <a:avLst/>
          </a:prstGeom>
          <a:noFill/>
          <a:ln/>
        </p:spPr>
        <p:txBody>
          <a:bodyPr wrap="square" lIns="0" tIns="0" rIns="0" bIns="0" rtlCol="0" anchor="t"/>
          <a:lstStyle/>
          <a:p>
            <a:pPr indent="0" marL="0">
              <a:lnSpc>
                <a:spcPts val="2200"/>
              </a:lnSpc>
              <a:buNone/>
            </a:pPr>
            <a:r>
              <a:rPr lang="en-US" sz="1500" b="1" dirty="0">
                <a:solidFill>
                  <a:srgbClr val="10203F"/>
                </a:solidFill>
                <a:latin typeface="Calibri" pitchFamily="34" charset="0"/>
                <a:ea typeface="Calibri" pitchFamily="34" charset="-122"/>
                <a:cs typeface="Calibri" pitchFamily="34" charset="-120"/>
              </a:rPr>
              <a:t>Thêm cờ da_tung_ban (0/1) vào bảng products.</a:t>
            </a:r>
            <a:endParaRPr lang="en-US" sz="1350" dirty="0"/>
          </a:p>
          <a:p>
            <a:pPr indent="0" marL="0">
              <a:lnSpc>
                <a:spcPts val="2200"/>
              </a:lnSpc>
              <a:buNone/>
            </a:pPr>
            <a:r>
              <a:rPr lang="en-US" sz="1350" dirty="0">
                <a:solidFill>
                  <a:srgbClr val="14532D"/>
                </a:solidFill>
                <a:latin typeface="Calibri" pitchFamily="34" charset="0"/>
                <a:ea typeface="Calibri" pitchFamily="34" charset="-122"/>
                <a:cs typeface="Calibri" pitchFamily="34" charset="-120"/>
              </a:rPr>
              <a:t>Dữ liệu vẫn nguyên vẹn, quan hệ giữa các bảng vẫn nguyên vẹn. Khi cần tính thống kê về giá hay biên lợi nhuận thì lọc bằng cờ này — 654 sản phẩm giá bất thường không còn làm lệch kết quả nữa.</a:t>
            </a:r>
            <a:endParaRPr lang="en-US" sz="1350" dirty="0"/>
          </a:p>
        </p:txBody>
      </p:sp>
      <p:sp>
        <p:nvSpPr>
          <p:cNvPr id="20" name="Text 18"/>
          <p:cNvSpPr/>
          <p:nvPr/>
        </p:nvSpPr>
        <p:spPr>
          <a:xfrm>
            <a:off x="896112" y="5596128"/>
            <a:ext cx="10399471" cy="365760"/>
          </a:xfrm>
          <a:prstGeom prst="rect">
            <a:avLst/>
          </a:prstGeom>
          <a:noFill/>
          <a:ln/>
        </p:spPr>
        <p:txBody>
          <a:bodyPr wrap="square" lIns="0" tIns="0" rIns="0" bIns="0" rtlCol="0" anchor="ctr"/>
          <a:lstStyle/>
          <a:p>
            <a:pPr indent="0" marL="0">
              <a:buNone/>
            </a:pPr>
            <a:r>
              <a:rPr lang="en-US" sz="1300" b="1" i="1" dirty="0">
                <a:solidFill>
                  <a:srgbClr val="15803D"/>
                </a:solidFill>
                <a:latin typeface="Calibri" pitchFamily="34" charset="0"/>
                <a:ea typeface="Calibri" pitchFamily="34" charset="-122"/>
                <a:cs typeface="Calibri" pitchFamily="34" charset="-120"/>
              </a:rPr>
              <a:t>Nguyên tắc nền: xóa là thao tác không hoàn tác được. Chỉ xóa khi chứng minh được là không mất gì.</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Quy tắc quyết định: xóa hay giữ?</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Bốn tình huống, bốn cách xử lý — áp dụng nhất quán cho cả 17 cảnh báo</a:t>
            </a:r>
            <a:endParaRPr lang="en-US" sz="1350" dirty="0"/>
          </a:p>
        </p:txBody>
      </p:sp>
      <p:sp>
        <p:nvSpPr>
          <p:cNvPr id="4" name="Shape 2"/>
          <p:cNvSpPr/>
          <p:nvPr/>
        </p:nvSpPr>
        <p:spPr>
          <a:xfrm>
            <a:off x="566928" y="1591056"/>
            <a:ext cx="11057839" cy="804672"/>
          </a:xfrm>
          <a:prstGeom prst="roundRect">
            <a:avLst>
              <a:gd name="adj" fmla="val 9091"/>
            </a:avLst>
          </a:prstGeom>
          <a:solidFill>
            <a:srgbClr val="EEF2FA"/>
          </a:solidFill>
          <a:ln/>
          <a:effectLst>
            <a:outerShdw sx="100000" sy="100000" kx="0" ky="0" algn="bl" rotWithShape="0" blurRad="127000" dist="25400" dir="5400000">
              <a:srgbClr val="9AA8C0">
                <a:alpha val="28000"/>
              </a:srgbClr>
            </a:outerShdw>
          </a:effectLst>
        </p:spPr>
      </p:sp>
      <p:sp>
        <p:nvSpPr>
          <p:cNvPr id="5" name="Text 3"/>
          <p:cNvSpPr/>
          <p:nvPr/>
        </p:nvSpPr>
        <p:spPr>
          <a:xfrm>
            <a:off x="877824" y="1591056"/>
            <a:ext cx="3931920" cy="804672"/>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Tái tạo lại được</a:t>
            </a:r>
            <a:endParaRPr lang="en-US" sz="1450" dirty="0"/>
          </a:p>
        </p:txBody>
      </p:sp>
      <p:sp>
        <p:nvSpPr>
          <p:cNvPr id="6" name="Shape 4"/>
          <p:cNvSpPr/>
          <p:nvPr/>
        </p:nvSpPr>
        <p:spPr>
          <a:xfrm>
            <a:off x="4956048" y="1792224"/>
            <a:ext cx="1737360" cy="402336"/>
          </a:xfrm>
          <a:prstGeom prst="roundRect">
            <a:avLst>
              <a:gd name="adj" fmla="val 13636"/>
            </a:avLst>
          </a:prstGeom>
          <a:solidFill>
            <a:srgbClr val="3A4A6B"/>
          </a:solidFill>
          <a:ln/>
        </p:spPr>
      </p:sp>
      <p:sp>
        <p:nvSpPr>
          <p:cNvPr id="7" name="Text 5"/>
          <p:cNvSpPr/>
          <p:nvPr/>
        </p:nvSpPr>
        <p:spPr>
          <a:xfrm>
            <a:off x="4956048" y="1792224"/>
            <a:ext cx="1737360" cy="402336"/>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XÓA</a:t>
            </a:r>
            <a:endParaRPr lang="en-US" sz="1200" dirty="0"/>
          </a:p>
        </p:txBody>
      </p:sp>
      <p:sp>
        <p:nvSpPr>
          <p:cNvPr id="8" name="Text 6"/>
          <p:cNvSpPr/>
          <p:nvPr/>
        </p:nvSpPr>
        <p:spPr>
          <a:xfrm>
            <a:off x="6967728" y="1591056"/>
            <a:ext cx="4346143" cy="80467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15 cột hằng số, dư thừa và suy diễn</a:t>
            </a:r>
            <a:endParaRPr lang="en-US" sz="1300" dirty="0"/>
          </a:p>
        </p:txBody>
      </p:sp>
      <p:sp>
        <p:nvSpPr>
          <p:cNvPr id="9" name="Shape 7"/>
          <p:cNvSpPr/>
          <p:nvPr/>
        </p:nvSpPr>
        <p:spPr>
          <a:xfrm>
            <a:off x="566928" y="2523744"/>
            <a:ext cx="11057839" cy="804672"/>
          </a:xfrm>
          <a:prstGeom prst="roundRect">
            <a:avLst>
              <a:gd name="adj" fmla="val 9091"/>
            </a:avLst>
          </a:prstGeom>
          <a:solidFill>
            <a:srgbClr val="CADCFC"/>
          </a:solidFill>
          <a:ln/>
          <a:effectLst>
            <a:outerShdw sx="100000" sy="100000" kx="0" ky="0" algn="bl" rotWithShape="0" blurRad="127000" dist="25400" dir="5400000">
              <a:srgbClr val="9AA8C0">
                <a:alpha val="28000"/>
              </a:srgbClr>
            </a:outerShdw>
          </a:effectLst>
        </p:spPr>
      </p:sp>
      <p:sp>
        <p:nvSpPr>
          <p:cNvPr id="10" name="Text 8"/>
          <p:cNvSpPr/>
          <p:nvPr/>
        </p:nvSpPr>
        <p:spPr>
          <a:xfrm>
            <a:off x="877824" y="2523744"/>
            <a:ext cx="3931920" cy="804672"/>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Sai, nhưng có cái thay được</a:t>
            </a:r>
            <a:endParaRPr lang="en-US" sz="1450" dirty="0"/>
          </a:p>
        </p:txBody>
      </p:sp>
      <p:sp>
        <p:nvSpPr>
          <p:cNvPr id="11" name="Shape 9"/>
          <p:cNvSpPr/>
          <p:nvPr/>
        </p:nvSpPr>
        <p:spPr>
          <a:xfrm>
            <a:off x="4956048" y="2724912"/>
            <a:ext cx="1737360" cy="402336"/>
          </a:xfrm>
          <a:prstGeom prst="roundRect">
            <a:avLst>
              <a:gd name="adj" fmla="val 13636"/>
            </a:avLst>
          </a:prstGeom>
          <a:solidFill>
            <a:srgbClr val="1E2761"/>
          </a:solidFill>
          <a:ln/>
        </p:spPr>
      </p:sp>
      <p:sp>
        <p:nvSpPr>
          <p:cNvPr id="12" name="Text 10"/>
          <p:cNvSpPr/>
          <p:nvPr/>
        </p:nvSpPr>
        <p:spPr>
          <a:xfrm>
            <a:off x="4956048" y="2724912"/>
            <a:ext cx="1737360" cy="402336"/>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THAY THẾ</a:t>
            </a:r>
            <a:endParaRPr lang="en-US" sz="1200" dirty="0"/>
          </a:p>
        </p:txBody>
      </p:sp>
      <p:sp>
        <p:nvSpPr>
          <p:cNvPr id="13" name="Text 11"/>
          <p:cNvSpPr/>
          <p:nvPr/>
        </p:nvSpPr>
        <p:spPr>
          <a:xfrm>
            <a:off x="6967728" y="2523744"/>
            <a:ext cx="4346143" cy="80467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signup_date → first_order_date</a:t>
            </a:r>
            <a:endParaRPr lang="en-US" sz="1300" dirty="0"/>
          </a:p>
        </p:txBody>
      </p:sp>
      <p:sp>
        <p:nvSpPr>
          <p:cNvPr id="14" name="Shape 12"/>
          <p:cNvSpPr/>
          <p:nvPr/>
        </p:nvSpPr>
        <p:spPr>
          <a:xfrm>
            <a:off x="566928" y="3456432"/>
            <a:ext cx="11057839" cy="804672"/>
          </a:xfrm>
          <a:prstGeom prst="roundRect">
            <a:avLst>
              <a:gd name="adj" fmla="val 9091"/>
            </a:avLst>
          </a:prstGeom>
          <a:solidFill>
            <a:srgbClr val="DCFCE7"/>
          </a:solidFill>
          <a:ln/>
          <a:effectLst>
            <a:outerShdw sx="100000" sy="100000" kx="0" ky="0" algn="bl" rotWithShape="0" blurRad="127000" dist="25400" dir="5400000">
              <a:srgbClr val="9AA8C0">
                <a:alpha val="28000"/>
              </a:srgbClr>
            </a:outerShdw>
          </a:effectLst>
        </p:spPr>
      </p:sp>
      <p:sp>
        <p:nvSpPr>
          <p:cNvPr id="15" name="Text 13"/>
          <p:cNvSpPr/>
          <p:nvPr/>
        </p:nvSpPr>
        <p:spPr>
          <a:xfrm>
            <a:off x="877824" y="3456432"/>
            <a:ext cx="3931920" cy="804672"/>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Xóa sẽ phá vỡ quan hệ</a:t>
            </a:r>
            <a:endParaRPr lang="en-US" sz="1450" dirty="0"/>
          </a:p>
        </p:txBody>
      </p:sp>
      <p:sp>
        <p:nvSpPr>
          <p:cNvPr id="16" name="Shape 14"/>
          <p:cNvSpPr/>
          <p:nvPr/>
        </p:nvSpPr>
        <p:spPr>
          <a:xfrm>
            <a:off x="4956048" y="3657600"/>
            <a:ext cx="1737360" cy="402336"/>
          </a:xfrm>
          <a:prstGeom prst="roundRect">
            <a:avLst>
              <a:gd name="adj" fmla="val 13636"/>
            </a:avLst>
          </a:prstGeom>
          <a:solidFill>
            <a:srgbClr val="15803D"/>
          </a:solidFill>
          <a:ln/>
        </p:spPr>
      </p:sp>
      <p:sp>
        <p:nvSpPr>
          <p:cNvPr id="17" name="Text 15"/>
          <p:cNvSpPr/>
          <p:nvPr/>
        </p:nvSpPr>
        <p:spPr>
          <a:xfrm>
            <a:off x="4956048" y="3657600"/>
            <a:ext cx="1737360" cy="402336"/>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ĐÁNH DẤU</a:t>
            </a:r>
            <a:endParaRPr lang="en-US" sz="1200" dirty="0"/>
          </a:p>
        </p:txBody>
      </p:sp>
      <p:sp>
        <p:nvSpPr>
          <p:cNvPr id="18" name="Text 16"/>
          <p:cNvSpPr/>
          <p:nvPr/>
        </p:nvSpPr>
        <p:spPr>
          <a:xfrm>
            <a:off x="6967728" y="3456432"/>
            <a:ext cx="4346143" cy="80467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814 SKU chết → cờ da_tung_ban</a:t>
            </a:r>
            <a:endParaRPr lang="en-US" sz="1300" dirty="0"/>
          </a:p>
        </p:txBody>
      </p:sp>
      <p:sp>
        <p:nvSpPr>
          <p:cNvPr id="19" name="Shape 17"/>
          <p:cNvSpPr/>
          <p:nvPr/>
        </p:nvSpPr>
        <p:spPr>
          <a:xfrm>
            <a:off x="566928" y="4389120"/>
            <a:ext cx="11057839" cy="804672"/>
          </a:xfrm>
          <a:prstGeom prst="roundRect">
            <a:avLst>
              <a:gd name="adj" fmla="val 9091"/>
            </a:avLst>
          </a:prstGeom>
          <a:solidFill>
            <a:srgbClr val="FEF3C7"/>
          </a:solidFill>
          <a:ln/>
          <a:effectLst>
            <a:outerShdw sx="100000" sy="100000" kx="0" ky="0" algn="bl" rotWithShape="0" blurRad="127000" dist="25400" dir="5400000">
              <a:srgbClr val="9AA8C0">
                <a:alpha val="28000"/>
              </a:srgbClr>
            </a:outerShdw>
          </a:effectLst>
        </p:spPr>
      </p:sp>
      <p:sp>
        <p:nvSpPr>
          <p:cNvPr id="20" name="Text 18"/>
          <p:cNvSpPr/>
          <p:nvPr/>
        </p:nvSpPr>
        <p:spPr>
          <a:xfrm>
            <a:off x="877824" y="4389120"/>
            <a:ext cx="3931920" cy="804672"/>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Thiếu nhưng có nghĩa</a:t>
            </a:r>
            <a:endParaRPr lang="en-US" sz="1450" dirty="0"/>
          </a:p>
        </p:txBody>
      </p:sp>
      <p:sp>
        <p:nvSpPr>
          <p:cNvPr id="21" name="Shape 19"/>
          <p:cNvSpPr/>
          <p:nvPr/>
        </p:nvSpPr>
        <p:spPr>
          <a:xfrm>
            <a:off x="4956048" y="4590288"/>
            <a:ext cx="1737360" cy="402336"/>
          </a:xfrm>
          <a:prstGeom prst="roundRect">
            <a:avLst>
              <a:gd name="adj" fmla="val 13636"/>
            </a:avLst>
          </a:prstGeom>
          <a:solidFill>
            <a:srgbClr val="D97706"/>
          </a:solidFill>
          <a:ln/>
        </p:spPr>
      </p:sp>
      <p:sp>
        <p:nvSpPr>
          <p:cNvPr id="22" name="Text 20"/>
          <p:cNvSpPr/>
          <p:nvPr/>
        </p:nvSpPr>
        <p:spPr>
          <a:xfrm>
            <a:off x="4956048" y="4590288"/>
            <a:ext cx="1737360" cy="402336"/>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ĐIỀN NHÃN</a:t>
            </a:r>
            <a:endParaRPr lang="en-US" sz="1200" dirty="0"/>
          </a:p>
        </p:txBody>
      </p:sp>
      <p:sp>
        <p:nvSpPr>
          <p:cNvPr id="23" name="Text 21"/>
          <p:cNvSpPr/>
          <p:nvPr/>
        </p:nvSpPr>
        <p:spPr>
          <a:xfrm>
            <a:off x="6967728" y="4389120"/>
            <a:ext cx="4346143" cy="80467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applicable_category → ALL</a:t>
            </a:r>
            <a:endParaRPr lang="en-US" sz="1300" dirty="0"/>
          </a:p>
        </p:txBody>
      </p:sp>
      <p:sp>
        <p:nvSpPr>
          <p:cNvPr id="24" name="Shape 22"/>
          <p:cNvSpPr/>
          <p:nvPr/>
        </p:nvSpPr>
        <p:spPr>
          <a:xfrm>
            <a:off x="566928" y="5358384"/>
            <a:ext cx="11057839" cy="786384"/>
          </a:xfrm>
          <a:prstGeom prst="roundRect">
            <a:avLst>
              <a:gd name="adj" fmla="val 11628"/>
            </a:avLst>
          </a:prstGeom>
          <a:solidFill>
            <a:srgbClr val="1E2761"/>
          </a:solidFill>
          <a:ln/>
          <a:effectLst>
            <a:outerShdw sx="100000" sy="100000" kx="0" ky="0" algn="bl" rotWithShape="0" blurRad="127000" dist="25400" dir="5400000">
              <a:srgbClr val="9AA8C0">
                <a:alpha val="28000"/>
              </a:srgbClr>
            </a:outerShdw>
          </a:effectLst>
        </p:spPr>
      </p:sp>
      <p:sp>
        <p:nvSpPr>
          <p:cNvPr id="25" name="Text 23"/>
          <p:cNvSpPr/>
          <p:nvPr/>
        </p:nvSpPr>
        <p:spPr>
          <a:xfrm>
            <a:off x="969264" y="5358384"/>
            <a:ext cx="10253167" cy="7863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Ràng buộc bao trùm: không xóa dòng nào. Dữ liệu bẩn ở bộ này là cột thừa, không phải dòng lỗi — xóa dòng là chữa sai bệnh.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Kết quả làm sạch</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Bảng inventory bị cắt nhiều nhất — quá nửa số cột không mang thông tin độc lập</a:t>
            </a:r>
            <a:endParaRPr lang="en-US" sz="1350" dirty="0"/>
          </a:p>
        </p:txBody>
      </p:sp>
      <p:graphicFrame>
        <p:nvGraphicFramePr>
          <p:cNvPr id="4" name="Chart 0" descr=""/>
          <p:cNvGraphicFramePr/>
          <p:nvPr/>
        </p:nvGraphicFramePr>
        <p:xfrm>
          <a:off x="566928" y="1609344"/>
          <a:ext cx="731520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4809744"/>
            <a:ext cx="7315200" cy="329184"/>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order_items và products tăng một cột vì được thêm khóa thay thế và cờ đánh dấu.</a:t>
            </a:r>
            <a:endParaRPr lang="en-US" sz="1200" dirty="0"/>
          </a:p>
        </p:txBody>
      </p:sp>
      <p:sp>
        <p:nvSpPr>
          <p:cNvPr id="6" name="Shape 3"/>
          <p:cNvSpPr/>
          <p:nvPr/>
        </p:nvSpPr>
        <p:spPr>
          <a:xfrm>
            <a:off x="8211312" y="1609344"/>
            <a:ext cx="3413455" cy="1005840"/>
          </a:xfrm>
          <a:prstGeom prst="roundRect">
            <a:avLst>
              <a:gd name="adj" fmla="val 7273"/>
            </a:avLst>
          </a:prstGeom>
          <a:solidFill>
            <a:srgbClr val="CADCFC"/>
          </a:solidFill>
          <a:ln/>
          <a:effectLst>
            <a:outerShdw sx="100000" sy="100000" kx="0" ky="0" algn="bl" rotWithShape="0" blurRad="127000" dist="25400" dir="5400000">
              <a:srgbClr val="9AA8C0">
                <a:alpha val="28000"/>
              </a:srgbClr>
            </a:outerShdw>
          </a:effectLst>
        </p:spPr>
      </p:sp>
      <p:sp>
        <p:nvSpPr>
          <p:cNvPr id="7" name="Text 4"/>
          <p:cNvSpPr/>
          <p:nvPr/>
        </p:nvSpPr>
        <p:spPr>
          <a:xfrm>
            <a:off x="8412480" y="1719072"/>
            <a:ext cx="3011119" cy="475488"/>
          </a:xfrm>
          <a:prstGeom prst="rect">
            <a:avLst/>
          </a:prstGeom>
          <a:noFill/>
          <a:ln/>
        </p:spPr>
        <p:txBody>
          <a:bodyPr wrap="square" lIns="0" tIns="0" rIns="0" bIns="0" rtlCol="0" anchor="ctr"/>
          <a:lstStyle/>
          <a:p>
            <a:pPr algn="ctr" indent="0" marL="0">
              <a:buNone/>
            </a:pPr>
            <a:r>
              <a:rPr lang="en-US" sz="2500" b="1" dirty="0">
                <a:solidFill>
                  <a:srgbClr val="1E2761"/>
                </a:solidFill>
                <a:latin typeface="Cambria" pitchFamily="34" charset="0"/>
                <a:ea typeface="Cambria" pitchFamily="34" charset="-122"/>
                <a:cs typeface="Cambria" pitchFamily="34" charset="-120"/>
              </a:rPr>
              <a:t>96 → 84</a:t>
            </a:r>
            <a:endParaRPr lang="en-US" sz="2500" dirty="0"/>
          </a:p>
        </p:txBody>
      </p:sp>
      <p:sp>
        <p:nvSpPr>
          <p:cNvPr id="8" name="Text 5"/>
          <p:cNvSpPr/>
          <p:nvPr/>
        </p:nvSpPr>
        <p:spPr>
          <a:xfrm>
            <a:off x="8412480" y="2176272"/>
            <a:ext cx="3011119" cy="347472"/>
          </a:xfrm>
          <a:prstGeom prst="rect">
            <a:avLst/>
          </a:prstGeom>
          <a:noFill/>
          <a:ln/>
        </p:spPr>
        <p:txBody>
          <a:bodyPr wrap="square" lIns="0" tIns="0" rIns="0" bIns="0" rtlCol="0" anchor="ctr"/>
          <a:lstStyle/>
          <a:p>
            <a:pPr algn="ctr" indent="0" marL="0">
              <a:lnSpc>
                <a:spcPts val="1500"/>
              </a:lnSpc>
              <a:buNone/>
            </a:pPr>
            <a:r>
              <a:rPr lang="en-US" sz="1150" dirty="0">
                <a:solidFill>
                  <a:srgbClr val="334155"/>
                </a:solidFill>
                <a:latin typeface="Calibri" pitchFamily="34" charset="0"/>
                <a:ea typeface="Calibri" pitchFamily="34" charset="-122"/>
                <a:cs typeface="Calibri" pitchFamily="34" charset="-120"/>
              </a:rPr>
              <a:t>cột  (−12)</a:t>
            </a:r>
            <a:endParaRPr lang="en-US" sz="1150" dirty="0"/>
          </a:p>
        </p:txBody>
      </p:sp>
      <p:sp>
        <p:nvSpPr>
          <p:cNvPr id="9" name="Shape 6"/>
          <p:cNvSpPr/>
          <p:nvPr/>
        </p:nvSpPr>
        <p:spPr>
          <a:xfrm>
            <a:off x="8211312" y="2743200"/>
            <a:ext cx="3413455" cy="1005840"/>
          </a:xfrm>
          <a:prstGeom prst="roundRect">
            <a:avLst>
              <a:gd name="adj" fmla="val 7273"/>
            </a:avLst>
          </a:prstGeom>
          <a:solidFill>
            <a:srgbClr val="DCFCE7"/>
          </a:solidFill>
          <a:ln/>
          <a:effectLst>
            <a:outerShdw sx="100000" sy="100000" kx="0" ky="0" algn="bl" rotWithShape="0" blurRad="127000" dist="25400" dir="5400000">
              <a:srgbClr val="9AA8C0">
                <a:alpha val="28000"/>
              </a:srgbClr>
            </a:outerShdw>
          </a:effectLst>
        </p:spPr>
      </p:sp>
      <p:sp>
        <p:nvSpPr>
          <p:cNvPr id="10" name="Text 7"/>
          <p:cNvSpPr/>
          <p:nvPr/>
        </p:nvSpPr>
        <p:spPr>
          <a:xfrm>
            <a:off x="8412480" y="2852928"/>
            <a:ext cx="3011119" cy="475488"/>
          </a:xfrm>
          <a:prstGeom prst="rect">
            <a:avLst/>
          </a:prstGeom>
          <a:noFill/>
          <a:ln/>
        </p:spPr>
        <p:txBody>
          <a:bodyPr wrap="square" lIns="0" tIns="0" rIns="0" bIns="0" rtlCol="0" anchor="ctr"/>
          <a:lstStyle/>
          <a:p>
            <a:pPr algn="ctr" indent="0" marL="0">
              <a:buNone/>
            </a:pPr>
            <a:r>
              <a:rPr lang="en-US" sz="2500" b="1" dirty="0">
                <a:solidFill>
                  <a:srgbClr val="15803D"/>
                </a:solidFill>
                <a:latin typeface="Cambria" pitchFamily="34" charset="0"/>
                <a:ea typeface="Cambria" pitchFamily="34" charset="-122"/>
                <a:cs typeface="Cambria" pitchFamily="34" charset="-120"/>
              </a:rPr>
              <a:t>2.960.736</a:t>
            </a:r>
            <a:endParaRPr lang="en-US" sz="2500" dirty="0"/>
          </a:p>
        </p:txBody>
      </p:sp>
      <p:sp>
        <p:nvSpPr>
          <p:cNvPr id="11" name="Text 8"/>
          <p:cNvSpPr/>
          <p:nvPr/>
        </p:nvSpPr>
        <p:spPr>
          <a:xfrm>
            <a:off x="8412480" y="3310128"/>
            <a:ext cx="3011119" cy="347472"/>
          </a:xfrm>
          <a:prstGeom prst="rect">
            <a:avLst/>
          </a:prstGeom>
          <a:noFill/>
          <a:ln/>
        </p:spPr>
        <p:txBody>
          <a:bodyPr wrap="square" lIns="0" tIns="0" rIns="0" bIns="0" rtlCol="0" anchor="ctr"/>
          <a:lstStyle/>
          <a:p>
            <a:pPr algn="ctr" indent="0" marL="0">
              <a:lnSpc>
                <a:spcPts val="1500"/>
              </a:lnSpc>
              <a:buNone/>
            </a:pPr>
            <a:r>
              <a:rPr lang="en-US" sz="1150" dirty="0">
                <a:solidFill>
                  <a:srgbClr val="334155"/>
                </a:solidFill>
                <a:latin typeface="Calibri" pitchFamily="34" charset="0"/>
                <a:ea typeface="Calibri" pitchFamily="34" charset="-122"/>
                <a:cs typeface="Calibri" pitchFamily="34" charset="-120"/>
              </a:rPr>
              <a:t>dòng — không mất dòng nào</a:t>
            </a:r>
            <a:endParaRPr lang="en-US" sz="1150" dirty="0"/>
          </a:p>
        </p:txBody>
      </p:sp>
      <p:sp>
        <p:nvSpPr>
          <p:cNvPr id="12" name="Shape 9"/>
          <p:cNvSpPr/>
          <p:nvPr/>
        </p:nvSpPr>
        <p:spPr>
          <a:xfrm>
            <a:off x="8211312" y="3877056"/>
            <a:ext cx="3413455" cy="1005840"/>
          </a:xfrm>
          <a:prstGeom prst="roundRect">
            <a:avLst>
              <a:gd name="adj" fmla="val 7273"/>
            </a:avLst>
          </a:prstGeom>
          <a:solidFill>
            <a:srgbClr val="EEF2FA"/>
          </a:solidFill>
          <a:ln/>
          <a:effectLst>
            <a:outerShdw sx="100000" sy="100000" kx="0" ky="0" algn="bl" rotWithShape="0" blurRad="127000" dist="25400" dir="5400000">
              <a:srgbClr val="9AA8C0">
                <a:alpha val="28000"/>
              </a:srgbClr>
            </a:outerShdw>
          </a:effectLst>
        </p:spPr>
      </p:sp>
      <p:sp>
        <p:nvSpPr>
          <p:cNvPr id="13" name="Text 10"/>
          <p:cNvSpPr/>
          <p:nvPr/>
        </p:nvSpPr>
        <p:spPr>
          <a:xfrm>
            <a:off x="8412480" y="3986784"/>
            <a:ext cx="3011119" cy="475488"/>
          </a:xfrm>
          <a:prstGeom prst="rect">
            <a:avLst/>
          </a:prstGeom>
          <a:noFill/>
          <a:ln/>
        </p:spPr>
        <p:txBody>
          <a:bodyPr wrap="square" lIns="0" tIns="0" rIns="0" bIns="0" rtlCol="0" anchor="ctr"/>
          <a:lstStyle/>
          <a:p>
            <a:pPr algn="ctr" indent="0" marL="0">
              <a:buNone/>
            </a:pPr>
            <a:r>
              <a:rPr lang="en-US" sz="2500" b="1" dirty="0">
                <a:solidFill>
                  <a:srgbClr val="3A4A6B"/>
                </a:solidFill>
                <a:latin typeface="Cambria" pitchFamily="34" charset="0"/>
                <a:ea typeface="Cambria" pitchFamily="34" charset="-122"/>
                <a:cs typeface="Cambria" pitchFamily="34" charset="-120"/>
              </a:rPr>
              <a:t>22</a:t>
            </a:r>
            <a:endParaRPr lang="en-US" sz="2500" dirty="0"/>
          </a:p>
        </p:txBody>
      </p:sp>
      <p:sp>
        <p:nvSpPr>
          <p:cNvPr id="14" name="Text 11"/>
          <p:cNvSpPr/>
          <p:nvPr/>
        </p:nvSpPr>
        <p:spPr>
          <a:xfrm>
            <a:off x="8412480" y="4443984"/>
            <a:ext cx="3011119" cy="347472"/>
          </a:xfrm>
          <a:prstGeom prst="rect">
            <a:avLst/>
          </a:prstGeom>
          <a:noFill/>
          <a:ln/>
        </p:spPr>
        <p:txBody>
          <a:bodyPr wrap="square" lIns="0" tIns="0" rIns="0" bIns="0" rtlCol="0" anchor="ctr"/>
          <a:lstStyle/>
          <a:p>
            <a:pPr algn="ctr" indent="0" marL="0">
              <a:lnSpc>
                <a:spcPts val="1500"/>
              </a:lnSpc>
              <a:buNone/>
            </a:pPr>
            <a:r>
              <a:rPr lang="en-US" sz="1150" dirty="0">
                <a:solidFill>
                  <a:srgbClr val="334155"/>
                </a:solidFill>
                <a:latin typeface="Calibri" pitchFamily="34" charset="0"/>
                <a:ea typeface="Calibri" pitchFamily="34" charset="-122"/>
                <a:cs typeface="Calibri" pitchFamily="34" charset="-120"/>
              </a:rPr>
              <a:t>thao tác đều có nhật ký kèm căn cứ</a:t>
            </a:r>
            <a:endParaRPr lang="en-US" sz="1150" dirty="0"/>
          </a:p>
        </p:txBody>
      </p:sp>
      <p:sp>
        <p:nvSpPr>
          <p:cNvPr id="15" name="Shape 12"/>
          <p:cNvSpPr/>
          <p:nvPr/>
        </p:nvSpPr>
        <p:spPr>
          <a:xfrm>
            <a:off x="8211312" y="5010912"/>
            <a:ext cx="3413455" cy="1133856"/>
          </a:xfrm>
          <a:prstGeom prst="roundRect">
            <a:avLst>
              <a:gd name="adj" fmla="val 6452"/>
            </a:avLst>
          </a:prstGeom>
          <a:solidFill>
            <a:srgbClr val="EEF2FA"/>
          </a:solidFill>
          <a:ln/>
          <a:effectLst>
            <a:outerShdw sx="100000" sy="100000" kx="0" ky="0" algn="bl" rotWithShape="0" blurRad="127000" dist="25400" dir="5400000">
              <a:srgbClr val="9AA8C0">
                <a:alpha val="28000"/>
              </a:srgbClr>
            </a:outerShdw>
          </a:effectLst>
        </p:spPr>
      </p:sp>
      <p:sp>
        <p:nvSpPr>
          <p:cNvPr id="16" name="Text 13"/>
          <p:cNvSpPr/>
          <p:nvPr/>
        </p:nvSpPr>
        <p:spPr>
          <a:xfrm>
            <a:off x="8430768" y="5010912"/>
            <a:ext cx="2974543" cy="1133856"/>
          </a:xfrm>
          <a:prstGeom prst="rect">
            <a:avLst/>
          </a:prstGeom>
          <a:noFill/>
          <a:ln/>
        </p:spPr>
        <p:txBody>
          <a:bodyPr wrap="square" lIns="0" tIns="0" rIns="0" bIns="0" rtlCol="0" anchor="ctr"/>
          <a:lstStyle/>
          <a:p>
            <a:pPr indent="0" marL="0">
              <a:lnSpc>
                <a:spcPts val="1800"/>
              </a:lnSpc>
              <a:buNone/>
            </a:pPr>
            <a:r>
              <a:rPr lang="en-US" sz="1200" dirty="0">
                <a:solidFill>
                  <a:srgbClr val="334155"/>
                </a:solidFill>
                <a:latin typeface="Calibri" pitchFamily="34" charset="0"/>
                <a:ea typeface="Calibri" pitchFamily="34" charset="-122"/>
                <a:cs typeface="Calibri" pitchFamily="34" charset="-120"/>
              </a:rPr>
              <a:t>Nhật ký làm sạch ghi ra tệp riêng: mỗi dòng một thao tác, kèm cột "căn cứ" để truy vết được vì sao xóa cột nào.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Kiểm chứng bằng hai bất biến</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Bất biến là đại lượng phải giữ nguyên trước và sau khi biến đổi — làm sạch xong phải chứng minh không phá vỡ gì</a:t>
            </a:r>
            <a:endParaRPr lang="en-US" sz="1350" dirty="0"/>
          </a:p>
        </p:txBody>
      </p:sp>
      <p:sp>
        <p:nvSpPr>
          <p:cNvPr id="4" name="Shape 2"/>
          <p:cNvSpPr/>
          <p:nvPr/>
        </p:nvSpPr>
        <p:spPr>
          <a:xfrm>
            <a:off x="566928" y="1700784"/>
            <a:ext cx="5346040" cy="3200400"/>
          </a:xfrm>
          <a:prstGeom prst="roundRect">
            <a:avLst>
              <a:gd name="adj" fmla="val 2286"/>
            </a:avLst>
          </a:prstGeom>
          <a:solidFill>
            <a:srgbClr val="EEF2FA"/>
          </a:solidFill>
          <a:ln/>
          <a:effectLst>
            <a:outerShdw sx="100000" sy="100000" kx="0" ky="0" algn="bl" rotWithShape="0" blurRad="127000" dist="25400" dir="5400000">
              <a:srgbClr val="9AA8C0">
                <a:alpha val="28000"/>
              </a:srgbClr>
            </a:outerShdw>
          </a:effectLst>
        </p:spPr>
      </p:sp>
      <p:sp>
        <p:nvSpPr>
          <p:cNvPr id="5" name="Shape 3"/>
          <p:cNvSpPr/>
          <p:nvPr/>
        </p:nvSpPr>
        <p:spPr>
          <a:xfrm>
            <a:off x="841248" y="1938528"/>
            <a:ext cx="457200" cy="457200"/>
          </a:xfrm>
          <a:prstGeom prst="ellipse">
            <a:avLst/>
          </a:prstGeom>
          <a:solidFill>
            <a:srgbClr val="1E2761"/>
          </a:solidFill>
          <a:ln/>
        </p:spPr>
      </p:sp>
      <p:sp>
        <p:nvSpPr>
          <p:cNvPr id="6" name="Text 4"/>
          <p:cNvSpPr/>
          <p:nvPr/>
        </p:nvSpPr>
        <p:spPr>
          <a:xfrm>
            <a:off x="84124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26464" y="1920240"/>
            <a:ext cx="4248760" cy="493776"/>
          </a:xfrm>
          <a:prstGeom prst="rect">
            <a:avLst/>
          </a:prstGeom>
          <a:noFill/>
          <a:ln/>
        </p:spPr>
        <p:txBody>
          <a:bodyPr wrap="square" lIns="0" tIns="0" rIns="0" bIns="0" rtlCol="0" anchor="ctr"/>
          <a:lstStyle/>
          <a:p>
            <a:pPr indent="0" marL="0">
              <a:buNone/>
            </a:pPr>
            <a:r>
              <a:rPr lang="en-US" sz="1600" b="1" dirty="0">
                <a:solidFill>
                  <a:srgbClr val="10203F"/>
                </a:solidFill>
                <a:latin typeface="Calibri" pitchFamily="34" charset="0"/>
                <a:ea typeface="Calibri" pitchFamily="34" charset="-122"/>
                <a:cs typeface="Calibri" pitchFamily="34" charset="-120"/>
              </a:rPr>
              <a:t>Toàn vẹn tham chiếu</a:t>
            </a:r>
            <a:endParaRPr lang="en-US" sz="1600" dirty="0"/>
          </a:p>
        </p:txBody>
      </p:sp>
      <p:sp>
        <p:nvSpPr>
          <p:cNvPr id="8" name="Text 6"/>
          <p:cNvSpPr/>
          <p:nvPr/>
        </p:nvSpPr>
        <p:spPr>
          <a:xfrm>
            <a:off x="841248" y="2523744"/>
            <a:ext cx="4797400" cy="676656"/>
          </a:xfrm>
          <a:prstGeom prst="rect">
            <a:avLst/>
          </a:prstGeom>
          <a:noFill/>
          <a:ln/>
        </p:spPr>
        <p:txBody>
          <a:bodyPr wrap="square" lIns="0" tIns="0" rIns="0" bIns="0" rtlCol="0" anchor="t"/>
          <a:lstStyle/>
          <a:p>
            <a:pPr indent="0" marL="0">
              <a:lnSpc>
                <a:spcPts val="1900"/>
              </a:lnSpc>
              <a:buNone/>
            </a:pPr>
            <a:r>
              <a:rPr lang="en-US" sz="1250" dirty="0">
                <a:solidFill>
                  <a:srgbClr val="475569"/>
                </a:solidFill>
                <a:latin typeface="Calibri" pitchFamily="34" charset="0"/>
                <a:ea typeface="Calibri" pitchFamily="34" charset="-122"/>
                <a:cs typeface="Calibri" pitchFamily="34" charset="-120"/>
              </a:rPr>
              <a:t>Đếm lại bản ghi mồ côi trên toàn bộ quan hệ khóa ngoại còn lại sau khi làm sạch.</a:t>
            </a:r>
            <a:endParaRPr lang="en-US" sz="1250" dirty="0"/>
          </a:p>
        </p:txBody>
      </p:sp>
      <p:sp>
        <p:nvSpPr>
          <p:cNvPr id="9" name="Shape 7"/>
          <p:cNvSpPr/>
          <p:nvPr/>
        </p:nvSpPr>
        <p:spPr>
          <a:xfrm>
            <a:off x="841248" y="3255264"/>
            <a:ext cx="4797400" cy="1042416"/>
          </a:xfrm>
          <a:prstGeom prst="roundRect">
            <a:avLst>
              <a:gd name="adj" fmla="val 6140"/>
            </a:avLst>
          </a:prstGeom>
          <a:solidFill>
            <a:srgbClr val="DCFCE7"/>
          </a:solidFill>
          <a:ln/>
        </p:spPr>
      </p:sp>
      <p:sp>
        <p:nvSpPr>
          <p:cNvPr id="10" name="Text 8"/>
          <p:cNvSpPr/>
          <p:nvPr/>
        </p:nvSpPr>
        <p:spPr>
          <a:xfrm>
            <a:off x="841248" y="3346704"/>
            <a:ext cx="4797400" cy="548640"/>
          </a:xfrm>
          <a:prstGeom prst="rect">
            <a:avLst/>
          </a:prstGeom>
          <a:noFill/>
          <a:ln/>
        </p:spPr>
        <p:txBody>
          <a:bodyPr wrap="square" lIns="0" tIns="0" rIns="0" bIns="0" rtlCol="0" anchor="ctr"/>
          <a:lstStyle/>
          <a:p>
            <a:pPr algn="ctr" indent="0" marL="0">
              <a:buNone/>
            </a:pPr>
            <a:r>
              <a:rPr lang="en-US" sz="3200" b="1" dirty="0">
                <a:solidFill>
                  <a:srgbClr val="15803D"/>
                </a:solidFill>
                <a:latin typeface="Cambria" pitchFamily="34" charset="0"/>
                <a:ea typeface="Cambria" pitchFamily="34" charset="-122"/>
                <a:cs typeface="Cambria" pitchFamily="34" charset="-120"/>
              </a:rPr>
              <a:t>0</a:t>
            </a:r>
            <a:endParaRPr lang="en-US" sz="3200" dirty="0"/>
          </a:p>
        </p:txBody>
      </p:sp>
      <p:sp>
        <p:nvSpPr>
          <p:cNvPr id="11" name="Text 9"/>
          <p:cNvSpPr/>
          <p:nvPr/>
        </p:nvSpPr>
        <p:spPr>
          <a:xfrm>
            <a:off x="841248" y="3877056"/>
            <a:ext cx="4797400" cy="274320"/>
          </a:xfrm>
          <a:prstGeom prst="rect">
            <a:avLst/>
          </a:prstGeom>
          <a:noFill/>
          <a:ln/>
        </p:spPr>
        <p:txBody>
          <a:bodyPr wrap="square" lIns="0" tIns="0" rIns="0" bIns="0" rtlCol="0" anchor="ctr"/>
          <a:lstStyle/>
          <a:p>
            <a:pPr algn="ctr" indent="0" marL="0">
              <a:buNone/>
            </a:pPr>
            <a:r>
              <a:rPr lang="en-US" sz="1200" dirty="0">
                <a:solidFill>
                  <a:srgbClr val="166534"/>
                </a:solidFill>
                <a:latin typeface="Calibri" pitchFamily="34" charset="0"/>
                <a:ea typeface="Calibri" pitchFamily="34" charset="-122"/>
                <a:cs typeface="Calibri" pitchFamily="34" charset="-120"/>
              </a:rPr>
              <a:t>bản ghi mồ côi</a:t>
            </a:r>
            <a:endParaRPr lang="en-US" sz="1200" dirty="0"/>
          </a:p>
        </p:txBody>
      </p:sp>
      <p:sp>
        <p:nvSpPr>
          <p:cNvPr id="12" name="Text 10"/>
          <p:cNvSpPr/>
          <p:nvPr/>
        </p:nvSpPr>
        <p:spPr>
          <a:xfrm>
            <a:off x="841248" y="4315968"/>
            <a:ext cx="4797400" cy="256032"/>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12 quan hệ · 4.054.768 bản ghi</a:t>
            </a:r>
            <a:endParaRPr lang="en-US" sz="1100" dirty="0"/>
          </a:p>
        </p:txBody>
      </p:sp>
      <p:sp>
        <p:nvSpPr>
          <p:cNvPr id="13" name="Text 11"/>
          <p:cNvSpPr/>
          <p:nvPr/>
        </p:nvSpPr>
        <p:spPr>
          <a:xfrm>
            <a:off x="841248" y="4572000"/>
            <a:ext cx="4797400" cy="292608"/>
          </a:xfrm>
          <a:prstGeom prst="rect">
            <a:avLst/>
          </a:prstGeom>
          <a:noFill/>
          <a:ln/>
        </p:spPr>
        <p:txBody>
          <a:bodyPr wrap="square" lIns="0" tIns="0" rIns="0" bIns="0" rtlCol="0" anchor="ctr"/>
          <a:lstStyle/>
          <a:p>
            <a:pPr algn="ctr" indent="0" marL="0">
              <a:buNone/>
            </a:pPr>
            <a:r>
              <a:rPr lang="en-US" sz="1250" b="1" dirty="0">
                <a:solidFill>
                  <a:srgbClr val="10203F"/>
                </a:solidFill>
                <a:latin typeface="Calibri" pitchFamily="34" charset="0"/>
                <a:ea typeface="Calibri" pitchFamily="34" charset="-122"/>
                <a:cs typeface="Calibri" pitchFamily="34" charset="-120"/>
              </a:rPr>
              <a:t>Không quan hệ nào giữa các bảng bị phá vỡ.</a:t>
            </a:r>
            <a:endParaRPr lang="en-US" sz="1250" dirty="0"/>
          </a:p>
        </p:txBody>
      </p:sp>
      <p:sp>
        <p:nvSpPr>
          <p:cNvPr id="14" name="Shape 12"/>
          <p:cNvSpPr/>
          <p:nvPr/>
        </p:nvSpPr>
        <p:spPr>
          <a:xfrm>
            <a:off x="6278728" y="1700784"/>
            <a:ext cx="5346040" cy="3200400"/>
          </a:xfrm>
          <a:prstGeom prst="roundRect">
            <a:avLst>
              <a:gd name="adj" fmla="val 2286"/>
            </a:avLst>
          </a:prstGeom>
          <a:solidFill>
            <a:srgbClr val="EEF2FA"/>
          </a:solidFill>
          <a:ln/>
          <a:effectLst>
            <a:outerShdw sx="100000" sy="100000" kx="0" ky="0" algn="bl" rotWithShape="0" blurRad="127000" dist="25400" dir="5400000">
              <a:srgbClr val="9AA8C0">
                <a:alpha val="28000"/>
              </a:srgbClr>
            </a:outerShdw>
          </a:effectLst>
        </p:spPr>
      </p:sp>
      <p:sp>
        <p:nvSpPr>
          <p:cNvPr id="15" name="Shape 13"/>
          <p:cNvSpPr/>
          <p:nvPr/>
        </p:nvSpPr>
        <p:spPr>
          <a:xfrm>
            <a:off x="6553048" y="1938528"/>
            <a:ext cx="457200" cy="457200"/>
          </a:xfrm>
          <a:prstGeom prst="ellipse">
            <a:avLst/>
          </a:prstGeom>
          <a:solidFill>
            <a:srgbClr val="1E2761"/>
          </a:solidFill>
          <a:ln/>
        </p:spPr>
      </p:sp>
      <p:sp>
        <p:nvSpPr>
          <p:cNvPr id="16" name="Text 14"/>
          <p:cNvSpPr/>
          <p:nvPr/>
        </p:nvSpPr>
        <p:spPr>
          <a:xfrm>
            <a:off x="655304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7138264" y="1920240"/>
            <a:ext cx="4248760" cy="493776"/>
          </a:xfrm>
          <a:prstGeom prst="rect">
            <a:avLst/>
          </a:prstGeom>
          <a:noFill/>
          <a:ln/>
        </p:spPr>
        <p:txBody>
          <a:bodyPr wrap="square" lIns="0" tIns="0" rIns="0" bIns="0" rtlCol="0" anchor="ctr"/>
          <a:lstStyle/>
          <a:p>
            <a:pPr indent="0" marL="0">
              <a:buNone/>
            </a:pPr>
            <a:r>
              <a:rPr lang="en-US" sz="1600" b="1" dirty="0">
                <a:solidFill>
                  <a:srgbClr val="10203F"/>
                </a:solidFill>
                <a:latin typeface="Calibri" pitchFamily="34" charset="0"/>
                <a:ea typeface="Calibri" pitchFamily="34" charset="-122"/>
                <a:cs typeface="Calibri" pitchFamily="34" charset="-120"/>
              </a:rPr>
              <a:t>Biến mục tiêu</a:t>
            </a:r>
            <a:endParaRPr lang="en-US" sz="1600" dirty="0"/>
          </a:p>
        </p:txBody>
      </p:sp>
      <p:sp>
        <p:nvSpPr>
          <p:cNvPr id="18" name="Text 16"/>
          <p:cNvSpPr/>
          <p:nvPr/>
        </p:nvSpPr>
        <p:spPr>
          <a:xfrm>
            <a:off x="6553048" y="2523744"/>
            <a:ext cx="4797400" cy="676656"/>
          </a:xfrm>
          <a:prstGeom prst="rect">
            <a:avLst/>
          </a:prstGeom>
          <a:noFill/>
          <a:ln/>
        </p:spPr>
        <p:txBody>
          <a:bodyPr wrap="square" lIns="0" tIns="0" rIns="0" bIns="0" rtlCol="0" anchor="t"/>
          <a:lstStyle/>
          <a:p>
            <a:pPr indent="0" marL="0">
              <a:lnSpc>
                <a:spcPts val="1900"/>
              </a:lnSpc>
              <a:buNone/>
            </a:pPr>
            <a:r>
              <a:rPr lang="en-US" sz="1250" dirty="0">
                <a:solidFill>
                  <a:srgbClr val="475569"/>
                </a:solidFill>
                <a:latin typeface="Calibri" pitchFamily="34" charset="0"/>
                <a:ea typeface="Calibri" pitchFamily="34" charset="-122"/>
                <a:cs typeface="Calibri" pitchFamily="34" charset="-120"/>
              </a:rPr>
              <a:t>Dựng lại sales.csv từ dữ liệu ĐÃ làm sạch, rồi so với bản gốc từng ngày một.</a:t>
            </a:r>
            <a:endParaRPr lang="en-US" sz="1250" dirty="0"/>
          </a:p>
        </p:txBody>
      </p:sp>
      <p:sp>
        <p:nvSpPr>
          <p:cNvPr id="19" name="Shape 17"/>
          <p:cNvSpPr/>
          <p:nvPr/>
        </p:nvSpPr>
        <p:spPr>
          <a:xfrm>
            <a:off x="6553048" y="3255264"/>
            <a:ext cx="4797400" cy="1042416"/>
          </a:xfrm>
          <a:prstGeom prst="roundRect">
            <a:avLst>
              <a:gd name="adj" fmla="val 6140"/>
            </a:avLst>
          </a:prstGeom>
          <a:solidFill>
            <a:srgbClr val="DCFCE7"/>
          </a:solidFill>
          <a:ln/>
        </p:spPr>
      </p:sp>
      <p:sp>
        <p:nvSpPr>
          <p:cNvPr id="20" name="Text 18"/>
          <p:cNvSpPr/>
          <p:nvPr/>
        </p:nvSpPr>
        <p:spPr>
          <a:xfrm>
            <a:off x="6553048" y="3346704"/>
            <a:ext cx="4797400" cy="548640"/>
          </a:xfrm>
          <a:prstGeom prst="rect">
            <a:avLst/>
          </a:prstGeom>
          <a:noFill/>
          <a:ln/>
        </p:spPr>
        <p:txBody>
          <a:bodyPr wrap="square" lIns="0" tIns="0" rIns="0" bIns="0" rtlCol="0" anchor="ctr"/>
          <a:lstStyle/>
          <a:p>
            <a:pPr algn="ctr" indent="0" marL="0">
              <a:buNone/>
            </a:pPr>
            <a:r>
              <a:rPr lang="en-US" sz="3200" b="1" dirty="0">
                <a:solidFill>
                  <a:srgbClr val="15803D"/>
                </a:solidFill>
                <a:latin typeface="Cambria" pitchFamily="34" charset="0"/>
                <a:ea typeface="Cambria" pitchFamily="34" charset="-122"/>
                <a:cs typeface="Cambria" pitchFamily="34" charset="-120"/>
              </a:rPr>
              <a:t>0,00</a:t>
            </a:r>
            <a:endParaRPr lang="en-US" sz="3200" dirty="0"/>
          </a:p>
        </p:txBody>
      </p:sp>
      <p:sp>
        <p:nvSpPr>
          <p:cNvPr id="21" name="Text 19"/>
          <p:cNvSpPr/>
          <p:nvPr/>
        </p:nvSpPr>
        <p:spPr>
          <a:xfrm>
            <a:off x="6553048" y="3877056"/>
            <a:ext cx="4797400" cy="274320"/>
          </a:xfrm>
          <a:prstGeom prst="rect">
            <a:avLst/>
          </a:prstGeom>
          <a:noFill/>
          <a:ln/>
        </p:spPr>
        <p:txBody>
          <a:bodyPr wrap="square" lIns="0" tIns="0" rIns="0" bIns="0" rtlCol="0" anchor="ctr"/>
          <a:lstStyle/>
          <a:p>
            <a:pPr algn="ctr" indent="0" marL="0">
              <a:buNone/>
            </a:pPr>
            <a:r>
              <a:rPr lang="en-US" sz="1200" dirty="0">
                <a:solidFill>
                  <a:srgbClr val="166534"/>
                </a:solidFill>
                <a:latin typeface="Calibri" pitchFamily="34" charset="0"/>
                <a:ea typeface="Calibri" pitchFamily="34" charset="-122"/>
                <a:cs typeface="Calibri" pitchFamily="34" charset="-120"/>
              </a:rPr>
              <a:t>sai số tuyệt đối</a:t>
            </a:r>
            <a:endParaRPr lang="en-US" sz="1200" dirty="0"/>
          </a:p>
        </p:txBody>
      </p:sp>
      <p:sp>
        <p:nvSpPr>
          <p:cNvPr id="22" name="Text 20"/>
          <p:cNvSpPr/>
          <p:nvPr/>
        </p:nvSpPr>
        <p:spPr>
          <a:xfrm>
            <a:off x="6553048" y="4315968"/>
            <a:ext cx="4797400" cy="256032"/>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khớp cả 3.833 / 3.833 ngày</a:t>
            </a:r>
            <a:endParaRPr lang="en-US" sz="1100" dirty="0"/>
          </a:p>
        </p:txBody>
      </p:sp>
      <p:sp>
        <p:nvSpPr>
          <p:cNvPr id="23" name="Text 21"/>
          <p:cNvSpPr/>
          <p:nvPr/>
        </p:nvSpPr>
        <p:spPr>
          <a:xfrm>
            <a:off x="6553048" y="4572000"/>
            <a:ext cx="4797400" cy="292608"/>
          </a:xfrm>
          <a:prstGeom prst="rect">
            <a:avLst/>
          </a:prstGeom>
          <a:noFill/>
          <a:ln/>
        </p:spPr>
        <p:txBody>
          <a:bodyPr wrap="square" lIns="0" tIns="0" rIns="0" bIns="0" rtlCol="0" anchor="ctr"/>
          <a:lstStyle/>
          <a:p>
            <a:pPr algn="ctr" indent="0" marL="0">
              <a:buNone/>
            </a:pPr>
            <a:r>
              <a:rPr lang="en-US" sz="1250" b="1" dirty="0">
                <a:solidFill>
                  <a:srgbClr val="10203F"/>
                </a:solidFill>
                <a:latin typeface="Calibri" pitchFamily="34" charset="0"/>
                <a:ea typeface="Calibri" pitchFamily="34" charset="-122"/>
                <a:cs typeface="Calibri" pitchFamily="34" charset="-120"/>
              </a:rPr>
              <a:t>Việc làm sạch không làm sai lệch cái đang đi dự báo.</a:t>
            </a:r>
            <a:endParaRPr lang="en-US" sz="1250" dirty="0"/>
          </a:p>
        </p:txBody>
      </p:sp>
      <p:sp>
        <p:nvSpPr>
          <p:cNvPr id="24" name="Shape 22"/>
          <p:cNvSpPr/>
          <p:nvPr/>
        </p:nvSpPr>
        <p:spPr>
          <a:xfrm>
            <a:off x="566928" y="5138928"/>
            <a:ext cx="11057839" cy="1005840"/>
          </a:xfrm>
          <a:prstGeom prst="roundRect">
            <a:avLst>
              <a:gd name="adj" fmla="val 9091"/>
            </a:avLst>
          </a:prstGeom>
          <a:solidFill>
            <a:srgbClr val="1E2761"/>
          </a:solidFill>
          <a:ln/>
          <a:effectLst>
            <a:outerShdw sx="100000" sy="100000" kx="0" ky="0" algn="bl" rotWithShape="0" blurRad="127000" dist="25400" dir="5400000">
              <a:srgbClr val="9AA8C0">
                <a:alpha val="28000"/>
              </a:srgbClr>
            </a:outerShdw>
          </a:effectLst>
        </p:spPr>
      </p:sp>
      <p:sp>
        <p:nvSpPr>
          <p:cNvPr id="25" name="Text 23"/>
          <p:cNvSpPr/>
          <p:nvPr/>
        </p:nvSpPr>
        <p:spPr>
          <a:xfrm>
            <a:off x="969264" y="5138928"/>
            <a:ext cx="10253167" cy="1005840"/>
          </a:xfrm>
          <a:prstGeom prst="rect">
            <a:avLst/>
          </a:prstGeom>
          <a:noFill/>
          <a:ln/>
        </p:spPr>
        <p:txBody>
          <a:bodyPr wrap="square" lIns="0" tIns="0" rIns="0" bIns="0" rtlCol="0" anchor="ctr"/>
          <a:lstStyle/>
          <a:p>
            <a:pPr indent="0" marL="0">
              <a:lnSpc>
                <a:spcPts val="2400"/>
              </a:lnSpc>
              <a:buNone/>
            </a:pPr>
            <a:r>
              <a:rPr lang="en-US" sz="1400" dirty="0">
                <a:solidFill>
                  <a:srgbClr val="CADCFC"/>
                </a:solidFill>
                <a:latin typeface="Calibri" pitchFamily="34" charset="0"/>
                <a:ea typeface="Calibri" pitchFamily="34" charset="-122"/>
                <a:cs typeface="Calibri" pitchFamily="34" charset="-120"/>
              </a:rPr>
              <a:t>Không có bất biến, em chỉ nói được "em nghĩ là không sao".</a:t>
            </a:r>
            <a:endParaRPr lang="en-US" sz="1400" dirty="0"/>
          </a:p>
          <a:p>
            <a:pPr indent="0" marL="0">
              <a:lnSpc>
                <a:spcPts val="2400"/>
              </a:lnSpc>
              <a:buNone/>
            </a:pPr>
            <a:r>
              <a:rPr lang="en-US" sz="1600" b="1" dirty="0">
                <a:solidFill>
                  <a:srgbClr val="FFFFFF"/>
                </a:solidFill>
                <a:latin typeface="Calibri" pitchFamily="34" charset="0"/>
                <a:ea typeface="Calibri" pitchFamily="34" charset="-122"/>
                <a:cs typeface="Calibri" pitchFamily="34" charset="-120"/>
              </a:rPr>
              <a:t>Có bất biến, em nói được: đây, chứng minh.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100" b="1" dirty="0">
                <a:solidFill>
                  <a:srgbClr val="10203F"/>
                </a:solidFill>
                <a:latin typeface="Cambria" pitchFamily="34" charset="0"/>
                <a:ea typeface="Cambria" pitchFamily="34" charset="-122"/>
                <a:cs typeface="Cambria" pitchFamily="34" charset="-120"/>
              </a:rPr>
              <a:t>Phương pháp đã áp dụng</a:t>
            </a:r>
            <a:endParaRPr lang="en-US" sz="31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Bốn khái niệm chuẩn dùng để trình bày và trích dẫn trong khóa luận</a:t>
            </a:r>
            <a:endParaRPr lang="en-US" sz="1350" dirty="0"/>
          </a:p>
        </p:txBody>
      </p:sp>
      <p:sp>
        <p:nvSpPr>
          <p:cNvPr id="4" name="Shape 2"/>
          <p:cNvSpPr/>
          <p:nvPr/>
        </p:nvSpPr>
        <p:spPr>
          <a:xfrm>
            <a:off x="566928" y="1572768"/>
            <a:ext cx="5382616" cy="1956816"/>
          </a:xfrm>
          <a:prstGeom prst="roundRect">
            <a:avLst>
              <a:gd name="adj" fmla="val 3738"/>
            </a:avLst>
          </a:prstGeom>
          <a:solidFill>
            <a:srgbClr val="CADCFC"/>
          </a:solidFill>
          <a:ln/>
          <a:effectLst>
            <a:outerShdw sx="100000" sy="100000" kx="0" ky="0" algn="bl" rotWithShape="0" blurRad="127000" dist="25400" dir="5400000">
              <a:srgbClr val="9AA8C0">
                <a:alpha val="28000"/>
              </a:srgbClr>
            </a:outerShdw>
          </a:effectLst>
        </p:spPr>
      </p:sp>
      <p:sp>
        <p:nvSpPr>
          <p:cNvPr id="5" name="Shape 3"/>
          <p:cNvSpPr/>
          <p:nvPr/>
        </p:nvSpPr>
        <p:spPr>
          <a:xfrm>
            <a:off x="841248" y="1828800"/>
            <a:ext cx="438912" cy="438912"/>
          </a:xfrm>
          <a:prstGeom prst="ellipse">
            <a:avLst/>
          </a:prstGeom>
          <a:solidFill>
            <a:srgbClr val="1E2761"/>
          </a:solidFill>
          <a:ln/>
        </p:spPr>
      </p:sp>
      <p:sp>
        <p:nvSpPr>
          <p:cNvPr id="6" name="Text 4"/>
          <p:cNvSpPr/>
          <p:nvPr/>
        </p:nvSpPr>
        <p:spPr>
          <a:xfrm>
            <a:off x="841248"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26464" y="1792224"/>
            <a:ext cx="4285336" cy="310896"/>
          </a:xfrm>
          <a:prstGeom prst="rect">
            <a:avLst/>
          </a:prstGeom>
          <a:noFill/>
          <a:ln/>
        </p:spPr>
        <p:txBody>
          <a:bodyPr wrap="square" lIns="0" tIns="0" rIns="0" bIns="0" rtlCol="0" anchor="ctr"/>
          <a:lstStyle/>
          <a:p>
            <a:pPr indent="0" marL="0">
              <a:buNone/>
            </a:pPr>
            <a:r>
              <a:rPr lang="en-US" sz="1550" b="1" dirty="0">
                <a:solidFill>
                  <a:srgbClr val="10203F"/>
                </a:solidFill>
                <a:latin typeface="Calibri" pitchFamily="34" charset="0"/>
                <a:ea typeface="Calibri" pitchFamily="34" charset="-122"/>
                <a:cs typeface="Calibri" pitchFamily="34" charset="-120"/>
              </a:rPr>
              <a:t>Kiến trúc Medallion</a:t>
            </a:r>
            <a:endParaRPr lang="en-US" sz="1550" dirty="0"/>
          </a:p>
        </p:txBody>
      </p:sp>
      <p:sp>
        <p:nvSpPr>
          <p:cNvPr id="8" name="Text 6"/>
          <p:cNvSpPr/>
          <p:nvPr/>
        </p:nvSpPr>
        <p:spPr>
          <a:xfrm>
            <a:off x="1426464" y="2103120"/>
            <a:ext cx="4285336" cy="274320"/>
          </a:xfrm>
          <a:prstGeom prst="rect">
            <a:avLst/>
          </a:prstGeom>
          <a:noFill/>
          <a:ln/>
        </p:spPr>
        <p:txBody>
          <a:bodyPr wrap="square" lIns="0" tIns="0" rIns="0" bIns="0" rtlCol="0" anchor="ctr"/>
          <a:lstStyle/>
          <a:p>
            <a:pPr indent="0" marL="0">
              <a:buNone/>
            </a:pPr>
            <a:r>
              <a:rPr lang="en-US" sz="1150" i="1" dirty="0">
                <a:solidFill>
                  <a:srgbClr val="3A4A6B"/>
                </a:solidFill>
                <a:latin typeface="Calibri" pitchFamily="34" charset="0"/>
                <a:ea typeface="Calibri" pitchFamily="34" charset="-122"/>
                <a:cs typeface="Calibri" pitchFamily="34" charset="-120"/>
              </a:rPr>
              <a:t>Bronze — Silver — Gold</a:t>
            </a:r>
            <a:endParaRPr lang="en-US" sz="1150" dirty="0"/>
          </a:p>
        </p:txBody>
      </p:sp>
      <p:sp>
        <p:nvSpPr>
          <p:cNvPr id="9" name="Text 7"/>
          <p:cNvSpPr/>
          <p:nvPr/>
        </p:nvSpPr>
        <p:spPr>
          <a:xfrm>
            <a:off x="841248" y="2487168"/>
            <a:ext cx="4833976" cy="1042416"/>
          </a:xfrm>
          <a:prstGeom prst="rect">
            <a:avLst/>
          </a:prstGeom>
          <a:noFill/>
          <a:ln/>
        </p:spPr>
        <p:txBody>
          <a:bodyPr wrap="square" lIns="0" tIns="0" rIns="0" bIns="0" rtlCol="0" anchor="t"/>
          <a:lstStyle/>
          <a:p>
            <a:pPr indent="0" marL="0">
              <a:lnSpc>
                <a:spcPts val="2000"/>
              </a:lnSpc>
              <a:buNone/>
            </a:pPr>
            <a:r>
              <a:rPr lang="en-US" sz="1250" dirty="0">
                <a:solidFill>
                  <a:srgbClr val="334155"/>
                </a:solidFill>
                <a:latin typeface="Calibri" pitchFamily="34" charset="0"/>
                <a:ea typeface="Calibri" pitchFamily="34" charset="-122"/>
                <a:cs typeface="Calibri" pitchFamily="34" charset="-120"/>
              </a:rPr>
              <a:t>Tách dữ liệu thô, dữ liệu đáng tin và dữ liệu cho mô hình thành ba lớp riêng, mỗi lớp một trách nhiệm.</a:t>
            </a:r>
            <a:endParaRPr lang="en-US" sz="1250" dirty="0"/>
          </a:p>
        </p:txBody>
      </p:sp>
      <p:sp>
        <p:nvSpPr>
          <p:cNvPr id="10" name="Shape 8"/>
          <p:cNvSpPr/>
          <p:nvPr/>
        </p:nvSpPr>
        <p:spPr>
          <a:xfrm>
            <a:off x="6242152" y="1572768"/>
            <a:ext cx="5382616" cy="1956816"/>
          </a:xfrm>
          <a:prstGeom prst="roundRect">
            <a:avLst>
              <a:gd name="adj" fmla="val 3738"/>
            </a:avLst>
          </a:prstGeom>
          <a:solidFill>
            <a:srgbClr val="EEF2FA"/>
          </a:solidFill>
          <a:ln/>
          <a:effectLst>
            <a:outerShdw sx="100000" sy="100000" kx="0" ky="0" algn="bl" rotWithShape="0" blurRad="127000" dist="25400" dir="5400000">
              <a:srgbClr val="9AA8C0">
                <a:alpha val="28000"/>
              </a:srgbClr>
            </a:outerShdw>
          </a:effectLst>
        </p:spPr>
      </p:sp>
      <p:sp>
        <p:nvSpPr>
          <p:cNvPr id="11" name="Shape 9"/>
          <p:cNvSpPr/>
          <p:nvPr/>
        </p:nvSpPr>
        <p:spPr>
          <a:xfrm>
            <a:off x="6516472" y="1828800"/>
            <a:ext cx="438912" cy="438912"/>
          </a:xfrm>
          <a:prstGeom prst="ellipse">
            <a:avLst/>
          </a:prstGeom>
          <a:solidFill>
            <a:srgbClr val="1E2761"/>
          </a:solidFill>
          <a:ln/>
        </p:spPr>
      </p:sp>
      <p:sp>
        <p:nvSpPr>
          <p:cNvPr id="12" name="Text 10"/>
          <p:cNvSpPr/>
          <p:nvPr/>
        </p:nvSpPr>
        <p:spPr>
          <a:xfrm>
            <a:off x="6516472"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101688" y="1792224"/>
            <a:ext cx="4285336" cy="310896"/>
          </a:xfrm>
          <a:prstGeom prst="rect">
            <a:avLst/>
          </a:prstGeom>
          <a:noFill/>
          <a:ln/>
        </p:spPr>
        <p:txBody>
          <a:bodyPr wrap="square" lIns="0" tIns="0" rIns="0" bIns="0" rtlCol="0" anchor="ctr"/>
          <a:lstStyle/>
          <a:p>
            <a:pPr indent="0" marL="0">
              <a:buNone/>
            </a:pPr>
            <a:r>
              <a:rPr lang="en-US" sz="1550" b="1" dirty="0">
                <a:solidFill>
                  <a:srgbClr val="10203F"/>
                </a:solidFill>
                <a:latin typeface="Calibri" pitchFamily="34" charset="0"/>
                <a:ea typeface="Calibri" pitchFamily="34" charset="-122"/>
                <a:cs typeface="Calibri" pitchFamily="34" charset="-120"/>
              </a:rPr>
              <a:t>Làm sạch dẫn dắt bởi khảo sát</a:t>
            </a:r>
            <a:endParaRPr lang="en-US" sz="1550" dirty="0"/>
          </a:p>
        </p:txBody>
      </p:sp>
      <p:sp>
        <p:nvSpPr>
          <p:cNvPr id="14" name="Text 12"/>
          <p:cNvSpPr/>
          <p:nvPr/>
        </p:nvSpPr>
        <p:spPr>
          <a:xfrm>
            <a:off x="7101688" y="2103120"/>
            <a:ext cx="4285336" cy="274320"/>
          </a:xfrm>
          <a:prstGeom prst="rect">
            <a:avLst/>
          </a:prstGeom>
          <a:noFill/>
          <a:ln/>
        </p:spPr>
        <p:txBody>
          <a:bodyPr wrap="square" lIns="0" tIns="0" rIns="0" bIns="0" rtlCol="0" anchor="ctr"/>
          <a:lstStyle/>
          <a:p>
            <a:pPr indent="0" marL="0">
              <a:buNone/>
            </a:pPr>
            <a:r>
              <a:rPr lang="en-US" sz="1150" i="1" dirty="0">
                <a:solidFill>
                  <a:srgbClr val="3A4A6B"/>
                </a:solidFill>
                <a:latin typeface="Calibri" pitchFamily="34" charset="0"/>
                <a:ea typeface="Calibri" pitchFamily="34" charset="-122"/>
                <a:cs typeface="Calibri" pitchFamily="34" charset="-120"/>
              </a:rPr>
              <a:t>Profiling-driven cleaning</a:t>
            </a:r>
            <a:endParaRPr lang="en-US" sz="1150" dirty="0"/>
          </a:p>
        </p:txBody>
      </p:sp>
      <p:sp>
        <p:nvSpPr>
          <p:cNvPr id="15" name="Text 13"/>
          <p:cNvSpPr/>
          <p:nvPr/>
        </p:nvSpPr>
        <p:spPr>
          <a:xfrm>
            <a:off x="6516472" y="2487168"/>
            <a:ext cx="4833976" cy="1042416"/>
          </a:xfrm>
          <a:prstGeom prst="rect">
            <a:avLst/>
          </a:prstGeom>
          <a:noFill/>
          <a:ln/>
        </p:spPr>
        <p:txBody>
          <a:bodyPr wrap="square" lIns="0" tIns="0" rIns="0" bIns="0" rtlCol="0" anchor="t"/>
          <a:lstStyle/>
          <a:p>
            <a:pPr indent="0" marL="0">
              <a:lnSpc>
                <a:spcPts val="2000"/>
              </a:lnSpc>
              <a:buNone/>
            </a:pPr>
            <a:r>
              <a:rPr lang="en-US" sz="1250" dirty="0">
                <a:solidFill>
                  <a:srgbClr val="334155"/>
                </a:solidFill>
                <a:latin typeface="Calibri" pitchFamily="34" charset="0"/>
                <a:ea typeface="Calibri" pitchFamily="34" charset="-122"/>
                <a:cs typeface="Calibri" pitchFamily="34" charset="-120"/>
              </a:rPr>
              <a:t>Khảo sát trước, làm sạch sau. Mỗi thao tác truy ngược được về một cảnh báo có số liệu cụ thể.</a:t>
            </a:r>
            <a:endParaRPr lang="en-US" sz="1250" dirty="0"/>
          </a:p>
        </p:txBody>
      </p:sp>
      <p:sp>
        <p:nvSpPr>
          <p:cNvPr id="16" name="Shape 14"/>
          <p:cNvSpPr/>
          <p:nvPr/>
        </p:nvSpPr>
        <p:spPr>
          <a:xfrm>
            <a:off x="566928" y="3785616"/>
            <a:ext cx="5382616" cy="1956816"/>
          </a:xfrm>
          <a:prstGeom prst="roundRect">
            <a:avLst>
              <a:gd name="adj" fmla="val 3738"/>
            </a:avLst>
          </a:prstGeom>
          <a:solidFill>
            <a:srgbClr val="EEF2FA"/>
          </a:solidFill>
          <a:ln/>
          <a:effectLst>
            <a:outerShdw sx="100000" sy="100000" kx="0" ky="0" algn="bl" rotWithShape="0" blurRad="127000" dist="25400" dir="5400000">
              <a:srgbClr val="9AA8C0">
                <a:alpha val="28000"/>
              </a:srgbClr>
            </a:outerShdw>
          </a:effectLst>
        </p:spPr>
      </p:sp>
      <p:sp>
        <p:nvSpPr>
          <p:cNvPr id="17" name="Shape 15"/>
          <p:cNvSpPr/>
          <p:nvPr/>
        </p:nvSpPr>
        <p:spPr>
          <a:xfrm>
            <a:off x="841248" y="4041648"/>
            <a:ext cx="438912" cy="438912"/>
          </a:xfrm>
          <a:prstGeom prst="ellipse">
            <a:avLst/>
          </a:prstGeom>
          <a:solidFill>
            <a:srgbClr val="1E2761"/>
          </a:solidFill>
          <a:ln/>
        </p:spPr>
      </p:sp>
      <p:sp>
        <p:nvSpPr>
          <p:cNvPr id="18" name="Text 16"/>
          <p:cNvSpPr/>
          <p:nvPr/>
        </p:nvSpPr>
        <p:spPr>
          <a:xfrm>
            <a:off x="841248" y="404164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426464" y="4005072"/>
            <a:ext cx="4285336" cy="310896"/>
          </a:xfrm>
          <a:prstGeom prst="rect">
            <a:avLst/>
          </a:prstGeom>
          <a:noFill/>
          <a:ln/>
        </p:spPr>
        <p:txBody>
          <a:bodyPr wrap="square" lIns="0" tIns="0" rIns="0" bIns="0" rtlCol="0" anchor="ctr"/>
          <a:lstStyle/>
          <a:p>
            <a:pPr indent="0" marL="0">
              <a:buNone/>
            </a:pPr>
            <a:r>
              <a:rPr lang="en-US" sz="1550" b="1" dirty="0">
                <a:solidFill>
                  <a:srgbClr val="10203F"/>
                </a:solidFill>
                <a:latin typeface="Calibri" pitchFamily="34" charset="0"/>
                <a:ea typeface="Calibri" pitchFamily="34" charset="-122"/>
                <a:cs typeface="Calibri" pitchFamily="34" charset="-120"/>
              </a:rPr>
              <a:t>Chuẩn hóa quan hệ</a:t>
            </a:r>
            <a:endParaRPr lang="en-US" sz="1550" dirty="0"/>
          </a:p>
        </p:txBody>
      </p:sp>
      <p:sp>
        <p:nvSpPr>
          <p:cNvPr id="20" name="Text 18"/>
          <p:cNvSpPr/>
          <p:nvPr/>
        </p:nvSpPr>
        <p:spPr>
          <a:xfrm>
            <a:off x="1426464" y="4315968"/>
            <a:ext cx="4285336" cy="274320"/>
          </a:xfrm>
          <a:prstGeom prst="rect">
            <a:avLst/>
          </a:prstGeom>
          <a:noFill/>
          <a:ln/>
        </p:spPr>
        <p:txBody>
          <a:bodyPr wrap="square" lIns="0" tIns="0" rIns="0" bIns="0" rtlCol="0" anchor="ctr"/>
          <a:lstStyle/>
          <a:p>
            <a:pPr indent="0" marL="0">
              <a:buNone/>
            </a:pPr>
            <a:r>
              <a:rPr lang="en-US" sz="1150" i="1" dirty="0">
                <a:solidFill>
                  <a:srgbClr val="3A4A6B"/>
                </a:solidFill>
                <a:latin typeface="Calibri" pitchFamily="34" charset="0"/>
                <a:ea typeface="Calibri" pitchFamily="34" charset="-122"/>
                <a:cs typeface="Calibri" pitchFamily="34" charset="-120"/>
              </a:rPr>
              <a:t>Dạng chuẩn 3NF</a:t>
            </a:r>
            <a:endParaRPr lang="en-US" sz="1150" dirty="0"/>
          </a:p>
        </p:txBody>
      </p:sp>
      <p:sp>
        <p:nvSpPr>
          <p:cNvPr id="21" name="Text 19"/>
          <p:cNvSpPr/>
          <p:nvPr/>
        </p:nvSpPr>
        <p:spPr>
          <a:xfrm>
            <a:off x="841248" y="4700016"/>
            <a:ext cx="4833976" cy="1042416"/>
          </a:xfrm>
          <a:prstGeom prst="rect">
            <a:avLst/>
          </a:prstGeom>
          <a:noFill/>
          <a:ln/>
        </p:spPr>
        <p:txBody>
          <a:bodyPr wrap="square" lIns="0" tIns="0" rIns="0" bIns="0" rtlCol="0" anchor="t"/>
          <a:lstStyle/>
          <a:p>
            <a:pPr indent="0" marL="0">
              <a:lnSpc>
                <a:spcPts val="2000"/>
              </a:lnSpc>
              <a:buNone/>
            </a:pPr>
            <a:r>
              <a:rPr lang="en-US" sz="1250" dirty="0">
                <a:solidFill>
                  <a:srgbClr val="334155"/>
                </a:solidFill>
                <a:latin typeface="Calibri" pitchFamily="34" charset="0"/>
                <a:ea typeface="Calibri" pitchFamily="34" charset="-122"/>
                <a:cs typeface="Calibri" pitchFamily="34" charset="-120"/>
              </a:rPr>
              <a:t>Loại cột dư thừa và cột suy diễn chính là loại bỏ phụ thuộc bắc cầu — cột phụ thuộc vào cột khác thay vì vào khóa chính.</a:t>
            </a:r>
            <a:endParaRPr lang="en-US" sz="1250" dirty="0"/>
          </a:p>
        </p:txBody>
      </p:sp>
      <p:sp>
        <p:nvSpPr>
          <p:cNvPr id="22" name="Shape 20"/>
          <p:cNvSpPr/>
          <p:nvPr/>
        </p:nvSpPr>
        <p:spPr>
          <a:xfrm>
            <a:off x="6242152" y="3785616"/>
            <a:ext cx="5382616" cy="1956816"/>
          </a:xfrm>
          <a:prstGeom prst="roundRect">
            <a:avLst>
              <a:gd name="adj" fmla="val 3738"/>
            </a:avLst>
          </a:prstGeom>
          <a:solidFill>
            <a:srgbClr val="CADCFC"/>
          </a:solidFill>
          <a:ln/>
          <a:effectLst>
            <a:outerShdw sx="100000" sy="100000" kx="0" ky="0" algn="bl" rotWithShape="0" blurRad="127000" dist="25400" dir="5400000">
              <a:srgbClr val="9AA8C0">
                <a:alpha val="28000"/>
              </a:srgbClr>
            </a:outerShdw>
          </a:effectLst>
        </p:spPr>
      </p:sp>
      <p:sp>
        <p:nvSpPr>
          <p:cNvPr id="23" name="Shape 21"/>
          <p:cNvSpPr/>
          <p:nvPr/>
        </p:nvSpPr>
        <p:spPr>
          <a:xfrm>
            <a:off x="6516472" y="4041648"/>
            <a:ext cx="438912" cy="438912"/>
          </a:xfrm>
          <a:prstGeom prst="ellipse">
            <a:avLst/>
          </a:prstGeom>
          <a:solidFill>
            <a:srgbClr val="1E2761"/>
          </a:solidFill>
          <a:ln/>
        </p:spPr>
      </p:sp>
      <p:sp>
        <p:nvSpPr>
          <p:cNvPr id="24" name="Text 22"/>
          <p:cNvSpPr/>
          <p:nvPr/>
        </p:nvSpPr>
        <p:spPr>
          <a:xfrm>
            <a:off x="6516472" y="404164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7101688" y="4005072"/>
            <a:ext cx="4285336" cy="310896"/>
          </a:xfrm>
          <a:prstGeom prst="rect">
            <a:avLst/>
          </a:prstGeom>
          <a:noFill/>
          <a:ln/>
        </p:spPr>
        <p:txBody>
          <a:bodyPr wrap="square" lIns="0" tIns="0" rIns="0" bIns="0" rtlCol="0" anchor="ctr"/>
          <a:lstStyle/>
          <a:p>
            <a:pPr indent="0" marL="0">
              <a:buNone/>
            </a:pPr>
            <a:r>
              <a:rPr lang="en-US" sz="1550" b="1" dirty="0">
                <a:solidFill>
                  <a:srgbClr val="10203F"/>
                </a:solidFill>
                <a:latin typeface="Calibri" pitchFamily="34" charset="0"/>
                <a:ea typeface="Calibri" pitchFamily="34" charset="-122"/>
                <a:cs typeface="Calibri" pitchFamily="34" charset="-120"/>
              </a:rPr>
              <a:t>Kiểm chứng bằng bất biến</a:t>
            </a:r>
            <a:endParaRPr lang="en-US" sz="1550" dirty="0"/>
          </a:p>
        </p:txBody>
      </p:sp>
      <p:sp>
        <p:nvSpPr>
          <p:cNvPr id="26" name="Text 24"/>
          <p:cNvSpPr/>
          <p:nvPr/>
        </p:nvSpPr>
        <p:spPr>
          <a:xfrm>
            <a:off x="7101688" y="4315968"/>
            <a:ext cx="4285336" cy="274320"/>
          </a:xfrm>
          <a:prstGeom prst="rect">
            <a:avLst/>
          </a:prstGeom>
          <a:noFill/>
          <a:ln/>
        </p:spPr>
        <p:txBody>
          <a:bodyPr wrap="square" lIns="0" tIns="0" rIns="0" bIns="0" rtlCol="0" anchor="ctr"/>
          <a:lstStyle/>
          <a:p>
            <a:pPr indent="0" marL="0">
              <a:buNone/>
            </a:pPr>
            <a:r>
              <a:rPr lang="en-US" sz="1150" i="1" dirty="0">
                <a:solidFill>
                  <a:srgbClr val="3A4A6B"/>
                </a:solidFill>
                <a:latin typeface="Calibri" pitchFamily="34" charset="0"/>
                <a:ea typeface="Calibri" pitchFamily="34" charset="-122"/>
                <a:cs typeface="Calibri" pitchFamily="34" charset="-120"/>
              </a:rPr>
              <a:t>Invariant testing</a:t>
            </a:r>
            <a:endParaRPr lang="en-US" sz="1150" dirty="0"/>
          </a:p>
        </p:txBody>
      </p:sp>
      <p:sp>
        <p:nvSpPr>
          <p:cNvPr id="27" name="Text 25"/>
          <p:cNvSpPr/>
          <p:nvPr/>
        </p:nvSpPr>
        <p:spPr>
          <a:xfrm>
            <a:off x="6516472" y="4700016"/>
            <a:ext cx="4833976" cy="1042416"/>
          </a:xfrm>
          <a:prstGeom prst="rect">
            <a:avLst/>
          </a:prstGeom>
          <a:noFill/>
          <a:ln/>
        </p:spPr>
        <p:txBody>
          <a:bodyPr wrap="square" lIns="0" tIns="0" rIns="0" bIns="0" rtlCol="0" anchor="t"/>
          <a:lstStyle/>
          <a:p>
            <a:pPr indent="0" marL="0">
              <a:lnSpc>
                <a:spcPts val="2000"/>
              </a:lnSpc>
              <a:buNone/>
            </a:pPr>
            <a:r>
              <a:rPr lang="en-US" sz="1250" dirty="0">
                <a:solidFill>
                  <a:srgbClr val="334155"/>
                </a:solidFill>
                <a:latin typeface="Calibri" pitchFamily="34" charset="0"/>
                <a:ea typeface="Calibri" pitchFamily="34" charset="-122"/>
                <a:cs typeface="Calibri" pitchFamily="34" charset="-120"/>
              </a:rPr>
              <a:t>Đặt trước những đại lượng buộc phải giữ nguyên, rồi đo lại sau khi biến đổi để chứng minh không phá vỡ gì.</a:t>
            </a:r>
            <a:endParaRPr lang="en-US" sz="1250" dirty="0"/>
          </a:p>
        </p:txBody>
      </p:sp>
      <p:sp>
        <p:nvSpPr>
          <p:cNvPr id="28" name="Text 26"/>
          <p:cNvSpPr/>
          <p:nvPr/>
        </p:nvSpPr>
        <p:spPr>
          <a:xfrm>
            <a:off x="566928" y="5925312"/>
            <a:ext cx="11057839"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Em học ngành Hệ thống thông tin, nên khái niệm chuẩn hóa 3NF là chỗ nối trực tiếp giữa lý thuyết cơ sở dữ liệu và công việc thực tế trong khóa luận.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03F"/>
        </a:solidFill>
      </p:bgPr>
    </p:bg>
    <p:spTree>
      <p:nvGrpSpPr>
        <p:cNvPr id="1" name=""/>
        <p:cNvGrpSpPr/>
        <p:nvPr/>
      </p:nvGrpSpPr>
      <p:grpSpPr>
        <a:xfrm>
          <a:off x="0" y="0"/>
          <a:ext cx="0" cy="0"/>
          <a:chOff x="0" y="0"/>
          <a:chExt cx="0" cy="0"/>
        </a:xfrm>
      </p:grpSpPr>
      <p:sp>
        <p:nvSpPr>
          <p:cNvPr id="2" name="Shape 0"/>
          <p:cNvSpPr/>
          <p:nvPr/>
        </p:nvSpPr>
        <p:spPr>
          <a:xfrm>
            <a:off x="9646920" y="1170432"/>
            <a:ext cx="402336" cy="402336"/>
          </a:xfrm>
          <a:prstGeom prst="roundRect">
            <a:avLst>
              <a:gd name="adj" fmla="val 11364"/>
            </a:avLst>
          </a:prstGeom>
          <a:solidFill>
            <a:srgbClr val="CADCFC">
              <a:alpha val="14000"/>
            </a:srgbClr>
          </a:solidFill>
          <a:ln/>
        </p:spPr>
      </p:sp>
      <p:sp>
        <p:nvSpPr>
          <p:cNvPr id="3" name="Shape 1"/>
          <p:cNvSpPr/>
          <p:nvPr/>
        </p:nvSpPr>
        <p:spPr>
          <a:xfrm>
            <a:off x="10213848" y="1170432"/>
            <a:ext cx="402336" cy="402336"/>
          </a:xfrm>
          <a:prstGeom prst="roundRect">
            <a:avLst>
              <a:gd name="adj" fmla="val 11364"/>
            </a:avLst>
          </a:prstGeom>
          <a:solidFill>
            <a:srgbClr val="D97706">
              <a:alpha val="40000"/>
            </a:srgbClr>
          </a:solidFill>
          <a:ln/>
        </p:spPr>
      </p:sp>
      <p:sp>
        <p:nvSpPr>
          <p:cNvPr id="4" name="Shape 2"/>
          <p:cNvSpPr/>
          <p:nvPr/>
        </p:nvSpPr>
        <p:spPr>
          <a:xfrm>
            <a:off x="10780776" y="1170432"/>
            <a:ext cx="402336" cy="402336"/>
          </a:xfrm>
          <a:prstGeom prst="roundRect">
            <a:avLst>
              <a:gd name="adj" fmla="val 11364"/>
            </a:avLst>
          </a:prstGeom>
          <a:solidFill>
            <a:srgbClr val="CADCFC">
              <a:alpha val="14000"/>
            </a:srgbClr>
          </a:solidFill>
          <a:ln/>
        </p:spPr>
      </p:sp>
      <p:sp>
        <p:nvSpPr>
          <p:cNvPr id="5" name="Shape 3"/>
          <p:cNvSpPr/>
          <p:nvPr/>
        </p:nvSpPr>
        <p:spPr>
          <a:xfrm>
            <a:off x="11347704" y="1170432"/>
            <a:ext cx="402336" cy="402336"/>
          </a:xfrm>
          <a:prstGeom prst="roundRect">
            <a:avLst>
              <a:gd name="adj" fmla="val 11364"/>
            </a:avLst>
          </a:prstGeom>
          <a:solidFill>
            <a:srgbClr val="CADCFC">
              <a:alpha val="14000"/>
            </a:srgbClr>
          </a:solidFill>
          <a:ln/>
        </p:spPr>
      </p:sp>
      <p:sp>
        <p:nvSpPr>
          <p:cNvPr id="6" name="Shape 4"/>
          <p:cNvSpPr/>
          <p:nvPr/>
        </p:nvSpPr>
        <p:spPr>
          <a:xfrm>
            <a:off x="9646920" y="1737360"/>
            <a:ext cx="402336" cy="402336"/>
          </a:xfrm>
          <a:prstGeom prst="roundRect">
            <a:avLst>
              <a:gd name="adj" fmla="val 11364"/>
            </a:avLst>
          </a:prstGeom>
          <a:solidFill>
            <a:srgbClr val="D97706">
              <a:alpha val="40000"/>
            </a:srgbClr>
          </a:solidFill>
          <a:ln/>
        </p:spPr>
      </p:sp>
      <p:sp>
        <p:nvSpPr>
          <p:cNvPr id="7" name="Shape 5"/>
          <p:cNvSpPr/>
          <p:nvPr/>
        </p:nvSpPr>
        <p:spPr>
          <a:xfrm>
            <a:off x="10213848" y="1737360"/>
            <a:ext cx="402336" cy="402336"/>
          </a:xfrm>
          <a:prstGeom prst="roundRect">
            <a:avLst>
              <a:gd name="adj" fmla="val 11364"/>
            </a:avLst>
          </a:prstGeom>
          <a:solidFill>
            <a:srgbClr val="CADCFC">
              <a:alpha val="14000"/>
            </a:srgbClr>
          </a:solidFill>
          <a:ln/>
        </p:spPr>
      </p:sp>
      <p:sp>
        <p:nvSpPr>
          <p:cNvPr id="8" name="Shape 6"/>
          <p:cNvSpPr/>
          <p:nvPr/>
        </p:nvSpPr>
        <p:spPr>
          <a:xfrm>
            <a:off x="10780776" y="1737360"/>
            <a:ext cx="402336" cy="402336"/>
          </a:xfrm>
          <a:prstGeom prst="roundRect">
            <a:avLst>
              <a:gd name="adj" fmla="val 11364"/>
            </a:avLst>
          </a:prstGeom>
          <a:solidFill>
            <a:srgbClr val="CADCFC">
              <a:alpha val="14000"/>
            </a:srgbClr>
          </a:solidFill>
          <a:ln/>
        </p:spPr>
      </p:sp>
      <p:sp>
        <p:nvSpPr>
          <p:cNvPr id="9" name="Shape 7"/>
          <p:cNvSpPr/>
          <p:nvPr/>
        </p:nvSpPr>
        <p:spPr>
          <a:xfrm>
            <a:off x="11347704" y="1737360"/>
            <a:ext cx="402336" cy="402336"/>
          </a:xfrm>
          <a:prstGeom prst="roundRect">
            <a:avLst>
              <a:gd name="adj" fmla="val 11364"/>
            </a:avLst>
          </a:prstGeom>
          <a:solidFill>
            <a:srgbClr val="CADCFC">
              <a:alpha val="14000"/>
            </a:srgbClr>
          </a:solidFill>
          <a:ln/>
        </p:spPr>
      </p:sp>
      <p:sp>
        <p:nvSpPr>
          <p:cNvPr id="10" name="Shape 8"/>
          <p:cNvSpPr/>
          <p:nvPr/>
        </p:nvSpPr>
        <p:spPr>
          <a:xfrm>
            <a:off x="9646920" y="2304288"/>
            <a:ext cx="402336" cy="402336"/>
          </a:xfrm>
          <a:prstGeom prst="roundRect">
            <a:avLst>
              <a:gd name="adj" fmla="val 11364"/>
            </a:avLst>
          </a:prstGeom>
          <a:solidFill>
            <a:srgbClr val="CADCFC">
              <a:alpha val="14000"/>
            </a:srgbClr>
          </a:solidFill>
          <a:ln/>
        </p:spPr>
      </p:sp>
      <p:sp>
        <p:nvSpPr>
          <p:cNvPr id="11" name="Shape 9"/>
          <p:cNvSpPr/>
          <p:nvPr/>
        </p:nvSpPr>
        <p:spPr>
          <a:xfrm>
            <a:off x="10213848" y="2304288"/>
            <a:ext cx="402336" cy="402336"/>
          </a:xfrm>
          <a:prstGeom prst="roundRect">
            <a:avLst>
              <a:gd name="adj" fmla="val 11364"/>
            </a:avLst>
          </a:prstGeom>
          <a:solidFill>
            <a:srgbClr val="CADCFC">
              <a:alpha val="14000"/>
            </a:srgbClr>
          </a:solidFill>
          <a:ln/>
        </p:spPr>
      </p:sp>
      <p:sp>
        <p:nvSpPr>
          <p:cNvPr id="12" name="Shape 10"/>
          <p:cNvSpPr/>
          <p:nvPr/>
        </p:nvSpPr>
        <p:spPr>
          <a:xfrm>
            <a:off x="10780776" y="2304288"/>
            <a:ext cx="402336" cy="402336"/>
          </a:xfrm>
          <a:prstGeom prst="roundRect">
            <a:avLst>
              <a:gd name="adj" fmla="val 11364"/>
            </a:avLst>
          </a:prstGeom>
          <a:solidFill>
            <a:srgbClr val="CADCFC">
              <a:alpha val="14000"/>
            </a:srgbClr>
          </a:solidFill>
          <a:ln/>
        </p:spPr>
      </p:sp>
      <p:sp>
        <p:nvSpPr>
          <p:cNvPr id="13" name="Shape 11"/>
          <p:cNvSpPr/>
          <p:nvPr/>
        </p:nvSpPr>
        <p:spPr>
          <a:xfrm>
            <a:off x="11347704" y="2304288"/>
            <a:ext cx="402336" cy="402336"/>
          </a:xfrm>
          <a:prstGeom prst="roundRect">
            <a:avLst>
              <a:gd name="adj" fmla="val 11364"/>
            </a:avLst>
          </a:prstGeom>
          <a:solidFill>
            <a:srgbClr val="D97706">
              <a:alpha val="40000"/>
            </a:srgbClr>
          </a:solidFill>
          <a:ln/>
        </p:spPr>
      </p:sp>
      <p:sp>
        <p:nvSpPr>
          <p:cNvPr id="14" name="Shape 12"/>
          <p:cNvSpPr/>
          <p:nvPr/>
        </p:nvSpPr>
        <p:spPr>
          <a:xfrm>
            <a:off x="9646920" y="2871216"/>
            <a:ext cx="402336" cy="402336"/>
          </a:xfrm>
          <a:prstGeom prst="roundRect">
            <a:avLst>
              <a:gd name="adj" fmla="val 11364"/>
            </a:avLst>
          </a:prstGeom>
          <a:solidFill>
            <a:srgbClr val="CADCFC">
              <a:alpha val="14000"/>
            </a:srgbClr>
          </a:solidFill>
          <a:ln/>
        </p:spPr>
      </p:sp>
      <p:sp>
        <p:nvSpPr>
          <p:cNvPr id="15" name="Shape 13"/>
          <p:cNvSpPr/>
          <p:nvPr/>
        </p:nvSpPr>
        <p:spPr>
          <a:xfrm>
            <a:off x="10213848" y="2871216"/>
            <a:ext cx="402336" cy="402336"/>
          </a:xfrm>
          <a:prstGeom prst="roundRect">
            <a:avLst>
              <a:gd name="adj" fmla="val 11364"/>
            </a:avLst>
          </a:prstGeom>
          <a:solidFill>
            <a:srgbClr val="CADCFC">
              <a:alpha val="14000"/>
            </a:srgbClr>
          </a:solidFill>
          <a:ln/>
        </p:spPr>
      </p:sp>
      <p:sp>
        <p:nvSpPr>
          <p:cNvPr id="16" name="Shape 14"/>
          <p:cNvSpPr/>
          <p:nvPr/>
        </p:nvSpPr>
        <p:spPr>
          <a:xfrm>
            <a:off x="10780776" y="2871216"/>
            <a:ext cx="402336" cy="402336"/>
          </a:xfrm>
          <a:prstGeom prst="roundRect">
            <a:avLst>
              <a:gd name="adj" fmla="val 11364"/>
            </a:avLst>
          </a:prstGeom>
          <a:solidFill>
            <a:srgbClr val="D97706">
              <a:alpha val="40000"/>
            </a:srgbClr>
          </a:solidFill>
          <a:ln/>
        </p:spPr>
      </p:sp>
      <p:sp>
        <p:nvSpPr>
          <p:cNvPr id="17" name="Shape 15"/>
          <p:cNvSpPr/>
          <p:nvPr/>
        </p:nvSpPr>
        <p:spPr>
          <a:xfrm>
            <a:off x="11347704" y="2871216"/>
            <a:ext cx="402336" cy="402336"/>
          </a:xfrm>
          <a:prstGeom prst="roundRect">
            <a:avLst>
              <a:gd name="adj" fmla="val 11364"/>
            </a:avLst>
          </a:prstGeom>
          <a:solidFill>
            <a:srgbClr val="CADCFC">
              <a:alpha val="14000"/>
            </a:srgbClr>
          </a:solidFill>
          <a:ln/>
        </p:spPr>
      </p:sp>
      <p:sp>
        <p:nvSpPr>
          <p:cNvPr id="18" name="Shape 16"/>
          <p:cNvSpPr/>
          <p:nvPr/>
        </p:nvSpPr>
        <p:spPr>
          <a:xfrm>
            <a:off x="9646920" y="3438144"/>
            <a:ext cx="402336" cy="402336"/>
          </a:xfrm>
          <a:prstGeom prst="roundRect">
            <a:avLst>
              <a:gd name="adj" fmla="val 11364"/>
            </a:avLst>
          </a:prstGeom>
          <a:solidFill>
            <a:srgbClr val="CADCFC">
              <a:alpha val="14000"/>
            </a:srgbClr>
          </a:solidFill>
          <a:ln/>
        </p:spPr>
      </p:sp>
      <p:sp>
        <p:nvSpPr>
          <p:cNvPr id="19" name="Shape 17"/>
          <p:cNvSpPr/>
          <p:nvPr/>
        </p:nvSpPr>
        <p:spPr>
          <a:xfrm>
            <a:off x="10213848" y="3438144"/>
            <a:ext cx="402336" cy="402336"/>
          </a:xfrm>
          <a:prstGeom prst="roundRect">
            <a:avLst>
              <a:gd name="adj" fmla="val 11364"/>
            </a:avLst>
          </a:prstGeom>
          <a:solidFill>
            <a:srgbClr val="D97706">
              <a:alpha val="40000"/>
            </a:srgbClr>
          </a:solidFill>
          <a:ln/>
        </p:spPr>
      </p:sp>
      <p:sp>
        <p:nvSpPr>
          <p:cNvPr id="20" name="Shape 18"/>
          <p:cNvSpPr/>
          <p:nvPr/>
        </p:nvSpPr>
        <p:spPr>
          <a:xfrm>
            <a:off x="10780776" y="3438144"/>
            <a:ext cx="402336" cy="402336"/>
          </a:xfrm>
          <a:prstGeom prst="roundRect">
            <a:avLst>
              <a:gd name="adj" fmla="val 11364"/>
            </a:avLst>
          </a:prstGeom>
          <a:solidFill>
            <a:srgbClr val="CADCFC">
              <a:alpha val="14000"/>
            </a:srgbClr>
          </a:solidFill>
          <a:ln/>
        </p:spPr>
      </p:sp>
      <p:sp>
        <p:nvSpPr>
          <p:cNvPr id="21" name="Shape 19"/>
          <p:cNvSpPr/>
          <p:nvPr/>
        </p:nvSpPr>
        <p:spPr>
          <a:xfrm>
            <a:off x="11347704" y="3438144"/>
            <a:ext cx="402336" cy="402336"/>
          </a:xfrm>
          <a:prstGeom prst="roundRect">
            <a:avLst>
              <a:gd name="adj" fmla="val 11364"/>
            </a:avLst>
          </a:prstGeom>
          <a:solidFill>
            <a:srgbClr val="CADCFC">
              <a:alpha val="14000"/>
            </a:srgbClr>
          </a:solidFill>
          <a:ln/>
        </p:spPr>
      </p:sp>
      <p:sp>
        <p:nvSpPr>
          <p:cNvPr id="22" name="Text 20"/>
          <p:cNvSpPr/>
          <p:nvPr/>
        </p:nvSpPr>
        <p:spPr>
          <a:xfrm>
            <a:off x="566928" y="658368"/>
            <a:ext cx="7863840" cy="603504"/>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Kết luận</a:t>
            </a:r>
            <a:endParaRPr lang="en-US" sz="3400" dirty="0"/>
          </a:p>
        </p:txBody>
      </p:sp>
      <p:sp>
        <p:nvSpPr>
          <p:cNvPr id="23" name="Shape 21"/>
          <p:cNvSpPr/>
          <p:nvPr/>
        </p:nvSpPr>
        <p:spPr>
          <a:xfrm>
            <a:off x="566928" y="1517904"/>
            <a:ext cx="8686800" cy="914400"/>
          </a:xfrm>
          <a:prstGeom prst="roundRect">
            <a:avLst>
              <a:gd name="adj" fmla="val 8000"/>
            </a:avLst>
          </a:prstGeom>
          <a:solidFill>
            <a:srgbClr val="FFFFFF">
              <a:alpha val="9000"/>
            </a:srgbClr>
          </a:solidFill>
          <a:ln/>
        </p:spPr>
      </p:sp>
      <p:sp>
        <p:nvSpPr>
          <p:cNvPr id="24" name="Shape 22"/>
          <p:cNvSpPr/>
          <p:nvPr/>
        </p:nvSpPr>
        <p:spPr>
          <a:xfrm>
            <a:off x="822960" y="1755648"/>
            <a:ext cx="438912" cy="438912"/>
          </a:xfrm>
          <a:prstGeom prst="ellipse">
            <a:avLst/>
          </a:prstGeom>
          <a:solidFill>
            <a:srgbClr val="CADCFC"/>
          </a:solidFill>
          <a:ln/>
        </p:spPr>
      </p:sp>
      <p:sp>
        <p:nvSpPr>
          <p:cNvPr id="25" name="Text 23"/>
          <p:cNvSpPr/>
          <p:nvPr/>
        </p:nvSpPr>
        <p:spPr>
          <a:xfrm>
            <a:off x="822960" y="1755648"/>
            <a:ext cx="438912" cy="438912"/>
          </a:xfrm>
          <a:prstGeom prst="rect">
            <a:avLst/>
          </a:prstGeom>
          <a:noFill/>
          <a:ln/>
        </p:spPr>
        <p:txBody>
          <a:bodyPr wrap="square" lIns="0" tIns="0" rIns="0" bIns="0" rtlCol="0" anchor="ctr"/>
          <a:lstStyle/>
          <a:p>
            <a:pPr algn="ctr" indent="0" marL="0">
              <a:buNone/>
            </a:pPr>
            <a:r>
              <a:rPr lang="en-US" sz="1500" b="1" dirty="0">
                <a:solidFill>
                  <a:srgbClr val="10203F"/>
                </a:solidFill>
                <a:latin typeface="Calibri" pitchFamily="34" charset="0"/>
                <a:ea typeface="Calibri" pitchFamily="34" charset="-122"/>
                <a:cs typeface="Calibri" pitchFamily="34" charset="-120"/>
              </a:rPr>
              <a:t>1</a:t>
            </a:r>
            <a:endParaRPr lang="en-US" sz="1500" dirty="0"/>
          </a:p>
        </p:txBody>
      </p:sp>
      <p:sp>
        <p:nvSpPr>
          <p:cNvPr id="26" name="Text 24"/>
          <p:cNvSpPr/>
          <p:nvPr/>
        </p:nvSpPr>
        <p:spPr>
          <a:xfrm>
            <a:off x="1426464" y="1627632"/>
            <a:ext cx="7589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Lớp Silver đã hoàn thành</a:t>
            </a:r>
            <a:endParaRPr lang="en-US" sz="1500" dirty="0"/>
          </a:p>
        </p:txBody>
      </p:sp>
      <p:sp>
        <p:nvSpPr>
          <p:cNvPr id="27" name="Text 25"/>
          <p:cNvSpPr/>
          <p:nvPr/>
        </p:nvSpPr>
        <p:spPr>
          <a:xfrm>
            <a:off x="1426464" y="1938528"/>
            <a:ext cx="758952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96 → 84 cột, giữ nguyên toàn bộ 2.960.736 dòng, 22 thao tác đều có căn cứ ghi lại.</a:t>
            </a:r>
            <a:endParaRPr lang="en-US" sz="1250" dirty="0"/>
          </a:p>
        </p:txBody>
      </p:sp>
      <p:sp>
        <p:nvSpPr>
          <p:cNvPr id="28" name="Shape 26"/>
          <p:cNvSpPr/>
          <p:nvPr/>
        </p:nvSpPr>
        <p:spPr>
          <a:xfrm>
            <a:off x="566928" y="2578608"/>
            <a:ext cx="8686800" cy="914400"/>
          </a:xfrm>
          <a:prstGeom prst="roundRect">
            <a:avLst>
              <a:gd name="adj" fmla="val 8000"/>
            </a:avLst>
          </a:prstGeom>
          <a:solidFill>
            <a:srgbClr val="FFFFFF">
              <a:alpha val="9000"/>
            </a:srgbClr>
          </a:solidFill>
          <a:ln/>
        </p:spPr>
      </p:sp>
      <p:sp>
        <p:nvSpPr>
          <p:cNvPr id="29" name="Shape 27"/>
          <p:cNvSpPr/>
          <p:nvPr/>
        </p:nvSpPr>
        <p:spPr>
          <a:xfrm>
            <a:off x="822960" y="2816352"/>
            <a:ext cx="438912" cy="438912"/>
          </a:xfrm>
          <a:prstGeom prst="ellipse">
            <a:avLst/>
          </a:prstGeom>
          <a:solidFill>
            <a:srgbClr val="CADCFC"/>
          </a:solidFill>
          <a:ln/>
        </p:spPr>
      </p:sp>
      <p:sp>
        <p:nvSpPr>
          <p:cNvPr id="30" name="Text 28"/>
          <p:cNvSpPr/>
          <p:nvPr/>
        </p:nvSpPr>
        <p:spPr>
          <a:xfrm>
            <a:off x="822960" y="2816352"/>
            <a:ext cx="438912" cy="438912"/>
          </a:xfrm>
          <a:prstGeom prst="rect">
            <a:avLst/>
          </a:prstGeom>
          <a:noFill/>
          <a:ln/>
        </p:spPr>
        <p:txBody>
          <a:bodyPr wrap="square" lIns="0" tIns="0" rIns="0" bIns="0" rtlCol="0" anchor="ctr"/>
          <a:lstStyle/>
          <a:p>
            <a:pPr algn="ctr" indent="0" marL="0">
              <a:buNone/>
            </a:pPr>
            <a:r>
              <a:rPr lang="en-US" sz="1500" b="1" dirty="0">
                <a:solidFill>
                  <a:srgbClr val="10203F"/>
                </a:solidFill>
                <a:latin typeface="Calibri" pitchFamily="34" charset="0"/>
                <a:ea typeface="Calibri" pitchFamily="34" charset="-122"/>
                <a:cs typeface="Calibri" pitchFamily="34" charset="-120"/>
              </a:rPr>
              <a:t>2</a:t>
            </a:r>
            <a:endParaRPr lang="en-US" sz="1500" dirty="0"/>
          </a:p>
        </p:txBody>
      </p:sp>
      <p:sp>
        <p:nvSpPr>
          <p:cNvPr id="31" name="Text 29"/>
          <p:cNvSpPr/>
          <p:nvPr/>
        </p:nvSpPr>
        <p:spPr>
          <a:xfrm>
            <a:off x="1426464" y="2688336"/>
            <a:ext cx="7589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Không phá vỡ gì</a:t>
            </a:r>
            <a:endParaRPr lang="en-US" sz="1500" dirty="0"/>
          </a:p>
        </p:txBody>
      </p:sp>
      <p:sp>
        <p:nvSpPr>
          <p:cNvPr id="32" name="Text 30"/>
          <p:cNvSpPr/>
          <p:nvPr/>
        </p:nvSpPr>
        <p:spPr>
          <a:xfrm>
            <a:off x="1426464" y="2999232"/>
            <a:ext cx="758952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Hai bất biến vẫn nguyên: 0 bản ghi mồ côi, sai số biến mục tiêu 0,00 trên 3.833 ngày.</a:t>
            </a:r>
            <a:endParaRPr lang="en-US" sz="1250" dirty="0"/>
          </a:p>
        </p:txBody>
      </p:sp>
      <p:sp>
        <p:nvSpPr>
          <p:cNvPr id="33" name="Shape 31"/>
          <p:cNvSpPr/>
          <p:nvPr/>
        </p:nvSpPr>
        <p:spPr>
          <a:xfrm>
            <a:off x="566928" y="3639312"/>
            <a:ext cx="8686800" cy="914400"/>
          </a:xfrm>
          <a:prstGeom prst="roundRect">
            <a:avLst>
              <a:gd name="adj" fmla="val 8000"/>
            </a:avLst>
          </a:prstGeom>
          <a:solidFill>
            <a:srgbClr val="FFFFFF">
              <a:alpha val="9000"/>
            </a:srgbClr>
          </a:solidFill>
          <a:ln/>
        </p:spPr>
      </p:sp>
      <p:sp>
        <p:nvSpPr>
          <p:cNvPr id="34" name="Shape 32"/>
          <p:cNvSpPr/>
          <p:nvPr/>
        </p:nvSpPr>
        <p:spPr>
          <a:xfrm>
            <a:off x="822960" y="3877056"/>
            <a:ext cx="438912" cy="438912"/>
          </a:xfrm>
          <a:prstGeom prst="ellipse">
            <a:avLst/>
          </a:prstGeom>
          <a:solidFill>
            <a:srgbClr val="CADCFC"/>
          </a:solidFill>
          <a:ln/>
        </p:spPr>
      </p:sp>
      <p:sp>
        <p:nvSpPr>
          <p:cNvPr id="35" name="Text 33"/>
          <p:cNvSpPr/>
          <p:nvPr/>
        </p:nvSpPr>
        <p:spPr>
          <a:xfrm>
            <a:off x="822960" y="3877056"/>
            <a:ext cx="438912" cy="438912"/>
          </a:xfrm>
          <a:prstGeom prst="rect">
            <a:avLst/>
          </a:prstGeom>
          <a:noFill/>
          <a:ln/>
        </p:spPr>
        <p:txBody>
          <a:bodyPr wrap="square" lIns="0" tIns="0" rIns="0" bIns="0" rtlCol="0" anchor="ctr"/>
          <a:lstStyle/>
          <a:p>
            <a:pPr algn="ctr" indent="0" marL="0">
              <a:buNone/>
            </a:pPr>
            <a:r>
              <a:rPr lang="en-US" sz="1500" b="1" dirty="0">
                <a:solidFill>
                  <a:srgbClr val="10203F"/>
                </a:solidFill>
                <a:latin typeface="Calibri" pitchFamily="34" charset="0"/>
                <a:ea typeface="Calibri" pitchFamily="34" charset="-122"/>
                <a:cs typeface="Calibri" pitchFamily="34" charset="-120"/>
              </a:rPr>
              <a:t>3</a:t>
            </a:r>
            <a:endParaRPr lang="en-US" sz="1500" dirty="0"/>
          </a:p>
        </p:txBody>
      </p:sp>
      <p:sp>
        <p:nvSpPr>
          <p:cNvPr id="36" name="Text 34"/>
          <p:cNvSpPr/>
          <p:nvPr/>
        </p:nvSpPr>
        <p:spPr>
          <a:xfrm>
            <a:off x="1426464" y="3749040"/>
            <a:ext cx="7589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Mọi quyết định đều truy vết được</a:t>
            </a:r>
            <a:endParaRPr lang="en-US" sz="1500" dirty="0"/>
          </a:p>
        </p:txBody>
      </p:sp>
      <p:sp>
        <p:nvSpPr>
          <p:cNvPr id="37" name="Text 35"/>
          <p:cNvSpPr/>
          <p:nvPr/>
        </p:nvSpPr>
        <p:spPr>
          <a:xfrm>
            <a:off x="1426464" y="4059936"/>
            <a:ext cx="758952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Xóa, thay thế, đánh dấu hay điền nhãn — mỗi lựa chọn ứng với một quy tắc rõ ràng.</a:t>
            </a:r>
            <a:endParaRPr lang="en-US" sz="1250" dirty="0"/>
          </a:p>
        </p:txBody>
      </p:sp>
      <p:sp>
        <p:nvSpPr>
          <p:cNvPr id="38" name="Text 36"/>
          <p:cNvSpPr/>
          <p:nvPr/>
        </p:nvSpPr>
        <p:spPr>
          <a:xfrm>
            <a:off x="566928" y="4882896"/>
            <a:ext cx="8686800" cy="347472"/>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Bước tiếp theo — Xây dựng đặc trưng (lớp Gold)</a:t>
            </a:r>
            <a:endParaRPr lang="en-US" sz="1500" dirty="0"/>
          </a:p>
        </p:txBody>
      </p:sp>
      <p:sp>
        <p:nvSpPr>
          <p:cNvPr id="39" name="Text 37"/>
          <p:cNvSpPr/>
          <p:nvPr/>
        </p:nvSpPr>
        <p:spPr>
          <a:xfrm>
            <a:off x="658368" y="5266944"/>
            <a:ext cx="8595360" cy="1005840"/>
          </a:xfrm>
          <a:prstGeom prst="rect">
            <a:avLst/>
          </a:prstGeom>
          <a:noFill/>
          <a:ln/>
        </p:spPr>
        <p:txBody>
          <a:bodyPr wrap="square" lIns="0" tIns="0" rIns="0" bIns="0" rtlCol="0" anchor="t"/>
          <a:lstStyle/>
          <a:p>
            <a:pPr marL="342900" indent="-342900">
              <a:lnSpc>
                <a:spcPts val="2100"/>
              </a:lnSpc>
              <a:buSzPct val="100000"/>
              <a:buChar char="•"/>
            </a:pPr>
            <a:r>
              <a:rPr lang="en-US" sz="1250" dirty="0">
                <a:solidFill>
                  <a:srgbClr val="C7D3E8"/>
                </a:solidFill>
                <a:latin typeface="Calibri" pitchFamily="34" charset="0"/>
                <a:ea typeface="Calibri" pitchFamily="34" charset="-122"/>
                <a:cs typeface="Calibri" pitchFamily="34" charset="-120"/>
              </a:rPr>
              <a:t>Revenue là doanh thu gộp — tính cả đơn hủy và đơn trả, không trừ giảm giá.</a:t>
            </a:r>
            <a:endParaRPr lang="en-US" sz="1250" dirty="0"/>
          </a:p>
          <a:p>
            <a:pPr marL="342900" indent="-342900">
              <a:lnSpc>
                <a:spcPts val="2100"/>
              </a:lnSpc>
              <a:buSzPct val="100000"/>
              <a:buChar char="•"/>
            </a:pPr>
            <a:r>
              <a:rPr lang="en-US" sz="1250" dirty="0">
                <a:solidFill>
                  <a:srgbClr val="C7D3E8"/>
                </a:solidFill>
                <a:latin typeface="Calibri" pitchFamily="34" charset="0"/>
                <a:ea typeface="Calibri" pitchFamily="34" charset="-122"/>
                <a:cs typeface="Calibri" pitchFamily="34" charset="-120"/>
              </a:rPr>
              <a:t>Không dùng signup_date nữa — đã thay bằng first_order_date.</a:t>
            </a:r>
            <a:endParaRPr lang="en-US" sz="1250" dirty="0"/>
          </a:p>
          <a:p>
            <a:pPr marL="342900" indent="-342900">
              <a:lnSpc>
                <a:spcPts val="2100"/>
              </a:lnSpc>
              <a:buSzPct val="100000"/>
              <a:buChar char="•"/>
            </a:pPr>
            <a:r>
              <a:rPr lang="en-US" sz="1250" dirty="0">
                <a:solidFill>
                  <a:srgbClr val="C7D3E8"/>
                </a:solidFill>
                <a:latin typeface="Calibri" pitchFamily="34" charset="0"/>
                <a:ea typeface="Calibri" pitchFamily="34" charset="-122"/>
                <a:cs typeface="Calibri" pitchFamily="34" charset="-120"/>
              </a:rPr>
              <a:t>Nối bảng order_items bằng order_item_id, không dùng cặp (order_id, product_id).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2026-08-22T11:10:16Z</dcterms:created>
  <dcterms:modified xsi:type="dcterms:W3CDTF">2026-08-22T11:10:16Z</dcterms:modified>
</cp:coreProperties>
</file>